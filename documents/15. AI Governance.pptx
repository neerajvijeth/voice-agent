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Inter"/>
      <p:regular r:id="rId29"/>
      <p:bold r:id="rId30"/>
      <p:italic r:id="rId31"/>
      <p:boldItalic r:id="rId32"/>
    </p:embeddedFont>
    <p:embeddedFont>
      <p:font typeface="Helvetica Neue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HelveticaNeue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88363e6e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988363e6e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88363e6e1_0_3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988363e6e1_0_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88363e6e1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988363e6e1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88363e6e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 Multi-faceted Approach: Effective AI governance is built on several key principles.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Key Principles (based on OECD, Microsoft, IBM):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Fairness and Non-discrimination: Ensuring AI systems do not create or perpetuate unfair bias.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Transparency and Explainability: The ability to understand and explain how an AI system makes decisions.[2]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Accountability: Clearly defining who is responsible for the outcomes of AI systems.[6]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Robustness and Safety: Ensuring AI systems are secure and operate reliably.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Privacy: Protecting personal data and ensuring it is handled responsibly.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Human-centric Values: Aligning AI with human rights and democratic values</a:t>
            </a:r>
            <a:endParaRPr/>
          </a:p>
        </p:txBody>
      </p:sp>
      <p:sp>
        <p:nvSpPr>
          <p:cNvPr id="122" name="Google Shape;122;g3988363e6e1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88363e6e1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88363e6e1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8363e6e1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988363e6e1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88363e6e1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988363e6e1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88363e6e1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988363e6e1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88363e6e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988363e6e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88363e6e1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Your Role as a Future Engineer: You will have responsibilities at each of these stages to ensure responsible AI.</a:t>
            </a:r>
            <a:endParaRPr/>
          </a:p>
        </p:txBody>
      </p:sp>
      <p:sp>
        <p:nvSpPr>
          <p:cNvPr id="168" name="Google Shape;168;g3988363e6e1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88363e6e1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050">
                <a:solidFill>
                  <a:srgbClr val="E2E2E5"/>
                </a:solidFill>
                <a:highlight>
                  <a:srgbClr val="191919"/>
                </a:highlight>
                <a:latin typeface="Inter"/>
                <a:ea typeface="Inter"/>
                <a:cs typeface="Inter"/>
                <a:sym typeface="Inter"/>
              </a:rPr>
              <a:t>Where do you see yourself fitting into this ecosystem in your future career?</a:t>
            </a:r>
            <a:endParaRPr/>
          </a:p>
        </p:txBody>
      </p:sp>
      <p:sp>
        <p:nvSpPr>
          <p:cNvPr id="175" name="Google Shape;175;g3988363e6e1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88363e6e1_0_3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050">
                <a:solidFill>
                  <a:srgbClr val="E2E2E5"/>
                </a:solidFill>
                <a:highlight>
                  <a:srgbClr val="191919"/>
                </a:highlight>
                <a:latin typeface="Inter"/>
                <a:ea typeface="Inter"/>
                <a:cs typeface="Inter"/>
                <a:sym typeface="Inter"/>
              </a:rPr>
              <a:t>Where do you see yourself fitting into this ecosystem in your future career?</a:t>
            </a:r>
            <a:endParaRPr/>
          </a:p>
        </p:txBody>
      </p:sp>
      <p:sp>
        <p:nvSpPr>
          <p:cNvPr id="182" name="Google Shape;182;g3988363e6e1_0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88363e6e1_0_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050">
                <a:solidFill>
                  <a:srgbClr val="E2E2E5"/>
                </a:solidFill>
                <a:highlight>
                  <a:srgbClr val="191919"/>
                </a:highlight>
                <a:latin typeface="Inter"/>
                <a:ea typeface="Inter"/>
                <a:cs typeface="Inter"/>
                <a:sym typeface="Inter"/>
              </a:rPr>
              <a:t>Where do you see yourself fitting into this ecosystem in your future career?</a:t>
            </a:r>
            <a:endParaRPr/>
          </a:p>
        </p:txBody>
      </p:sp>
      <p:sp>
        <p:nvSpPr>
          <p:cNvPr id="189" name="Google Shape;189;g3988363e6e1_0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88363e6e1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Interactive Element: Briefly demonstrate or show screenshots of a tool like Google's "What-If Tool" or IBM's "AI Fairness 360".</a:t>
            </a:r>
            <a:endParaRPr/>
          </a:p>
        </p:txBody>
      </p:sp>
      <p:sp>
        <p:nvSpPr>
          <p:cNvPr id="196" name="Google Shape;196;g3988363e6e1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88363e6e1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Link back to the modules on Bias and Privacy in ML.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988363e6e1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88363e6e1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988363e6e1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88363e6e1_0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88363e6e1_0_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88363e6e1_0_3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88363e6e1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988363e6e1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88363e6e1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AI governance is essential for ensuring the ethical and responsible use of AI.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It involves a combination of principles, frameworks, and practical implementation.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As future AI practitioners, you have a critical role to play in shaping a trustworthy AI ecosystem.</a:t>
            </a:r>
            <a:endParaRPr/>
          </a:p>
        </p:txBody>
      </p:sp>
      <p:sp>
        <p:nvSpPr>
          <p:cNvPr id="232" name="Google Shape;232;g3988363e6e1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instagram.com/isfcr.pesu" TargetMode="External"/><Relationship Id="rId4" Type="http://schemas.openxmlformats.org/officeDocument/2006/relationships/image" Target="../media/image5.png"/><Relationship Id="rId11" Type="http://schemas.openxmlformats.org/officeDocument/2006/relationships/hyperlink" Target="http://www.isfcr.pes.edu/" TargetMode="External"/><Relationship Id="rId10" Type="http://schemas.openxmlformats.org/officeDocument/2006/relationships/image" Target="../media/image8.png"/><Relationship Id="rId12" Type="http://schemas.openxmlformats.org/officeDocument/2006/relationships/image" Target="../media/image7.png"/><Relationship Id="rId9" Type="http://schemas.openxmlformats.org/officeDocument/2006/relationships/hyperlink" Target="http://www.isfcr.pes.edu/" TargetMode="External"/><Relationship Id="rId5" Type="http://schemas.openxmlformats.org/officeDocument/2006/relationships/hyperlink" Target="https://www.instagram.com/isfcr.pesu" TargetMode="External"/><Relationship Id="rId6" Type="http://schemas.openxmlformats.org/officeDocument/2006/relationships/hyperlink" Target="https://in.linkedin.com/company/isfcr" TargetMode="External"/><Relationship Id="rId7" Type="http://schemas.openxmlformats.org/officeDocument/2006/relationships/image" Target="../media/image9.png"/><Relationship Id="rId8" Type="http://schemas.openxmlformats.org/officeDocument/2006/relationships/hyperlink" Target="https://in.linkedin.com/company/isfcr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 Slide">
  <p:cSld name="Welcom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/>
        </p:nvSpPr>
        <p:spPr>
          <a:xfrm>
            <a:off x="3111795" y="1956391"/>
            <a:ext cx="28069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rPr>
              <a:t>Welcome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0" y="2340641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PES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2197395" y="3024017"/>
            <a:ext cx="47492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rPr>
              <a:t>Ring Road Campus, Bengaluru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200" y="413707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 Slide 2">
  <p:cSld name="Welcome Slide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304341" y="3370510"/>
            <a:ext cx="4600575" cy="771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2400"/>
              <a:buNone/>
              <a:defRPr b="0" sz="2400">
                <a:solidFill>
                  <a:srgbClr val="EA7F2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2304342" y="2564530"/>
            <a:ext cx="46005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12344"/>
              </a:buClr>
              <a:buSzPts val="2400"/>
              <a:buNone/>
              <a:defRPr b="0" sz="24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1433597" y="1656209"/>
            <a:ext cx="634206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3600"/>
              <a:buNone/>
              <a:defRPr b="1" sz="3600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0575" y="413707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Bullets">
  <p:cSld name="Title + Content - Bulle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" name="Google Shape;28;p4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251520" y="688928"/>
            <a:ext cx="8471338" cy="411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Inter"/>
              <a:buChar char="☞"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400"/>
              <a:buChar char="•"/>
              <a:defRPr sz="2400">
                <a:solidFill>
                  <a:srgbClr val="3A3A3A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Char char="●"/>
              <a:defRPr sz="2000">
                <a:solidFill>
                  <a:srgbClr val="3A3A3A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938">
          <p15:clr>
            <a:srgbClr val="FBAE40"/>
          </p15:clr>
        </p15:guide>
        <p15:guide id="2" pos="2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" showMasterSp="0">
  <p:cSld name="Chapter Title 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55;p124"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8" y="44872"/>
            <a:ext cx="258346" cy="36310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title"/>
          </p:nvPr>
        </p:nvSpPr>
        <p:spPr>
          <a:xfrm>
            <a:off x="311699" y="1851669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3600"/>
              <a:buFont typeface="Calibri"/>
              <a:buNone/>
              <a:defRPr b="1" sz="3600">
                <a:solidFill>
                  <a:srgbClr val="112344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57425" y="4887038"/>
            <a:ext cx="171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ISFCR Executive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0" y="4891790"/>
            <a:ext cx="9144000" cy="267600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25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5"/>
          <p:cNvCxnSpPr/>
          <p:nvPr/>
        </p:nvCxnSpPr>
        <p:spPr>
          <a:xfrm>
            <a:off x="326175" y="2650815"/>
            <a:ext cx="8032500" cy="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25438" y="2786465"/>
            <a:ext cx="850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None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Char char="•"/>
              <a:defRPr sz="2400">
                <a:solidFill>
                  <a:srgbClr val="3A3A3A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Char char="•"/>
              <a:defRPr sz="2400">
                <a:solidFill>
                  <a:srgbClr val="3A3A3A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Char char="•"/>
              <a:defRPr sz="2400">
                <a:solidFill>
                  <a:srgbClr val="3A3A3A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Char char="•"/>
              <a:defRPr sz="2400">
                <a:solidFill>
                  <a:srgbClr val="3A3A3A"/>
                </a:solidFill>
              </a:defRPr>
            </a:lvl5pPr>
            <a:lvl6pPr indent="-36195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6pPr>
            <a:lvl7pPr indent="-36195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7pPr>
            <a:lvl8pPr indent="-36195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8pPr>
            <a:lvl9pPr indent="-36195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801195" y="4881001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" name="Google Shape;42;p5"/>
          <p:cNvSpPr txBox="1"/>
          <p:nvPr/>
        </p:nvSpPr>
        <p:spPr>
          <a:xfrm>
            <a:off x="297244" y="4887038"/>
            <a:ext cx="194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63;p124" id="43" name="Google Shape;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3"/>
            <a:ext cx="708204" cy="363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3648484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/>
        </p:nvSpPr>
        <p:spPr>
          <a:xfrm>
            <a:off x="2090176" y="452017"/>
            <a:ext cx="49946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041" y="2586418"/>
            <a:ext cx="662016" cy="66201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>
            <a:hlinkClick r:id="rId5"/>
          </p:cNvPr>
          <p:cNvSpPr txBox="1"/>
          <p:nvPr/>
        </p:nvSpPr>
        <p:spPr>
          <a:xfrm>
            <a:off x="1814989" y="3251718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isfcr.pesu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Google Shape;49;p6"/>
          <p:cNvGrpSpPr/>
          <p:nvPr/>
        </p:nvGrpSpPr>
        <p:grpSpPr>
          <a:xfrm>
            <a:off x="6371669" y="2585932"/>
            <a:ext cx="779738" cy="1035118"/>
            <a:chOff x="6993237" y="2485157"/>
            <a:chExt cx="779738" cy="1035118"/>
          </a:xfrm>
        </p:grpSpPr>
        <p:pic>
          <p:nvPicPr>
            <p:cNvPr id="50" name="Google Shape;50;p6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2098" y="2485157"/>
              <a:ext cx="662016" cy="662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6">
              <a:hlinkClick r:id="rId8"/>
            </p:cNvPr>
            <p:cNvSpPr txBox="1"/>
            <p:nvPr/>
          </p:nvSpPr>
          <p:spPr>
            <a:xfrm>
              <a:off x="6993237" y="3150943"/>
              <a:ext cx="7797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IN" sz="1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ISFCR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" name="Google Shape;52;p6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7861" y="2585932"/>
            <a:ext cx="659253" cy="65925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>
            <a:hlinkClick r:id="rId11"/>
          </p:cNvPr>
          <p:cNvSpPr txBox="1"/>
          <p:nvPr/>
        </p:nvSpPr>
        <p:spPr>
          <a:xfrm>
            <a:off x="3549612" y="3245185"/>
            <a:ext cx="20757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www.isfcr.pes.edu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2090176" y="1819418"/>
            <a:ext cx="49946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84800" y="4111745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Welcome Slide 2">
  <p:cSld name="1_Welcome Slide 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/>
        </p:nvSpPr>
        <p:spPr>
          <a:xfrm>
            <a:off x="1331640" y="1879850"/>
            <a:ext cx="648072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Computer Network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UE20CS336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" name="Google Shape;60;p7"/>
          <p:cNvSpPr txBox="1"/>
          <p:nvPr>
            <p:ph idx="1" type="body"/>
          </p:nvPr>
        </p:nvSpPr>
        <p:spPr>
          <a:xfrm>
            <a:off x="2317750" y="3346450"/>
            <a:ext cx="4600575" cy="771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2400"/>
              <a:buNone/>
              <a:defRPr b="0" sz="2400">
                <a:solidFill>
                  <a:srgbClr val="EA7F2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475" y="462270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on Left">
  <p:cSld name="Title + Content - Image on Lef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6" name="Google Shape;66;p8"/>
          <p:cNvCxnSpPr/>
          <p:nvPr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8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4713785" y="683267"/>
            <a:ext cx="4176464" cy="411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Inter"/>
              <a:buChar char="☞"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400"/>
              <a:buChar char="•"/>
              <a:defRPr sz="2400">
                <a:solidFill>
                  <a:srgbClr val="3A3A3A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Char char="●"/>
              <a:defRPr sz="2000">
                <a:solidFill>
                  <a:srgbClr val="3A3A3A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Comparison">
  <p:cSld name="Title + Content - Image Comparis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76" name="Google Shape;76;p9"/>
          <p:cNvCxnSpPr/>
          <p:nvPr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9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8" name="Google Shape;78;p9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9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nist.gov/itl/ai-risk-management-framewor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tificialintelligenceact.eu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sblogs.thesourcemediaassets.com/sites/5/2022/06/Microsoft-Responsible-AI-Standard-v2-General-Requirements-3.pd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ibm.com/think/topics/ai-governanc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2304342" y="3795886"/>
            <a:ext cx="46005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AI </a:t>
            </a:r>
            <a:r>
              <a:rPr lang="en-IN"/>
              <a:t>Governance</a:t>
            </a:r>
            <a:endParaRPr/>
          </a:p>
        </p:txBody>
      </p:sp>
      <p:sp>
        <p:nvSpPr>
          <p:cNvPr id="90" name="Google Shape;90;p11"/>
          <p:cNvSpPr txBox="1"/>
          <p:nvPr>
            <p:ph idx="2" type="body"/>
          </p:nvPr>
        </p:nvSpPr>
        <p:spPr>
          <a:xfrm>
            <a:off x="1999551" y="2931804"/>
            <a:ext cx="51912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400"/>
              <a:buNone/>
            </a:pPr>
            <a:r>
              <a:rPr lang="en-IN"/>
              <a:t>Preet Kanwal</a:t>
            </a:r>
            <a:endParaRPr/>
          </a:p>
        </p:txBody>
      </p:sp>
      <p:sp>
        <p:nvSpPr>
          <p:cNvPr id="91" name="Google Shape;91;p11"/>
          <p:cNvSpPr txBox="1"/>
          <p:nvPr>
            <p:ph idx="3" type="body"/>
          </p:nvPr>
        </p:nvSpPr>
        <p:spPr>
          <a:xfrm>
            <a:off x="1433597" y="1656209"/>
            <a:ext cx="63420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IN"/>
              <a:t>Responsible AI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What is AI Governance?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7" name="Google Shape;97;p1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8" name="Google Shape;98;p12"/>
          <p:cNvSpPr txBox="1"/>
          <p:nvPr/>
        </p:nvSpPr>
        <p:spPr>
          <a:xfrm>
            <a:off x="251525" y="1545250"/>
            <a:ext cx="77523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1800">
                <a:solidFill>
                  <a:srgbClr val="161616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Definition: AI governance refers to the frameworks, policies, standards, and oversight mechanisms that ensure AI systems function ethically, legally, and responsibly.</a:t>
            </a:r>
            <a:endParaRPr sz="1800">
              <a:solidFill>
                <a:srgbClr val="161616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1800">
              <a:solidFill>
                <a:srgbClr val="161616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1800">
                <a:solidFill>
                  <a:srgbClr val="161616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Analogy: Think of it as the "digital guardrails" for powerful AI tools, keeping them on the right track to avoid unintended harm while encouraging innovation.</a:t>
            </a:r>
            <a:endParaRPr sz="1800">
              <a:solidFill>
                <a:srgbClr val="161616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1800">
              <a:solidFill>
                <a:srgbClr val="161616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1800">
                <a:solidFill>
                  <a:srgbClr val="161616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Key Goal: To align the development and deployment of AI with societal values, human rights, and legal regulations.</a:t>
            </a:r>
            <a:endParaRPr sz="1800">
              <a:solidFill>
                <a:srgbClr val="161616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Why is AI Governance Necessary?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" name="Google Shape;104;p1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251525" y="871125"/>
            <a:ext cx="77523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High-Stakes Applications: AI is increasingly used in critical sectors like healthcare, finance, and criminal justice, where errors can have severe consequences.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Mitigating Risks: AI systems can perpetuate and amplify human biases, leading to unfair outcomes. They also pose risks to privacy and can be misused.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Building Trust: For widespread adoption and acceptance of AI, the public and users need to trust that these systems are safe, fair, and accountable.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solidFill>
                  <a:srgbClr val="000000"/>
                </a:solidFill>
              </a:rPr>
              <a:t>The Real-World Challenge: The Tension Between AI Principles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251525" y="871125"/>
            <a:ext cx="7752300" cy="4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Governing AI isn't a simple checklist; it's an act of balancing competing values.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1" lang="en-IN" sz="2104">
                <a:latin typeface="Calibri"/>
                <a:ea typeface="Calibri"/>
                <a:cs typeface="Calibri"/>
                <a:sym typeface="Calibri"/>
              </a:rPr>
              <a:t>Example 1: Accuracy vs. Fairness</a:t>
            </a:r>
            <a:endParaRPr b="1"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 loan prediction model might achieve its highest overall accuracy by reflecting historical biases in lending data.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Actively correcting for that bias (to ensure fairness across demographic groups) might slightly lower the model's overall accuracy.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The Trade-off: Do you optimize for pure predictive power or for equitable outcomes?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solidFill>
                  <a:srgbClr val="000000"/>
                </a:solidFill>
              </a:rPr>
              <a:t>The Real-World Challenge: The Tension Between AI Principles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51525" y="871125"/>
            <a:ext cx="7752300" cy="4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1" lang="en-IN" sz="2004">
                <a:latin typeface="Calibri"/>
                <a:ea typeface="Calibri"/>
                <a:cs typeface="Calibri"/>
                <a:sym typeface="Calibri"/>
              </a:rPr>
              <a:t>Example 2: Transparency vs. Security/Privacy</a:t>
            </a:r>
            <a:endParaRPr b="1" sz="2004">
              <a:latin typeface="Calibri"/>
              <a:ea typeface="Calibri"/>
              <a:cs typeface="Calibri"/>
              <a:sym typeface="Calibri"/>
            </a:endParaRPr>
          </a:p>
          <a:p>
            <a:pPr indent="-35585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004"/>
              <a:buFont typeface="Calibri"/>
              <a:buChar char="●"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Making a model's logic completely transparent (e.g., publishing its full architecture and weights) could make it easier for adversarial actors to find and exploit vulnerabilities.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-35585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004"/>
              <a:buFont typeface="Calibri"/>
              <a:buChar char="●"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Full transparency could also expose sensitive information embedded in the model from its training data, violating privacy.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-35585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004"/>
              <a:buFont typeface="Calibri"/>
              <a:buChar char="●"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The Trade-off: How much do you reveal for the sake of explainability versus protecting the system and its data?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Key Takeaway for Engineers: Your role will often be to identify, measure, and document these trade-offs, enabling an informed decision rather than assuming a perfect solution exists.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0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Core Principles of AI Governance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18726" y="812025"/>
            <a:ext cx="8825400" cy="3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 Multi-faceted Approach: Effective AI governance is built on several key principles.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Key Principles (based on OECD, Microsoft, IBM):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Fairness and Non-discrimination 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Transparency and Explainability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Accountability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Robustness and Safety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Privacy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Human-centric Values: Aligning AI with human rights and democratic values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The Landscape of AI Governance Frameworks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251525" y="784875"/>
            <a:ext cx="77523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What is a Framework? A structured set of principles, policies, and processes to guide the responsible use of AI.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Why Frameworks? They provide a systematic way for organizations to manage AI risks, ensure ethical practices, and comply with regulations.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Key Examples: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NIST AI Risk Management Framework (AI RMF).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OECD AI Principles.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EU AI Act.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Corporate frameworks (e.g., Microsoft, IBM).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The NIST AI Risk Management Framework (AI RMF)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9" name="Google Shape;139;p1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251525" y="806450"/>
            <a:ext cx="77523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Purpose: To provide a structured approach for identifying, assessing, and mitigating risks associated with AI systems.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Core Functions: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Govern: Establishing a culture of risk management.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Map: Contextualizing risks and benefits.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Measure: Tracking and evaluating AI risks.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Manage: Allocating resources to mitigate risks.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This framework provides a practical methodology for you to apply in your future roles when developing or deploying AI.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4054433" y="4602950"/>
            <a:ext cx="720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u="sng">
                <a:solidFill>
                  <a:schemeClr val="hlink"/>
                </a:solidFill>
                <a:hlinkClick r:id="rId3"/>
              </a:rPr>
              <a:t>https://www.nist.gov/itl/ai-risk-management-framework</a:t>
            </a:r>
            <a:r>
              <a:rPr lang="en-IN" sz="1600">
                <a:solidFill>
                  <a:schemeClr val="dk1"/>
                </a:solidFill>
              </a:rPr>
              <a:t> 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The EU AI Act: A Regulatory Perspective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7" name="Google Shape;147;p1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251525" y="741745"/>
            <a:ext cx="8892600" cy="4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 Landmark Regulation: The first comprehensive legal framework for AI worldwide.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Risk-Based Approach: Categorizes AI systems based on their potential risk to individuals: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Unacceptable Risk: Banned (e.g., social scoring).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High-Risk: Strict requirements (e.g., medical devices, critical infrastructure).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Limited Risk: Transparency obligations (e.g., chatbots).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Minimal Risk: No specific legal obligations.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Global Impact: This regulation sets a precedent and will likely influence AI governance policies globally.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4744525" y="4507300"/>
            <a:ext cx="500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u="sng">
                <a:solidFill>
                  <a:schemeClr val="hlink"/>
                </a:solidFill>
                <a:hlinkClick r:id="rId3"/>
              </a:rPr>
              <a:t>https://artificialintelligenceact.eu/</a:t>
            </a:r>
            <a:r>
              <a:rPr lang="en-IN" sz="1700">
                <a:solidFill>
                  <a:schemeClr val="dk1"/>
                </a:solidFill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solidFill>
                  <a:srgbClr val="000000"/>
                </a:solidFill>
              </a:rPr>
              <a:t>Corporate AI Governance in Practice: Microsoft's Responsible AI Standard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318726" y="833575"/>
            <a:ext cx="87024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From Principles to Practice: Microsoft has operationalized its AI principles into a concrete set of standards for its product teams.[9]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Key Components: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Impact Assessments: A process to identify and mitigate potential harms of an AI system.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Requirements for Different Stages: Covers the entire AI lifecycle, from conception to deployment and decommissioning.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Internal Governance Structure: The Office of Responsible AI provides oversight and guidance.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Demonstrates how a major tech company translates high-level principles into actionable engineering practices.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841075" y="4630075"/>
            <a:ext cx="86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u="sng">
                <a:solidFill>
                  <a:schemeClr val="hlink"/>
                </a:solidFill>
                <a:hlinkClick r:id="rId3"/>
              </a:rPr>
              <a:t>https://msblogs.thesourcemediaassets.com/sites/5/2022/06/Microsoft-Responsible-AI-Standard-v2-General-Requirements-3.pdf</a:t>
            </a:r>
            <a:r>
              <a:rPr lang="en-IN" sz="1000">
                <a:solidFill>
                  <a:schemeClr val="dk1"/>
                </a:solidFill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IBM's Approach to AI Governance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318720" y="847200"/>
            <a:ext cx="77523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Focus on Trust and Transparency: IBM emphasizes building trust in AI systems through explainability and fairness.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Key Pillars: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AI Ethics Board: A multi-disciplinary team to oversee AI ethics.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Principles for Trust and Transparency: Guiding policies for responsible AI development.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Open Source Toolkits: Developing and sharing tools to help mitigate AI risks.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"The purpose of AI is to augment human intelligence, not replace it."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3968150" y="4511500"/>
            <a:ext cx="684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u="sng">
                <a:solidFill>
                  <a:schemeClr val="hlink"/>
                </a:solidFill>
                <a:hlinkClick r:id="rId3"/>
              </a:rPr>
              <a:t>https://www.ibm.com/think/topics/ai-governance</a:t>
            </a:r>
            <a:r>
              <a:rPr lang="en-IN" sz="1000">
                <a:solidFill>
                  <a:schemeClr val="dk1"/>
                </a:solidFill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The AI Governance Lifecycle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143676" y="747325"/>
            <a:ext cx="8745900" cy="4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 Continuous Process: AI governance is not a one-time checklist; it's an ongoing process that spans the entire lifecycle of an AI system.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Stages of the Lifecycle: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Design and Development: Integrating ethical considerations from the very beginning.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Data Governance: Ensuring the quality, integrity, and fairness of training data.[3]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Model Training and Validation: Testing for bias, robustness, and accuracy.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Deployment and Monitoring: Continuously monitoring the performance and impact of the AI system.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Decommissioning: Responsibly retiring AI systems.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Key Roles and Responsibilities in AI Governance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318726" y="673500"/>
            <a:ext cx="8702400" cy="4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 Team Sport: AI governance requires collaboration across different roles and departments.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Key Stakeholders: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AI Developers and Data Scientists: Responsible for building and testing fair and robust models.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Product Managers: Defining the intended use and considering potential impacts.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Legal and Compliance Teams: Ensuring adherence to regulations and policies.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Ethics and Responsible AI Officers: Providing guidance and oversight.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Business Leaders: Setting the tone and culture for responsible AI.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solidFill>
                  <a:srgbClr val="000000"/>
                </a:solidFill>
              </a:rPr>
              <a:t>The Accountability Gap: Who is Responsible When AI Fails?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318726" y="673500"/>
            <a:ext cx="87024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The Core Dilemma: Imagine an AI-powered medical diagnostic tool incorrectly tells a doctor a patient is cancer-free. The patient's condition worsens. Who is legally and financially liable?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The doctor who used the tool?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The hospital that purchased it?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The company that developed the software?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The provider of the biased data used to train it?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This complex web of actors creates an "Accountability Gap," where it's incredibly difficult for a victim to prove fault and seek compensation.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solidFill>
                  <a:srgbClr val="000000"/>
                </a:solidFill>
              </a:rPr>
              <a:t>The Accountability Gap: Who is Responsible When AI Fails?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318726" y="673500"/>
            <a:ext cx="87024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Emerging Solution: The EU's AI Liability Directive. This proposed law aims to close the gap. It would make it easier for victims to sue by: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Reversing the Burden of Proof: If a company fails to provide proper documentation about its AI system, the court can presume the company was at fault.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Presumption of Causation: Making it easier to link the harm suffered to the AI system's failure.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Implication for You: The code you write, the models you train, and especially the documentation you keep, will have significant legal consequences in the future.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Practical Tools for AI Governance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9" name="Google Shape;199;p2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187201" y="831075"/>
            <a:ext cx="8769600" cy="4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Making Governance Actionable: A look at some of the tools that can help implement AI governance.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AI Governance Platforms: Software solutions to manage, monitor, and ensure the ethical and compliant use of AI.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Model Cards and Datasheets for Datasets: Tools for documenting and increasing transparency of models and data.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Bias Detection and Mitigation Tools: Libraries and frameworks to identify and address bias in machine learning models.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Explainability (XAI) Libraries: Tools to help understand the decisions of complex models.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The Importance of Data Governance in AI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143670" y="725750"/>
            <a:ext cx="77523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Garbage In, Garbage Out: The quality and integrity of data are foundational to responsible AI.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Key Aspects of Data Governance for AI: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Data Quality: Ensuring data is accurate, complete, and consistent.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Data Lineage: Tracking the origin and transformation of data.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Data Privacy and Security: Protecting sensitive information.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Bias in Data: Identifying and mitigating biases present in the training data.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Emerging Trends in AI Governance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3" name="Google Shape;213;p2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65250" y="747325"/>
            <a:ext cx="8442900" cy="3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A Constantly Evolving Field: AI technology and its governance are rapidly changing.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Key Trends: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-35585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004"/>
              <a:buFont typeface="Calibri"/>
              <a:buChar char="●"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Democratization of AI: Making AI more accessible, which also necessitates easier-to-implement governance.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-35585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004"/>
              <a:buFont typeface="Calibri"/>
              <a:buChar char="●"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Agentic AI Governance: The concept of AI systems that can self-monitor and self-correct within predefined ethical boundaries.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-35585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004"/>
              <a:buFont typeface="Calibri"/>
              <a:buChar char="●"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Global Harmonization of Regulations: Efforts to create consistent AI governance standards across different countries.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  <a:p>
            <a:pPr indent="-35585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004"/>
              <a:buFont typeface="Calibri"/>
              <a:buChar char="●"/>
            </a:pPr>
            <a:r>
              <a:rPr lang="en-IN" sz="2004">
                <a:latin typeface="Calibri"/>
                <a:ea typeface="Calibri"/>
                <a:cs typeface="Calibri"/>
                <a:sym typeface="Calibri"/>
              </a:rPr>
              <a:t>Focus on Sustainability: Considering the environmental and social impact of developing and deploying large-scale AI models.</a:t>
            </a:r>
            <a:endParaRPr sz="20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Constitutional AI &amp; Self-Alignment</a:t>
            </a:r>
            <a:endParaRPr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251520" y="688928"/>
            <a:ext cx="8471400" cy="41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How can we scale AI safety? One cutting-edge approach is to teach AI models to govern themselves based on a set of core principles. This is known as Constitutional AI.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It's a two-phase process that builds on RLHF (Reinforcement Learning from Human Feedback).</a:t>
            </a:r>
            <a:endParaRPr/>
          </a:p>
          <a:p>
            <a:pPr indent="-335280" lvl="0" marL="914400" rtl="0" algn="l">
              <a:spcBef>
                <a:spcPts val="750"/>
              </a:spcBef>
              <a:spcAft>
                <a:spcPts val="0"/>
              </a:spcAft>
              <a:buSzPct val="100000"/>
              <a:buChar char="☞"/>
            </a:pPr>
            <a:r>
              <a:rPr b="1" lang="en-IN"/>
              <a:t>Phase 1: Supervised Learning.</a:t>
            </a:r>
            <a:endParaRPr b="1"/>
          </a:p>
          <a:p>
            <a:pPr indent="-299719" lvl="2" marL="1371600" rtl="0" algn="l">
              <a:spcBef>
                <a:spcPts val="0"/>
              </a:spcBef>
              <a:spcAft>
                <a:spcPts val="0"/>
              </a:spcAft>
              <a:buSzPct val="80000"/>
              <a:buChar char="●"/>
            </a:pPr>
            <a:r>
              <a:rPr lang="en-IN"/>
              <a:t>An initial model is prompted with a potentially harmful query.</a:t>
            </a:r>
            <a:endParaRPr/>
          </a:p>
          <a:p>
            <a:pPr indent="-299719" lvl="2" marL="1371600" rtl="0" algn="l">
              <a:spcBef>
                <a:spcPts val="0"/>
              </a:spcBef>
              <a:spcAft>
                <a:spcPts val="0"/>
              </a:spcAft>
              <a:buSzPct val="80000"/>
              <a:buChar char="●"/>
            </a:pPr>
            <a:r>
              <a:rPr lang="en-IN"/>
              <a:t>It is then asked to critique its own response based on a 'constitution' (e.g., a simple set of principles like "choose the response that is less harmful" or "the one that avoids toxic language").</a:t>
            </a:r>
            <a:endParaRPr/>
          </a:p>
          <a:p>
            <a:pPr indent="-299719" lvl="2" marL="1371600" rtl="0" algn="l">
              <a:spcBef>
                <a:spcPts val="0"/>
              </a:spcBef>
              <a:spcAft>
                <a:spcPts val="0"/>
              </a:spcAft>
              <a:buSzPct val="80000"/>
              <a:buChar char="●"/>
            </a:pPr>
            <a:r>
              <a:rPr lang="en-IN"/>
              <a:t>The model then rewrites its own response to be better aligned with the constitution.</a:t>
            </a:r>
            <a:endParaRPr/>
          </a:p>
          <a:p>
            <a:pPr indent="0" lvl="0" marL="45720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5280" lvl="0" marL="914400" rtl="0" algn="l">
              <a:spcBef>
                <a:spcPts val="750"/>
              </a:spcBef>
              <a:spcAft>
                <a:spcPts val="0"/>
              </a:spcAft>
              <a:buSzPct val="100000"/>
              <a:buChar char="☞"/>
            </a:pPr>
            <a:r>
              <a:rPr b="1" lang="en-IN"/>
              <a:t>Phase 2: Reinforcement Learning.</a:t>
            </a:r>
            <a:endParaRPr b="1"/>
          </a:p>
          <a:p>
            <a:pPr indent="-299719" lvl="2" marL="1371600" rtl="0" algn="l">
              <a:spcBef>
                <a:spcPts val="0"/>
              </a:spcBef>
              <a:spcAft>
                <a:spcPts val="0"/>
              </a:spcAft>
              <a:buSzPct val="80000"/>
              <a:buChar char="●"/>
            </a:pPr>
            <a:r>
              <a:rPr lang="en-IN"/>
              <a:t>A new AI model is trained on pairs of responses.</a:t>
            </a:r>
            <a:endParaRPr/>
          </a:p>
          <a:p>
            <a:pPr indent="-299719" lvl="2" marL="1371600" rtl="0" algn="l">
              <a:spcBef>
                <a:spcPts val="0"/>
              </a:spcBef>
              <a:spcAft>
                <a:spcPts val="0"/>
              </a:spcAft>
              <a:buSzPct val="80000"/>
              <a:buChar char="●"/>
            </a:pPr>
            <a:r>
              <a:rPr lang="en-IN"/>
              <a:t>It learns to prefer the constitutionally-aligned responses generated in Phase 1.</a:t>
            </a:r>
            <a:endParaRPr/>
          </a:p>
          <a:p>
            <a:pPr indent="0" lvl="0" marL="45720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The Goal: To make the AI model's internal sense of right and wrong more aligned with human values, reducing the need for constant human supervision for every possible scenario.</a:t>
            </a:r>
            <a:endParaRPr/>
          </a:p>
        </p:txBody>
      </p:sp>
      <p:sp>
        <p:nvSpPr>
          <p:cNvPr id="222" name="Google Shape;222;p2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Your Responsibility as a Future AI Practitioner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8" name="Google Shape;228;p3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251526" y="855150"/>
            <a:ext cx="8769600" cy="4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Beyond Technical Skills: As a CSE graduate, you will not only be a builder of AI but also a steward of its responsible use.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Your Role: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Lifelong Learning: Stay informed about the evolving landscape of AI ethics and governance.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Advocate for Responsible Practices: Champion ethical considerations within your teams and organizations.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-362204" lvl="0" marL="45720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SzPts val="2104"/>
              <a:buFont typeface="Calibri"/>
              <a:buChar char="●"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Engage in Public Discourse: Contribute to the broader conversation about the role of AI in society.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</a:rPr>
              <a:t>Final Thought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5" name="Google Shape;235;p3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6" name="Google Shape;236;p31"/>
          <p:cNvSpPr txBox="1"/>
          <p:nvPr/>
        </p:nvSpPr>
        <p:spPr>
          <a:xfrm>
            <a:off x="251520" y="1545250"/>
            <a:ext cx="77523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IN" sz="2104">
                <a:latin typeface="Calibri"/>
                <a:ea typeface="Calibri"/>
                <a:cs typeface="Calibri"/>
                <a:sym typeface="Calibri"/>
              </a:rPr>
              <a:t>The future of AI is not just about what we can build, but what we should build.</a:t>
            </a:r>
            <a:endParaRPr sz="21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t/>
            </a:r>
            <a:endParaRPr sz="2104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