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Cambria Math"/>
      <p:regular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CambriaMath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hyperlink" Target="https://www.instagram.com/isfcr.pesu" TargetMode="External"/><Relationship Id="rId4" Type="http://schemas.openxmlformats.org/officeDocument/2006/relationships/image" Target="../media/image9.png"/><Relationship Id="rId11" Type="http://schemas.openxmlformats.org/officeDocument/2006/relationships/hyperlink" Target="http://www.isfcr.pes.edu/" TargetMode="External"/><Relationship Id="rId10" Type="http://schemas.openxmlformats.org/officeDocument/2006/relationships/image" Target="../media/image1.png"/><Relationship Id="rId12" Type="http://schemas.openxmlformats.org/officeDocument/2006/relationships/image" Target="../media/image4.png"/><Relationship Id="rId9" Type="http://schemas.openxmlformats.org/officeDocument/2006/relationships/hyperlink" Target="http://www.isfcr.pes.edu/" TargetMode="External"/><Relationship Id="rId5" Type="http://schemas.openxmlformats.org/officeDocument/2006/relationships/hyperlink" Target="https://www.instagram.com/isfcr.pesu" TargetMode="External"/><Relationship Id="rId6" Type="http://schemas.openxmlformats.org/officeDocument/2006/relationships/hyperlink" Target="https://in.linkedin.com/company/isfcr" TargetMode="External"/><Relationship Id="rId7" Type="http://schemas.openxmlformats.org/officeDocument/2006/relationships/image" Target="../media/image6.png"/><Relationship Id="rId8" Type="http://schemas.openxmlformats.org/officeDocument/2006/relationships/hyperlink" Target="https://in.linkedin.com/company/isfcr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lcome Slide">
  <p:cSld name="Welcom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/>
        </p:nvSpPr>
        <p:spPr>
          <a:xfrm>
            <a:off x="3111795" y="1956391"/>
            <a:ext cx="28069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rPr>
              <a:t>Welcome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0" y="2340641"/>
            <a:ext cx="9144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PES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2197395" y="3024017"/>
            <a:ext cx="47492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rPr>
              <a:t>Ring Road Campus, Bengaluru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152249"/>
            <a:ext cx="2603899" cy="13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7200" y="413707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lcome Slide 2">
  <p:cSld name="Welcome Slide 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152249"/>
            <a:ext cx="2603899" cy="13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304341" y="3370510"/>
            <a:ext cx="4600575" cy="771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A7F25"/>
              </a:buClr>
              <a:buSzPts val="2400"/>
              <a:buNone/>
              <a:defRPr b="0" sz="2400">
                <a:solidFill>
                  <a:srgbClr val="EA7F25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2" type="body"/>
          </p:nvPr>
        </p:nvSpPr>
        <p:spPr>
          <a:xfrm>
            <a:off x="2304342" y="2564530"/>
            <a:ext cx="46005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12344"/>
              </a:buClr>
              <a:buSzPts val="2400"/>
              <a:buNone/>
              <a:defRPr b="0" sz="24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body"/>
          </p:nvPr>
        </p:nvSpPr>
        <p:spPr>
          <a:xfrm>
            <a:off x="1433597" y="1656209"/>
            <a:ext cx="6342062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A7F25"/>
              </a:buClr>
              <a:buSzPts val="3600"/>
              <a:buNone/>
              <a:defRPr b="1" sz="3600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0575" y="413707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- Bullets">
  <p:cSld name="Title + Content - Bulle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9" y="44872"/>
            <a:ext cx="258346" cy="3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type="title"/>
          </p:nvPr>
        </p:nvSpPr>
        <p:spPr>
          <a:xfrm>
            <a:off x="251520" y="8604"/>
            <a:ext cx="7886700" cy="5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800"/>
              <a:buFont typeface="Calibri"/>
              <a:buNone/>
              <a:defRPr b="1" sz="28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8" name="Google Shape;28;p4"/>
          <p:cNvCxnSpPr/>
          <p:nvPr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cap="flat" cmpd="sng" w="9525">
            <a:solidFill>
              <a:srgbClr val="EA7F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/>
          <p:nvPr/>
        </p:nvSpPr>
        <p:spPr>
          <a:xfrm>
            <a:off x="0" y="4891791"/>
            <a:ext cx="9144000" cy="267494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251520" y="688928"/>
            <a:ext cx="8471338" cy="411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Inter"/>
              <a:buChar char="☞"/>
              <a:defRPr sz="2400">
                <a:solidFill>
                  <a:srgbClr val="3A3A3A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400"/>
              <a:buChar char="•"/>
              <a:defRPr sz="2400">
                <a:solidFill>
                  <a:srgbClr val="3A3A3A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Char char="●"/>
              <a:defRPr sz="2000">
                <a:solidFill>
                  <a:srgbClr val="3A3A3A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472458" y="4850191"/>
            <a:ext cx="548700" cy="267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251520" y="4887039"/>
            <a:ext cx="20370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4"/>
            <a:ext cx="708204" cy="3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938">
          <p15:clr>
            <a:srgbClr val="FBAE40"/>
          </p15:clr>
        </p15:guide>
        <p15:guide id="2" pos="20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3648484"/>
            <a:ext cx="2603899" cy="13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/>
        </p:nvSpPr>
        <p:spPr>
          <a:xfrm>
            <a:off x="2090176" y="452017"/>
            <a:ext cx="49946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4041" y="2586418"/>
            <a:ext cx="662016" cy="662016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>
            <a:hlinkClick r:id="rId5"/>
          </p:cNvPr>
          <p:cNvSpPr txBox="1"/>
          <p:nvPr/>
        </p:nvSpPr>
        <p:spPr>
          <a:xfrm>
            <a:off x="1814989" y="3251718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isfcr.pesu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" name="Google Shape;39;p5"/>
          <p:cNvGrpSpPr/>
          <p:nvPr/>
        </p:nvGrpSpPr>
        <p:grpSpPr>
          <a:xfrm>
            <a:off x="6371669" y="2585932"/>
            <a:ext cx="779738" cy="1035118"/>
            <a:chOff x="6993237" y="2485157"/>
            <a:chExt cx="779738" cy="1035118"/>
          </a:xfrm>
        </p:grpSpPr>
        <p:pic>
          <p:nvPicPr>
            <p:cNvPr id="40" name="Google Shape;40;p5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52098" y="2485157"/>
              <a:ext cx="662016" cy="662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41;p5">
              <a:hlinkClick r:id="rId8"/>
            </p:cNvPr>
            <p:cNvSpPr txBox="1"/>
            <p:nvPr/>
          </p:nvSpPr>
          <p:spPr>
            <a:xfrm>
              <a:off x="6993237" y="3150943"/>
              <a:ext cx="7797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IN" sz="18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ISFCR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2" name="Google Shape;42;p5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7861" y="2585932"/>
            <a:ext cx="659253" cy="65925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>
            <a:hlinkClick r:id="rId11"/>
          </p:cNvPr>
          <p:cNvSpPr txBox="1"/>
          <p:nvPr/>
        </p:nvSpPr>
        <p:spPr>
          <a:xfrm>
            <a:off x="3549612" y="3245185"/>
            <a:ext cx="20757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www.isfcr.pes.edu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/>
          <p:nvPr/>
        </p:nvSpPr>
        <p:spPr>
          <a:xfrm>
            <a:off x="2090176" y="1819418"/>
            <a:ext cx="49946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Follow 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084800" y="4111745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Welcome Slide 2">
  <p:cSld name="1_Welcome Slide 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152249"/>
            <a:ext cx="2603899" cy="13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1331640" y="1879850"/>
            <a:ext cx="648072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Computer Network 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UE20CS336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2317750" y="3346450"/>
            <a:ext cx="4600575" cy="771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A7F25"/>
              </a:buClr>
              <a:buSzPts val="2400"/>
              <a:buNone/>
              <a:defRPr b="0" sz="2400">
                <a:solidFill>
                  <a:srgbClr val="EA7F25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5475" y="462270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- Image on Left">
  <p:cSld name="Title + Content - Image on Lef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9" y="44872"/>
            <a:ext cx="258346" cy="3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/>
          <p:nvPr/>
        </p:nvSpPr>
        <p:spPr>
          <a:xfrm>
            <a:off x="0" y="4891791"/>
            <a:ext cx="9144000" cy="267494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472458" y="4850191"/>
            <a:ext cx="548700" cy="267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56" name="Google Shape;56;p7"/>
          <p:cNvCxnSpPr/>
          <p:nvPr/>
        </p:nvCxnSpPr>
        <p:spPr>
          <a:xfrm>
            <a:off x="4572000" y="761814"/>
            <a:ext cx="0" cy="3970174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7"/>
          <p:cNvSpPr txBox="1"/>
          <p:nvPr>
            <p:ph type="title"/>
          </p:nvPr>
        </p:nvSpPr>
        <p:spPr>
          <a:xfrm>
            <a:off x="251520" y="8604"/>
            <a:ext cx="7886700" cy="5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800"/>
              <a:buFont typeface="Calibri"/>
              <a:buNone/>
              <a:defRPr b="1" sz="28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8" name="Google Shape;58;p7"/>
          <p:cNvCxnSpPr/>
          <p:nvPr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cap="flat" cmpd="sng" w="9525">
            <a:solidFill>
              <a:srgbClr val="EA7F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4713785" y="683267"/>
            <a:ext cx="4176464" cy="411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Inter"/>
              <a:buChar char="☞"/>
              <a:defRPr sz="2400">
                <a:solidFill>
                  <a:srgbClr val="3A3A3A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400"/>
              <a:buChar char="•"/>
              <a:defRPr sz="2400">
                <a:solidFill>
                  <a:srgbClr val="3A3A3A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Char char="●"/>
              <a:defRPr sz="2000">
                <a:solidFill>
                  <a:srgbClr val="3A3A3A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 txBox="1"/>
          <p:nvPr/>
        </p:nvSpPr>
        <p:spPr>
          <a:xfrm>
            <a:off x="251520" y="4887039"/>
            <a:ext cx="20370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4"/>
            <a:ext cx="708204" cy="3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- Image Comparison">
  <p:cSld name="Title + Content - Image Comparis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/>
          <p:nvPr/>
        </p:nvSpPr>
        <p:spPr>
          <a:xfrm>
            <a:off x="0" y="4891791"/>
            <a:ext cx="9144000" cy="267494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9" y="44872"/>
            <a:ext cx="258346" cy="3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472458" y="4850191"/>
            <a:ext cx="548700" cy="267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66" name="Google Shape;66;p8"/>
          <p:cNvCxnSpPr/>
          <p:nvPr/>
        </p:nvCxnSpPr>
        <p:spPr>
          <a:xfrm>
            <a:off x="4572000" y="761814"/>
            <a:ext cx="0" cy="3970174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8"/>
          <p:cNvSpPr txBox="1"/>
          <p:nvPr>
            <p:ph type="title"/>
          </p:nvPr>
        </p:nvSpPr>
        <p:spPr>
          <a:xfrm>
            <a:off x="251520" y="8604"/>
            <a:ext cx="7886700" cy="5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800"/>
              <a:buFont typeface="Calibri"/>
              <a:buNone/>
              <a:defRPr b="1" sz="28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8" name="Google Shape;68;p8"/>
          <p:cNvCxnSpPr/>
          <p:nvPr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cap="flat" cmpd="sng" w="9525">
            <a:solidFill>
              <a:srgbClr val="EA7F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8"/>
          <p:cNvSpPr txBox="1"/>
          <p:nvPr/>
        </p:nvSpPr>
        <p:spPr>
          <a:xfrm>
            <a:off x="251520" y="4887039"/>
            <a:ext cx="20370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4"/>
            <a:ext cx="708204" cy="3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image" Target="../media/image13.jpg"/><Relationship Id="rId6" Type="http://schemas.openxmlformats.org/officeDocument/2006/relationships/image" Target="../media/image20.png"/><Relationship Id="rId7" Type="http://schemas.openxmlformats.org/officeDocument/2006/relationships/image" Target="../media/image12.png"/><Relationship Id="rId8" Type="http://schemas.openxmlformats.org/officeDocument/2006/relationships/hyperlink" Target="http://www.cs.utexas.edu/~pstone/Papers/bib2html-links/KCAP09-knox.pdf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11" Type="http://schemas.openxmlformats.org/officeDocument/2006/relationships/image" Target="../media/image28.png"/><Relationship Id="rId10" Type="http://schemas.openxmlformats.org/officeDocument/2006/relationships/image" Target="../media/image30.png"/><Relationship Id="rId12" Type="http://schemas.openxmlformats.org/officeDocument/2006/relationships/image" Target="../media/image39.png"/><Relationship Id="rId9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Relationship Id="rId7" Type="http://schemas.openxmlformats.org/officeDocument/2006/relationships/image" Target="../media/image44.png"/><Relationship Id="rId8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40.jpg"/><Relationship Id="rId6" Type="http://schemas.openxmlformats.org/officeDocument/2006/relationships/image" Target="../media/image3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Relationship Id="rId4" Type="http://schemas.openxmlformats.org/officeDocument/2006/relationships/image" Target="../media/image36.png"/><Relationship Id="rId5" Type="http://schemas.openxmlformats.org/officeDocument/2006/relationships/image" Target="../media/image29.png"/><Relationship Id="rId6" Type="http://schemas.openxmlformats.org/officeDocument/2006/relationships/image" Target="../media/image3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jpg"/><Relationship Id="rId4" Type="http://schemas.openxmlformats.org/officeDocument/2006/relationships/hyperlink" Target="https://arxiv.org/pdf/2307.04964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4.jpg"/><Relationship Id="rId4" Type="http://schemas.openxmlformats.org/officeDocument/2006/relationships/hyperlink" Target="http://www.youtube.com/watch?v=yWDUzNiWPJA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2304342" y="3795886"/>
            <a:ext cx="46005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Lecture 3: RLHF, AI Alignment</a:t>
            </a:r>
            <a:endParaRPr/>
          </a:p>
        </p:txBody>
      </p:sp>
      <p:sp>
        <p:nvSpPr>
          <p:cNvPr id="80" name="Google Shape;80;p10"/>
          <p:cNvSpPr txBox="1"/>
          <p:nvPr>
            <p:ph idx="2" type="body"/>
          </p:nvPr>
        </p:nvSpPr>
        <p:spPr>
          <a:xfrm>
            <a:off x="1999551" y="2931804"/>
            <a:ext cx="51912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400"/>
              <a:buNone/>
            </a:pPr>
            <a:r>
              <a:rPr lang="en-IN"/>
              <a:t>Preet Kanwal</a:t>
            </a:r>
            <a:endParaRPr/>
          </a:p>
        </p:txBody>
      </p:sp>
      <p:sp>
        <p:nvSpPr>
          <p:cNvPr id="81" name="Google Shape;81;p10"/>
          <p:cNvSpPr txBox="1"/>
          <p:nvPr>
            <p:ph idx="3" type="body"/>
          </p:nvPr>
        </p:nvSpPr>
        <p:spPr>
          <a:xfrm>
            <a:off x="1433597" y="1656209"/>
            <a:ext cx="63420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IN"/>
              <a:t>Responsible AI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RLHF: Intro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8" name="Google Shape;88;p11"/>
          <p:cNvSpPr txBox="1"/>
          <p:nvPr/>
        </p:nvSpPr>
        <p:spPr>
          <a:xfrm>
            <a:off x="708025" y="982662"/>
            <a:ext cx="4554220" cy="3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Reinforcement Learning Human Feedback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Optimizing for human preferences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5" name="Google Shape;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6125" y="1657350"/>
            <a:ext cx="70738" cy="209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0432" y="1657350"/>
            <a:ext cx="70738" cy="20942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2"/>
          <p:cNvSpPr txBox="1"/>
          <p:nvPr/>
        </p:nvSpPr>
        <p:spPr>
          <a:xfrm>
            <a:off x="475297" y="902271"/>
            <a:ext cx="75603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Let’s say we were training a language model on some task (e.g. summarization).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an instruction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𝑥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a LM sample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𝑦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imagine we had a way to obtain a </a:t>
            </a:r>
            <a:r>
              <a:rPr b="0" i="1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6924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reward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that summary: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𝑅 𝑥, 𝑦	    ∈ ℝ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higher is better.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475301" y="4204649"/>
            <a:ext cx="78867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Now we want to maximize the expected reward of samples from our LM: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726757" y="1944687"/>
            <a:ext cx="2297430" cy="2186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SAN FRANCISCO,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California (CNN) -- A magnitude 4.2 earthquake shook the San Francisco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345440" rtl="0" algn="l">
              <a:lnSpc>
                <a:spcPct val="11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overturn unstable objects.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7795" rtl="0" algn="ctr">
              <a:lnSpc>
                <a:spcPct val="112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𝑥</a:t>
            </a:r>
            <a:endParaRPr b="0" i="0" sz="2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4801234" y="3324225"/>
            <a:ext cx="94614" cy="285750"/>
          </a:xfrm>
          <a:custGeom>
            <a:rect b="b" l="l" r="r" t="t"/>
            <a:pathLst>
              <a:path extrusionOk="0" h="285750" w="94614">
                <a:moveTo>
                  <a:pt x="4190" y="0"/>
                </a:moveTo>
                <a:lnTo>
                  <a:pt x="0" y="11684"/>
                </a:lnTo>
                <a:lnTo>
                  <a:pt x="16382" y="18796"/>
                </a:lnTo>
                <a:lnTo>
                  <a:pt x="30479" y="28701"/>
                </a:lnTo>
                <a:lnTo>
                  <a:pt x="51815" y="56896"/>
                </a:lnTo>
                <a:lnTo>
                  <a:pt x="64388" y="94742"/>
                </a:lnTo>
                <a:lnTo>
                  <a:pt x="68579" y="141351"/>
                </a:lnTo>
                <a:lnTo>
                  <a:pt x="67563" y="166497"/>
                </a:lnTo>
                <a:lnTo>
                  <a:pt x="59181" y="209956"/>
                </a:lnTo>
                <a:lnTo>
                  <a:pt x="42290" y="243890"/>
                </a:lnTo>
                <a:lnTo>
                  <a:pt x="16636" y="266776"/>
                </a:lnTo>
                <a:lnTo>
                  <a:pt x="507" y="274015"/>
                </a:lnTo>
                <a:lnTo>
                  <a:pt x="4190" y="285559"/>
                </a:lnTo>
                <a:lnTo>
                  <a:pt x="42671" y="267309"/>
                </a:lnTo>
                <a:lnTo>
                  <a:pt x="71119" y="235724"/>
                </a:lnTo>
                <a:lnTo>
                  <a:pt x="88645" y="193332"/>
                </a:lnTo>
                <a:lnTo>
                  <a:pt x="94360" y="142875"/>
                </a:lnTo>
                <a:lnTo>
                  <a:pt x="92963" y="116713"/>
                </a:lnTo>
                <a:lnTo>
                  <a:pt x="81279" y="70358"/>
                </a:lnTo>
                <a:lnTo>
                  <a:pt x="58165" y="32512"/>
                </a:lnTo>
                <a:lnTo>
                  <a:pt x="24637" y="7493"/>
                </a:lnTo>
                <a:lnTo>
                  <a:pt x="419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4038600" y="3324225"/>
            <a:ext cx="94614" cy="285750"/>
          </a:xfrm>
          <a:custGeom>
            <a:rect b="b" l="l" r="r" t="t"/>
            <a:pathLst>
              <a:path extrusionOk="0" h="285750" w="94614">
                <a:moveTo>
                  <a:pt x="90424" y="0"/>
                </a:moveTo>
                <a:lnTo>
                  <a:pt x="51816" y="18415"/>
                </a:lnTo>
                <a:lnTo>
                  <a:pt x="23368" y="50165"/>
                </a:lnTo>
                <a:lnTo>
                  <a:pt x="5842" y="92583"/>
                </a:lnTo>
                <a:lnTo>
                  <a:pt x="0" y="142875"/>
                </a:lnTo>
                <a:lnTo>
                  <a:pt x="1524" y="169125"/>
                </a:lnTo>
                <a:lnTo>
                  <a:pt x="13208" y="215531"/>
                </a:lnTo>
                <a:lnTo>
                  <a:pt x="36322" y="253187"/>
                </a:lnTo>
                <a:lnTo>
                  <a:pt x="69723" y="278104"/>
                </a:lnTo>
                <a:lnTo>
                  <a:pt x="90424" y="285559"/>
                </a:lnTo>
                <a:lnTo>
                  <a:pt x="93980" y="274015"/>
                </a:lnTo>
                <a:lnTo>
                  <a:pt x="77851" y="266776"/>
                </a:lnTo>
                <a:lnTo>
                  <a:pt x="63881" y="256743"/>
                </a:lnTo>
                <a:lnTo>
                  <a:pt x="42672" y="228219"/>
                </a:lnTo>
                <a:lnTo>
                  <a:pt x="30099" y="189395"/>
                </a:lnTo>
                <a:lnTo>
                  <a:pt x="25908" y="141351"/>
                </a:lnTo>
                <a:lnTo>
                  <a:pt x="26924" y="116967"/>
                </a:lnTo>
                <a:lnTo>
                  <a:pt x="35306" y="74803"/>
                </a:lnTo>
                <a:lnTo>
                  <a:pt x="52197" y="41402"/>
                </a:lnTo>
                <a:lnTo>
                  <a:pt x="77978" y="18796"/>
                </a:lnTo>
                <a:lnTo>
                  <a:pt x="94361" y="11684"/>
                </a:lnTo>
                <a:lnTo>
                  <a:pt x="9042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7278751" y="3095625"/>
            <a:ext cx="93979" cy="285750"/>
          </a:xfrm>
          <a:custGeom>
            <a:rect b="b" l="l" r="r" t="t"/>
            <a:pathLst>
              <a:path extrusionOk="0" h="285750" w="93979">
                <a:moveTo>
                  <a:pt x="3936" y="0"/>
                </a:moveTo>
                <a:lnTo>
                  <a:pt x="0" y="11684"/>
                </a:lnTo>
                <a:lnTo>
                  <a:pt x="16255" y="18796"/>
                </a:lnTo>
                <a:lnTo>
                  <a:pt x="30225" y="28701"/>
                </a:lnTo>
                <a:lnTo>
                  <a:pt x="51434" y="56896"/>
                </a:lnTo>
                <a:lnTo>
                  <a:pt x="63880" y="94742"/>
                </a:lnTo>
                <a:lnTo>
                  <a:pt x="67944" y="141351"/>
                </a:lnTo>
                <a:lnTo>
                  <a:pt x="66928" y="166497"/>
                </a:lnTo>
                <a:lnTo>
                  <a:pt x="58546" y="209956"/>
                </a:lnTo>
                <a:lnTo>
                  <a:pt x="41909" y="243890"/>
                </a:lnTo>
                <a:lnTo>
                  <a:pt x="16509" y="266776"/>
                </a:lnTo>
                <a:lnTo>
                  <a:pt x="507" y="274015"/>
                </a:lnTo>
                <a:lnTo>
                  <a:pt x="3936" y="285559"/>
                </a:lnTo>
                <a:lnTo>
                  <a:pt x="42290" y="267296"/>
                </a:lnTo>
                <a:lnTo>
                  <a:pt x="70484" y="235623"/>
                </a:lnTo>
                <a:lnTo>
                  <a:pt x="87756" y="193332"/>
                </a:lnTo>
                <a:lnTo>
                  <a:pt x="93598" y="142875"/>
                </a:lnTo>
                <a:lnTo>
                  <a:pt x="92201" y="116713"/>
                </a:lnTo>
                <a:lnTo>
                  <a:pt x="80517" y="70358"/>
                </a:lnTo>
                <a:lnTo>
                  <a:pt x="57530" y="32512"/>
                </a:lnTo>
                <a:lnTo>
                  <a:pt x="24383" y="7493"/>
                </a:lnTo>
                <a:lnTo>
                  <a:pt x="39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6515100" y="3095625"/>
            <a:ext cx="93979" cy="285750"/>
          </a:xfrm>
          <a:custGeom>
            <a:rect b="b" l="l" r="r" t="t"/>
            <a:pathLst>
              <a:path extrusionOk="0" h="285750" w="93979">
                <a:moveTo>
                  <a:pt x="89661" y="0"/>
                </a:moveTo>
                <a:lnTo>
                  <a:pt x="51307" y="18415"/>
                </a:lnTo>
                <a:lnTo>
                  <a:pt x="23240" y="50165"/>
                </a:lnTo>
                <a:lnTo>
                  <a:pt x="5841" y="92583"/>
                </a:lnTo>
                <a:lnTo>
                  <a:pt x="0" y="142875"/>
                </a:lnTo>
                <a:lnTo>
                  <a:pt x="1396" y="169125"/>
                </a:lnTo>
                <a:lnTo>
                  <a:pt x="12953" y="215493"/>
                </a:lnTo>
                <a:lnTo>
                  <a:pt x="35940" y="253136"/>
                </a:lnTo>
                <a:lnTo>
                  <a:pt x="69214" y="278104"/>
                </a:lnTo>
                <a:lnTo>
                  <a:pt x="89661" y="285559"/>
                </a:lnTo>
                <a:lnTo>
                  <a:pt x="93090" y="274015"/>
                </a:lnTo>
                <a:lnTo>
                  <a:pt x="77088" y="266776"/>
                </a:lnTo>
                <a:lnTo>
                  <a:pt x="63245" y="256743"/>
                </a:lnTo>
                <a:lnTo>
                  <a:pt x="42290" y="228219"/>
                </a:lnTo>
                <a:lnTo>
                  <a:pt x="29717" y="189395"/>
                </a:lnTo>
                <a:lnTo>
                  <a:pt x="25653" y="141351"/>
                </a:lnTo>
                <a:lnTo>
                  <a:pt x="26669" y="116967"/>
                </a:lnTo>
                <a:lnTo>
                  <a:pt x="34924" y="74803"/>
                </a:lnTo>
                <a:lnTo>
                  <a:pt x="51688" y="41402"/>
                </a:lnTo>
                <a:lnTo>
                  <a:pt x="77342" y="18796"/>
                </a:lnTo>
                <a:lnTo>
                  <a:pt x="93598" y="11684"/>
                </a:lnTo>
                <a:lnTo>
                  <a:pt x="8966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3594349" y="2072950"/>
            <a:ext cx="23898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7470" marR="4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An earthquake hit San Francisco.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7470" marR="15430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There was minor property damage, but no injuries.</a:t>
            </a:r>
            <a:endParaRPr b="0" baseline="-25000" i="0" sz="27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93980" rtl="0" algn="ctr">
              <a:lnSpc>
                <a:spcPct val="1057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𝑅	𝑥, 𝑦</a:t>
            </a:r>
            <a:r>
              <a:rPr b="0" baseline="-25000" i="0" lang="en-IN" sz="27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1	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= 8.0</a:t>
            </a:r>
            <a:endParaRPr b="0" i="0" sz="2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6224650" y="2072950"/>
            <a:ext cx="2718600" cy="13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7945" marR="4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The Bay Area has good weather but is prone to earthquakes and wildfires.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314325" rtl="0" algn="l">
              <a:lnSpc>
                <a:spcPct val="1057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𝑅	𝑥, 𝑦</a:t>
            </a:r>
            <a:r>
              <a:rPr b="0" baseline="-25000" i="0" lang="en-IN" sz="27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2	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= 1.2</a:t>
            </a:r>
            <a:endParaRPr b="0" i="0" sz="2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06" name="Google Shape;106;p12"/>
          <p:cNvSpPr/>
          <p:nvPr/>
        </p:nvSpPr>
        <p:spPr>
          <a:xfrm>
            <a:off x="8800972" y="2473960"/>
            <a:ext cx="22860" cy="22860"/>
          </a:xfrm>
          <a:custGeom>
            <a:rect b="b" l="l" r="r" t="t"/>
            <a:pathLst>
              <a:path extrusionOk="0" h="22860" w="22859">
                <a:moveTo>
                  <a:pt x="17525" y="0"/>
                </a:moveTo>
                <a:lnTo>
                  <a:pt x="5079" y="0"/>
                </a:lnTo>
                <a:lnTo>
                  <a:pt x="0" y="5079"/>
                </a:lnTo>
                <a:lnTo>
                  <a:pt x="0" y="17525"/>
                </a:lnTo>
                <a:lnTo>
                  <a:pt x="5079" y="22605"/>
                </a:lnTo>
                <a:lnTo>
                  <a:pt x="17525" y="22605"/>
                </a:lnTo>
                <a:lnTo>
                  <a:pt x="22605" y="17525"/>
                </a:lnTo>
                <a:lnTo>
                  <a:pt x="22605" y="11302"/>
                </a:lnTo>
                <a:lnTo>
                  <a:pt x="22605" y="5079"/>
                </a:lnTo>
                <a:lnTo>
                  <a:pt x="17525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2"/>
          <p:cNvSpPr/>
          <p:nvPr/>
        </p:nvSpPr>
        <p:spPr>
          <a:xfrm>
            <a:off x="9058656" y="3790696"/>
            <a:ext cx="24765" cy="24765"/>
          </a:xfrm>
          <a:custGeom>
            <a:rect b="b" l="l" r="r" t="t"/>
            <a:pathLst>
              <a:path extrusionOk="0" h="24764" w="24765">
                <a:moveTo>
                  <a:pt x="18795" y="0"/>
                </a:moveTo>
                <a:lnTo>
                  <a:pt x="5333" y="0"/>
                </a:lnTo>
                <a:lnTo>
                  <a:pt x="0" y="5460"/>
                </a:lnTo>
                <a:lnTo>
                  <a:pt x="0" y="18922"/>
                </a:lnTo>
                <a:lnTo>
                  <a:pt x="5333" y="24256"/>
                </a:lnTo>
                <a:lnTo>
                  <a:pt x="18795" y="24256"/>
                </a:lnTo>
                <a:lnTo>
                  <a:pt x="24256" y="18922"/>
                </a:lnTo>
                <a:lnTo>
                  <a:pt x="24256" y="12191"/>
                </a:lnTo>
                <a:lnTo>
                  <a:pt x="24256" y="5460"/>
                </a:lnTo>
                <a:lnTo>
                  <a:pt x="18795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4963" y="4565542"/>
            <a:ext cx="2065573" cy="292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marR="5080" rtl="0" algn="l">
              <a:lnSpc>
                <a:spcPct val="101899"/>
              </a:lnSpc>
              <a:spcBef>
                <a:spcPts val="65"/>
              </a:spcBef>
              <a:spcAft>
                <a:spcPts val="0"/>
              </a:spcAft>
              <a:buSzPts val="2800"/>
              <a:buNone/>
            </a:pPr>
            <a:r>
              <a:rPr lang="en-IN"/>
              <a:t>High- level instantiation: ‘RLHF’ pipeline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251520" y="2011837"/>
            <a:ext cx="3438222" cy="968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3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 step: instruction tuning!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+ third steps: maximize reward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251520" y="3583870"/>
            <a:ext cx="2408756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sng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https://arxiv.org/pdf/2203.02155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13"/>
          <p:cNvGrpSpPr/>
          <p:nvPr/>
        </p:nvGrpSpPr>
        <p:grpSpPr>
          <a:xfrm>
            <a:off x="3392905" y="794084"/>
            <a:ext cx="5327295" cy="3515978"/>
            <a:chOff x="3167125" y="119062"/>
            <a:chExt cx="5553075" cy="4191000"/>
          </a:xfrm>
        </p:grpSpPr>
        <p:pic>
          <p:nvPicPr>
            <p:cNvPr id="118" name="Google Shape;118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11898" y="190728"/>
              <a:ext cx="5463402" cy="39138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3"/>
            <p:cNvSpPr/>
            <p:nvPr/>
          </p:nvSpPr>
          <p:spPr>
            <a:xfrm>
              <a:off x="3167125" y="119062"/>
              <a:ext cx="5553075" cy="4191000"/>
            </a:xfrm>
            <a:custGeom>
              <a:rect b="b" l="l" r="r" t="t"/>
              <a:pathLst>
                <a:path extrusionOk="0" h="4191000" w="5553075">
                  <a:moveTo>
                    <a:pt x="0" y="4191000"/>
                  </a:moveTo>
                  <a:lnTo>
                    <a:pt x="5553075" y="4191000"/>
                  </a:lnTo>
                  <a:lnTo>
                    <a:pt x="5553075" y="0"/>
                  </a:lnTo>
                  <a:lnTo>
                    <a:pt x="0" y="0"/>
                  </a:lnTo>
                  <a:lnTo>
                    <a:pt x="0" y="41910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6159245" y="3975290"/>
              <a:ext cx="8255" cy="8255"/>
            </a:xfrm>
            <a:custGeom>
              <a:rect b="b" l="l" r="r" t="t"/>
              <a:pathLst>
                <a:path extrusionOk="0" h="8254" w="8254">
                  <a:moveTo>
                    <a:pt x="6096" y="0"/>
                  </a:moveTo>
                  <a:lnTo>
                    <a:pt x="1778" y="0"/>
                  </a:lnTo>
                  <a:lnTo>
                    <a:pt x="0" y="1765"/>
                  </a:lnTo>
                  <a:lnTo>
                    <a:pt x="0" y="6121"/>
                  </a:lnTo>
                  <a:lnTo>
                    <a:pt x="1778" y="7874"/>
                  </a:lnTo>
                  <a:lnTo>
                    <a:pt x="6096" y="7874"/>
                  </a:lnTo>
                  <a:lnTo>
                    <a:pt x="7874" y="6121"/>
                  </a:lnTo>
                  <a:lnTo>
                    <a:pt x="7874" y="3937"/>
                  </a:lnTo>
                  <a:lnTo>
                    <a:pt x="7874" y="1765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How do we get the rewards?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480377" y="901763"/>
            <a:ext cx="6989445" cy="960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3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 1: human-in-the-loop is expensive!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18333"/>
              </a:lnSpc>
              <a:spcBef>
                <a:spcPts val="47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Solution: instead of directly asking humans for preferences, model their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7685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preferences as a separate (NLP) problem!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1734185" y="3771900"/>
            <a:ext cx="94615" cy="276225"/>
          </a:xfrm>
          <a:custGeom>
            <a:rect b="b" l="l" r="r" t="t"/>
            <a:pathLst>
              <a:path extrusionOk="0" h="276225" w="94614">
                <a:moveTo>
                  <a:pt x="4063" y="0"/>
                </a:moveTo>
                <a:lnTo>
                  <a:pt x="0" y="11176"/>
                </a:lnTo>
                <a:lnTo>
                  <a:pt x="16382" y="18034"/>
                </a:lnTo>
                <a:lnTo>
                  <a:pt x="30479" y="27686"/>
                </a:lnTo>
                <a:lnTo>
                  <a:pt x="51815" y="54864"/>
                </a:lnTo>
                <a:lnTo>
                  <a:pt x="64388" y="91567"/>
                </a:lnTo>
                <a:lnTo>
                  <a:pt x="68579" y="136626"/>
                </a:lnTo>
                <a:lnTo>
                  <a:pt x="67563" y="160972"/>
                </a:lnTo>
                <a:lnTo>
                  <a:pt x="59181" y="202920"/>
                </a:lnTo>
                <a:lnTo>
                  <a:pt x="42290" y="235686"/>
                </a:lnTo>
                <a:lnTo>
                  <a:pt x="16636" y="257822"/>
                </a:lnTo>
                <a:lnTo>
                  <a:pt x="507" y="264782"/>
                </a:lnTo>
                <a:lnTo>
                  <a:pt x="4063" y="275945"/>
                </a:lnTo>
                <a:lnTo>
                  <a:pt x="42671" y="258305"/>
                </a:lnTo>
                <a:lnTo>
                  <a:pt x="71119" y="227774"/>
                </a:lnTo>
                <a:lnTo>
                  <a:pt x="88645" y="186804"/>
                </a:lnTo>
                <a:lnTo>
                  <a:pt x="94487" y="138023"/>
                </a:lnTo>
                <a:lnTo>
                  <a:pt x="92963" y="112737"/>
                </a:lnTo>
                <a:lnTo>
                  <a:pt x="81279" y="67945"/>
                </a:lnTo>
                <a:lnTo>
                  <a:pt x="58165" y="31368"/>
                </a:lnTo>
                <a:lnTo>
                  <a:pt x="24637" y="7238"/>
                </a:lnTo>
                <a:lnTo>
                  <a:pt x="40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1047750" y="3771900"/>
            <a:ext cx="94615" cy="276225"/>
          </a:xfrm>
          <a:custGeom>
            <a:rect b="b" l="l" r="r" t="t"/>
            <a:pathLst>
              <a:path extrusionOk="0" h="276225" w="94615">
                <a:moveTo>
                  <a:pt x="90373" y="0"/>
                </a:moveTo>
                <a:lnTo>
                  <a:pt x="51790" y="17653"/>
                </a:lnTo>
                <a:lnTo>
                  <a:pt x="23380" y="48387"/>
                </a:lnTo>
                <a:lnTo>
                  <a:pt x="5854" y="89408"/>
                </a:lnTo>
                <a:lnTo>
                  <a:pt x="0" y="138023"/>
                </a:lnTo>
                <a:lnTo>
                  <a:pt x="1460" y="163398"/>
                </a:lnTo>
                <a:lnTo>
                  <a:pt x="13119" y="208254"/>
                </a:lnTo>
                <a:lnTo>
                  <a:pt x="36220" y="244652"/>
                </a:lnTo>
                <a:lnTo>
                  <a:pt x="69748" y="268744"/>
                </a:lnTo>
                <a:lnTo>
                  <a:pt x="90373" y="275945"/>
                </a:lnTo>
                <a:lnTo>
                  <a:pt x="93903" y="264782"/>
                </a:lnTo>
                <a:lnTo>
                  <a:pt x="77762" y="257822"/>
                </a:lnTo>
                <a:lnTo>
                  <a:pt x="63842" y="248132"/>
                </a:lnTo>
                <a:lnTo>
                  <a:pt x="42659" y="220510"/>
                </a:lnTo>
                <a:lnTo>
                  <a:pt x="30073" y="183070"/>
                </a:lnTo>
                <a:lnTo>
                  <a:pt x="25857" y="136626"/>
                </a:lnTo>
                <a:lnTo>
                  <a:pt x="26911" y="113042"/>
                </a:lnTo>
                <a:lnTo>
                  <a:pt x="35318" y="72136"/>
                </a:lnTo>
                <a:lnTo>
                  <a:pt x="52171" y="40005"/>
                </a:lnTo>
                <a:lnTo>
                  <a:pt x="78041" y="18034"/>
                </a:lnTo>
                <a:lnTo>
                  <a:pt x="94373" y="11176"/>
                </a:lnTo>
                <a:lnTo>
                  <a:pt x="9037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756919" y="2270379"/>
            <a:ext cx="2319000" cy="1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505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An earthquake hit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50520" marR="14160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San Francisco. There was minor property damage, but no injuries.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𝑅	𝑥, 𝑦</a:t>
            </a:r>
            <a:r>
              <a:rPr b="0" baseline="-25000" i="0" lang="en-IN" sz="27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1	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= 8.0</a:t>
            </a:r>
            <a:endParaRPr b="0" i="0" sz="2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4496308" y="3790950"/>
            <a:ext cx="95250" cy="285750"/>
          </a:xfrm>
          <a:custGeom>
            <a:rect b="b" l="l" r="r" t="t"/>
            <a:pathLst>
              <a:path extrusionOk="0" h="285750" w="95250">
                <a:moveTo>
                  <a:pt x="4063" y="0"/>
                </a:moveTo>
                <a:lnTo>
                  <a:pt x="0" y="11684"/>
                </a:lnTo>
                <a:lnTo>
                  <a:pt x="16509" y="18796"/>
                </a:lnTo>
                <a:lnTo>
                  <a:pt x="30606" y="28701"/>
                </a:lnTo>
                <a:lnTo>
                  <a:pt x="52069" y="56896"/>
                </a:lnTo>
                <a:lnTo>
                  <a:pt x="64642" y="94805"/>
                </a:lnTo>
                <a:lnTo>
                  <a:pt x="68833" y="141338"/>
                </a:lnTo>
                <a:lnTo>
                  <a:pt x="67690" y="166560"/>
                </a:lnTo>
                <a:lnTo>
                  <a:pt x="59308" y="209969"/>
                </a:lnTo>
                <a:lnTo>
                  <a:pt x="42417" y="243890"/>
                </a:lnTo>
                <a:lnTo>
                  <a:pt x="16763" y="266776"/>
                </a:lnTo>
                <a:lnTo>
                  <a:pt x="507" y="274015"/>
                </a:lnTo>
                <a:lnTo>
                  <a:pt x="4063" y="285559"/>
                </a:lnTo>
                <a:lnTo>
                  <a:pt x="42798" y="267309"/>
                </a:lnTo>
                <a:lnTo>
                  <a:pt x="71373" y="235724"/>
                </a:lnTo>
                <a:lnTo>
                  <a:pt x="88899" y="193332"/>
                </a:lnTo>
                <a:lnTo>
                  <a:pt x="94741" y="142875"/>
                </a:lnTo>
                <a:lnTo>
                  <a:pt x="93217" y="116725"/>
                </a:lnTo>
                <a:lnTo>
                  <a:pt x="81533" y="70358"/>
                </a:lnTo>
                <a:lnTo>
                  <a:pt x="58292" y="32512"/>
                </a:lnTo>
                <a:lnTo>
                  <a:pt x="24637" y="7493"/>
                </a:lnTo>
                <a:lnTo>
                  <a:pt x="40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3800475" y="3790950"/>
            <a:ext cx="95250" cy="285750"/>
          </a:xfrm>
          <a:custGeom>
            <a:rect b="b" l="l" r="r" t="t"/>
            <a:pathLst>
              <a:path extrusionOk="0" h="285750" w="95250">
                <a:moveTo>
                  <a:pt x="90677" y="0"/>
                </a:moveTo>
                <a:lnTo>
                  <a:pt x="51942" y="18415"/>
                </a:lnTo>
                <a:lnTo>
                  <a:pt x="23494" y="50165"/>
                </a:lnTo>
                <a:lnTo>
                  <a:pt x="5841" y="92532"/>
                </a:lnTo>
                <a:lnTo>
                  <a:pt x="0" y="142875"/>
                </a:lnTo>
                <a:lnTo>
                  <a:pt x="1523" y="169125"/>
                </a:lnTo>
                <a:lnTo>
                  <a:pt x="13207" y="215531"/>
                </a:lnTo>
                <a:lnTo>
                  <a:pt x="36321" y="253187"/>
                </a:lnTo>
                <a:lnTo>
                  <a:pt x="69976" y="278104"/>
                </a:lnTo>
                <a:lnTo>
                  <a:pt x="90677" y="285559"/>
                </a:lnTo>
                <a:lnTo>
                  <a:pt x="94233" y="274015"/>
                </a:lnTo>
                <a:lnTo>
                  <a:pt x="77977" y="266776"/>
                </a:lnTo>
                <a:lnTo>
                  <a:pt x="64007" y="256743"/>
                </a:lnTo>
                <a:lnTo>
                  <a:pt x="42798" y="228219"/>
                </a:lnTo>
                <a:lnTo>
                  <a:pt x="30098" y="189433"/>
                </a:lnTo>
                <a:lnTo>
                  <a:pt x="25907" y="141338"/>
                </a:lnTo>
                <a:lnTo>
                  <a:pt x="27050" y="117005"/>
                </a:lnTo>
                <a:lnTo>
                  <a:pt x="35432" y="74803"/>
                </a:lnTo>
                <a:lnTo>
                  <a:pt x="52323" y="41402"/>
                </a:lnTo>
                <a:lnTo>
                  <a:pt x="78358" y="18796"/>
                </a:lnTo>
                <a:lnTo>
                  <a:pt x="94741" y="11684"/>
                </a:lnTo>
                <a:lnTo>
                  <a:pt x="9067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3515359" y="2270379"/>
            <a:ext cx="2418715" cy="1843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13359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The Bay Area has good weather but is prone to earthquakes and wildfires.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𝑅	𝑥, 𝑦</a:t>
            </a:r>
            <a:r>
              <a:rPr b="0" baseline="-25000" i="0" lang="en-IN" sz="27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2	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= 1.2</a:t>
            </a:r>
            <a:endParaRPr b="0" i="0" sz="2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134" name="Google Shape;1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6681" y="2381250"/>
            <a:ext cx="70739" cy="21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2375" y="2381250"/>
            <a:ext cx="70739" cy="2188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 txBox="1"/>
          <p:nvPr/>
        </p:nvSpPr>
        <p:spPr>
          <a:xfrm>
            <a:off x="6373494" y="2288692"/>
            <a:ext cx="2486660" cy="1435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63500" marR="43180" rtl="0" algn="l">
              <a:lnSpc>
                <a:spcPct val="103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 a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𝑅𝑀</a:t>
            </a:r>
            <a:r>
              <a:rPr b="0" baseline="-25000" i="0" lang="en-IN" sz="2025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𝜙	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𝑥, 𝑦	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predict human reward from an annotated dataset, then optimize for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35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𝑅𝑀</a:t>
            </a:r>
            <a:r>
              <a:rPr b="0" baseline="-25000" i="0" lang="en-IN" sz="2025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𝜙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instead.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14"/>
          <p:cNvGrpSpPr/>
          <p:nvPr/>
        </p:nvGrpSpPr>
        <p:grpSpPr>
          <a:xfrm>
            <a:off x="2552700" y="3533775"/>
            <a:ext cx="1076325" cy="1143000"/>
            <a:chOff x="2552700" y="3609975"/>
            <a:chExt cx="1076325" cy="1143000"/>
          </a:xfrm>
        </p:grpSpPr>
        <p:pic>
          <p:nvPicPr>
            <p:cNvPr id="138" name="Google Shape;138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57500" y="3609975"/>
              <a:ext cx="304800" cy="361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52700" y="3867150"/>
              <a:ext cx="1076325" cy="8858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14"/>
          <p:cNvGrpSpPr/>
          <p:nvPr/>
        </p:nvGrpSpPr>
        <p:grpSpPr>
          <a:xfrm>
            <a:off x="5362575" y="3600450"/>
            <a:ext cx="1076325" cy="1133475"/>
            <a:chOff x="5362575" y="3600450"/>
            <a:chExt cx="1076325" cy="1133475"/>
          </a:xfrm>
        </p:grpSpPr>
        <p:pic>
          <p:nvPicPr>
            <p:cNvPr id="141" name="Google Shape;141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7375" y="3600450"/>
              <a:ext cx="304800" cy="361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62575" y="3857625"/>
              <a:ext cx="1076325" cy="87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4"/>
          <p:cNvSpPr txBox="1"/>
          <p:nvPr/>
        </p:nvSpPr>
        <p:spPr>
          <a:xfrm>
            <a:off x="480377" y="4539191"/>
            <a:ext cx="5594985" cy="243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sng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b="0" i="0" lang="en-IN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www.cs.utexas.edu/~pstone/Papers/bib2html-links/KCAP09-knox.pdf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How do we model human preferences?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251520" y="1237680"/>
            <a:ext cx="84627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375">
            <a:spAutoFit/>
          </a:bodyPr>
          <a:lstStyle/>
          <a:p>
            <a:pPr indent="-152400" lvl="0" marL="3810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SzPts val="2400"/>
              <a:buChar char="☞"/>
            </a:pPr>
            <a:r>
              <a:rPr lang="en-IN" sz="1800"/>
              <a:t>Problem 2: human judgments are noisy and miscalibrated!</a:t>
            </a:r>
            <a:endParaRPr sz="1800"/>
          </a:p>
          <a:p>
            <a:pPr indent="-152400" lvl="0" marL="38100" rtl="0" algn="l">
              <a:lnSpc>
                <a:spcPct val="118333"/>
              </a:lnSpc>
              <a:spcBef>
                <a:spcPts val="470"/>
              </a:spcBef>
              <a:spcAft>
                <a:spcPts val="0"/>
              </a:spcAft>
              <a:buSzPts val="2400"/>
              <a:buChar char="☞"/>
            </a:pPr>
            <a:r>
              <a:rPr lang="en-IN" sz="1800"/>
              <a:t>Solution: instead of asking for direct ratings, ask for pairwise comparisons, which can</a:t>
            </a:r>
            <a:endParaRPr sz="1800"/>
          </a:p>
          <a:p>
            <a:pPr indent="0" lvl="0" marL="457200" rtl="0" algn="l">
              <a:lnSpc>
                <a:spcPct val="118333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IN" sz="1800"/>
              <a:t>be more reliable</a:t>
            </a:r>
            <a:endParaRPr sz="1800"/>
          </a:p>
          <a:p>
            <a:pPr indent="-381000" lvl="0" marL="3332479" marR="2868295" rtl="0" algn="l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SzPts val="2400"/>
              <a:buChar char="☞"/>
            </a:pPr>
            <a:r>
              <a:rPr lang="en-IN" sz="1500">
                <a:latin typeface="Courier New"/>
                <a:ea typeface="Courier New"/>
                <a:cs typeface="Courier New"/>
                <a:sym typeface="Courier New"/>
              </a:rPr>
              <a:t>A 4.2 magnitude earthquake hit San Francisco, resulting in massive damage.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0" lvl="0" marL="591185" rtl="0" algn="ctr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2400"/>
              <a:buChar char="☞"/>
            </a:pPr>
            <a:r>
              <a:rPr lang="en-IN" sz="2400">
                <a:latin typeface="Cambria Math"/>
                <a:ea typeface="Cambria Math"/>
                <a:cs typeface="Cambria Math"/>
                <a:sym typeface="Cambria Math"/>
              </a:rPr>
              <a:t>𝑦</a:t>
            </a:r>
            <a:r>
              <a:rPr baseline="-25000" lang="en-IN" sz="27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 baseline="-25000" sz="27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7465662" y="1237680"/>
            <a:ext cx="22225" cy="22860"/>
          </a:xfrm>
          <a:custGeom>
            <a:rect b="b" l="l" r="r" t="t"/>
            <a:pathLst>
              <a:path extrusionOk="0" h="22859" w="22225">
                <a:moveTo>
                  <a:pt x="17272" y="0"/>
                </a:moveTo>
                <a:lnTo>
                  <a:pt x="4953" y="0"/>
                </a:lnTo>
                <a:lnTo>
                  <a:pt x="0" y="4952"/>
                </a:lnTo>
                <a:lnTo>
                  <a:pt x="0" y="17271"/>
                </a:lnTo>
                <a:lnTo>
                  <a:pt x="4953" y="22351"/>
                </a:lnTo>
                <a:lnTo>
                  <a:pt x="17272" y="22351"/>
                </a:lnTo>
                <a:lnTo>
                  <a:pt x="22225" y="17271"/>
                </a:lnTo>
                <a:lnTo>
                  <a:pt x="22225" y="11175"/>
                </a:lnTo>
                <a:lnTo>
                  <a:pt x="22225" y="4952"/>
                </a:lnTo>
                <a:lnTo>
                  <a:pt x="1727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8245188" y="2354900"/>
            <a:ext cx="23495" cy="34290"/>
          </a:xfrm>
          <a:custGeom>
            <a:rect b="b" l="l" r="r" t="t"/>
            <a:pathLst>
              <a:path extrusionOk="0" h="34289" w="23495">
                <a:moveTo>
                  <a:pt x="3327" y="22255"/>
                </a:moveTo>
                <a:lnTo>
                  <a:pt x="3429" y="25399"/>
                </a:lnTo>
                <a:lnTo>
                  <a:pt x="4191" y="28320"/>
                </a:lnTo>
                <a:lnTo>
                  <a:pt x="5207" y="30098"/>
                </a:lnTo>
                <a:lnTo>
                  <a:pt x="7366" y="31749"/>
                </a:lnTo>
                <a:lnTo>
                  <a:pt x="10287" y="34162"/>
                </a:lnTo>
                <a:lnTo>
                  <a:pt x="14478" y="34162"/>
                </a:lnTo>
                <a:lnTo>
                  <a:pt x="17526" y="31749"/>
                </a:lnTo>
                <a:lnTo>
                  <a:pt x="18034" y="31368"/>
                </a:lnTo>
                <a:lnTo>
                  <a:pt x="18161" y="31114"/>
                </a:lnTo>
                <a:lnTo>
                  <a:pt x="18923" y="30479"/>
                </a:lnTo>
                <a:lnTo>
                  <a:pt x="20828" y="28447"/>
                </a:lnTo>
                <a:lnTo>
                  <a:pt x="21463" y="27431"/>
                </a:lnTo>
                <a:lnTo>
                  <a:pt x="22479" y="25907"/>
                </a:lnTo>
                <a:lnTo>
                  <a:pt x="22987" y="24002"/>
                </a:lnTo>
                <a:lnTo>
                  <a:pt x="22987" y="23240"/>
                </a:lnTo>
                <a:lnTo>
                  <a:pt x="3556" y="23240"/>
                </a:lnTo>
                <a:lnTo>
                  <a:pt x="3327" y="22255"/>
                </a:lnTo>
                <a:close/>
              </a:path>
              <a:path extrusionOk="0" h="34289" w="23495">
                <a:moveTo>
                  <a:pt x="22987" y="21081"/>
                </a:moveTo>
                <a:lnTo>
                  <a:pt x="3302" y="21081"/>
                </a:lnTo>
                <a:lnTo>
                  <a:pt x="3346" y="21462"/>
                </a:lnTo>
                <a:lnTo>
                  <a:pt x="3440" y="22255"/>
                </a:lnTo>
                <a:lnTo>
                  <a:pt x="3556" y="23240"/>
                </a:lnTo>
                <a:lnTo>
                  <a:pt x="22987" y="23240"/>
                </a:lnTo>
                <a:lnTo>
                  <a:pt x="22987" y="21081"/>
                </a:lnTo>
                <a:close/>
              </a:path>
              <a:path extrusionOk="0" h="34289" w="23495">
                <a:moveTo>
                  <a:pt x="13462" y="0"/>
                </a:moveTo>
                <a:lnTo>
                  <a:pt x="3175" y="2539"/>
                </a:lnTo>
                <a:lnTo>
                  <a:pt x="0" y="7619"/>
                </a:lnTo>
                <a:lnTo>
                  <a:pt x="1143" y="12826"/>
                </a:lnTo>
                <a:lnTo>
                  <a:pt x="3327" y="22255"/>
                </a:lnTo>
                <a:lnTo>
                  <a:pt x="3302" y="21081"/>
                </a:lnTo>
                <a:lnTo>
                  <a:pt x="22987" y="21081"/>
                </a:lnTo>
                <a:lnTo>
                  <a:pt x="22606" y="18668"/>
                </a:lnTo>
                <a:lnTo>
                  <a:pt x="19939" y="8254"/>
                </a:lnTo>
                <a:lnTo>
                  <a:pt x="18669" y="3174"/>
                </a:lnTo>
                <a:lnTo>
                  <a:pt x="1346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How do we model human preferences?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251520" y="816575"/>
            <a:ext cx="84627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375">
            <a:spAutoFit/>
          </a:bodyPr>
          <a:lstStyle/>
          <a:p>
            <a:pPr indent="-152400" lvl="0" marL="3810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SzPts val="2400"/>
              <a:buChar char="☞"/>
            </a:pPr>
            <a:r>
              <a:rPr lang="en-IN" sz="1800"/>
              <a:t>Problem 2: human judgements are noisy and miscalibrated!</a:t>
            </a:r>
            <a:endParaRPr sz="1800"/>
          </a:p>
          <a:p>
            <a:pPr indent="-152400" lvl="0" marL="38100" rtl="0" algn="l">
              <a:lnSpc>
                <a:spcPct val="118333"/>
              </a:lnSpc>
              <a:spcBef>
                <a:spcPts val="470"/>
              </a:spcBef>
              <a:spcAft>
                <a:spcPts val="0"/>
              </a:spcAft>
              <a:buSzPts val="2400"/>
              <a:buChar char="☞"/>
            </a:pPr>
            <a:r>
              <a:rPr lang="en-IN" sz="1800"/>
              <a:t>Solution: instead of asking for direct ratings, ask for pairwise comparisons, which can be more reliable</a:t>
            </a:r>
            <a:endParaRPr baseline="-25000" sz="27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7465662" y="1237680"/>
            <a:ext cx="22225" cy="22860"/>
          </a:xfrm>
          <a:custGeom>
            <a:rect b="b" l="l" r="r" t="t"/>
            <a:pathLst>
              <a:path extrusionOk="0" h="22859" w="22225">
                <a:moveTo>
                  <a:pt x="17272" y="0"/>
                </a:moveTo>
                <a:lnTo>
                  <a:pt x="4953" y="0"/>
                </a:lnTo>
                <a:lnTo>
                  <a:pt x="0" y="4952"/>
                </a:lnTo>
                <a:lnTo>
                  <a:pt x="0" y="17271"/>
                </a:lnTo>
                <a:lnTo>
                  <a:pt x="4953" y="22351"/>
                </a:lnTo>
                <a:lnTo>
                  <a:pt x="17272" y="22351"/>
                </a:lnTo>
                <a:lnTo>
                  <a:pt x="22225" y="17271"/>
                </a:lnTo>
                <a:lnTo>
                  <a:pt x="22225" y="11175"/>
                </a:lnTo>
                <a:lnTo>
                  <a:pt x="22225" y="4952"/>
                </a:lnTo>
                <a:lnTo>
                  <a:pt x="1727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8245188" y="2354900"/>
            <a:ext cx="23495" cy="34290"/>
          </a:xfrm>
          <a:custGeom>
            <a:rect b="b" l="l" r="r" t="t"/>
            <a:pathLst>
              <a:path extrusionOk="0" h="34289" w="23495">
                <a:moveTo>
                  <a:pt x="3327" y="22255"/>
                </a:moveTo>
                <a:lnTo>
                  <a:pt x="3429" y="25399"/>
                </a:lnTo>
                <a:lnTo>
                  <a:pt x="4191" y="28320"/>
                </a:lnTo>
                <a:lnTo>
                  <a:pt x="5207" y="30098"/>
                </a:lnTo>
                <a:lnTo>
                  <a:pt x="7366" y="31749"/>
                </a:lnTo>
                <a:lnTo>
                  <a:pt x="10287" y="34162"/>
                </a:lnTo>
                <a:lnTo>
                  <a:pt x="14478" y="34162"/>
                </a:lnTo>
                <a:lnTo>
                  <a:pt x="17526" y="31749"/>
                </a:lnTo>
                <a:lnTo>
                  <a:pt x="18034" y="31368"/>
                </a:lnTo>
                <a:lnTo>
                  <a:pt x="18161" y="31114"/>
                </a:lnTo>
                <a:lnTo>
                  <a:pt x="18923" y="30479"/>
                </a:lnTo>
                <a:lnTo>
                  <a:pt x="20828" y="28447"/>
                </a:lnTo>
                <a:lnTo>
                  <a:pt x="21463" y="27431"/>
                </a:lnTo>
                <a:lnTo>
                  <a:pt x="22479" y="25907"/>
                </a:lnTo>
                <a:lnTo>
                  <a:pt x="22987" y="24002"/>
                </a:lnTo>
                <a:lnTo>
                  <a:pt x="22987" y="23240"/>
                </a:lnTo>
                <a:lnTo>
                  <a:pt x="3556" y="23240"/>
                </a:lnTo>
                <a:lnTo>
                  <a:pt x="3327" y="22255"/>
                </a:lnTo>
                <a:close/>
              </a:path>
              <a:path extrusionOk="0" h="34289" w="23495">
                <a:moveTo>
                  <a:pt x="22987" y="21081"/>
                </a:moveTo>
                <a:lnTo>
                  <a:pt x="3302" y="21081"/>
                </a:lnTo>
                <a:lnTo>
                  <a:pt x="3346" y="21462"/>
                </a:lnTo>
                <a:lnTo>
                  <a:pt x="3440" y="22255"/>
                </a:lnTo>
                <a:lnTo>
                  <a:pt x="3556" y="23240"/>
                </a:lnTo>
                <a:lnTo>
                  <a:pt x="22987" y="23240"/>
                </a:lnTo>
                <a:lnTo>
                  <a:pt x="22987" y="21081"/>
                </a:lnTo>
                <a:close/>
              </a:path>
              <a:path extrusionOk="0" h="34289" w="23495">
                <a:moveTo>
                  <a:pt x="13462" y="0"/>
                </a:moveTo>
                <a:lnTo>
                  <a:pt x="3175" y="2539"/>
                </a:lnTo>
                <a:lnTo>
                  <a:pt x="0" y="7619"/>
                </a:lnTo>
                <a:lnTo>
                  <a:pt x="1143" y="12826"/>
                </a:lnTo>
                <a:lnTo>
                  <a:pt x="3327" y="22255"/>
                </a:lnTo>
                <a:lnTo>
                  <a:pt x="3302" y="21081"/>
                </a:lnTo>
                <a:lnTo>
                  <a:pt x="22987" y="21081"/>
                </a:lnTo>
                <a:lnTo>
                  <a:pt x="22606" y="18668"/>
                </a:lnTo>
                <a:lnTo>
                  <a:pt x="19939" y="8254"/>
                </a:lnTo>
                <a:lnTo>
                  <a:pt x="18669" y="3174"/>
                </a:lnTo>
                <a:lnTo>
                  <a:pt x="1346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1966128" y="2140250"/>
            <a:ext cx="5046000" cy="15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972185" marR="3295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 4.2 magnitude earthquake hit San Francisco, resulting in massive damage.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72185" marR="3295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                     𝑦</a:t>
            </a:r>
            <a:r>
              <a:rPr b="0" baseline="-25000" i="0" lang="en-IN" sz="27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 b="0" baseline="-25000" i="0" sz="27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88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𝑅	𝑥, 𝑦</a:t>
            </a:r>
            <a:r>
              <a:rPr b="0" baseline="-25000" i="0" lang="en-IN" sz="27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3	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=	4.1?	6.6?</a:t>
            </a:r>
            <a:endParaRPr b="0" i="0" sz="2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5492115" y="3273425"/>
            <a:ext cx="545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3.2?</a:t>
            </a:r>
            <a:endParaRPr b="0" i="0" sz="2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2063750" y="4402137"/>
            <a:ext cx="6284595" cy="5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sng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https://escholarship.org/content/qt2nn523jz/qt2nn523jz.pdf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sng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https://journals.plos.org/plosone/article?id=10.1371/journal.pone.0190393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2286000" y="3438524"/>
            <a:ext cx="790575" cy="285750"/>
          </a:xfrm>
          <a:custGeom>
            <a:rect b="b" l="l" r="r" t="t"/>
            <a:pathLst>
              <a:path extrusionOk="0" h="285750" w="790575">
                <a:moveTo>
                  <a:pt x="94742" y="11684"/>
                </a:moveTo>
                <a:lnTo>
                  <a:pt x="51943" y="18415"/>
                </a:lnTo>
                <a:lnTo>
                  <a:pt x="23495" y="50165"/>
                </a:lnTo>
                <a:lnTo>
                  <a:pt x="5842" y="92583"/>
                </a:lnTo>
                <a:lnTo>
                  <a:pt x="0" y="142875"/>
                </a:lnTo>
                <a:lnTo>
                  <a:pt x="1397" y="169125"/>
                </a:lnTo>
                <a:lnTo>
                  <a:pt x="13081" y="215531"/>
                </a:lnTo>
                <a:lnTo>
                  <a:pt x="36322" y="253187"/>
                </a:lnTo>
                <a:lnTo>
                  <a:pt x="69977" y="278104"/>
                </a:lnTo>
                <a:lnTo>
                  <a:pt x="90551" y="285559"/>
                </a:lnTo>
                <a:lnTo>
                  <a:pt x="94234" y="274015"/>
                </a:lnTo>
                <a:lnTo>
                  <a:pt x="77978" y="266776"/>
                </a:lnTo>
                <a:lnTo>
                  <a:pt x="64008" y="256743"/>
                </a:lnTo>
                <a:lnTo>
                  <a:pt x="42799" y="228219"/>
                </a:lnTo>
                <a:lnTo>
                  <a:pt x="30099" y="189395"/>
                </a:lnTo>
                <a:lnTo>
                  <a:pt x="25908" y="141338"/>
                </a:lnTo>
                <a:lnTo>
                  <a:pt x="27051" y="116967"/>
                </a:lnTo>
                <a:lnTo>
                  <a:pt x="35433" y="74803"/>
                </a:lnTo>
                <a:lnTo>
                  <a:pt x="52324" y="41402"/>
                </a:lnTo>
                <a:lnTo>
                  <a:pt x="78359" y="18796"/>
                </a:lnTo>
                <a:lnTo>
                  <a:pt x="94742" y="11684"/>
                </a:lnTo>
                <a:close/>
              </a:path>
              <a:path extrusionOk="0" h="285750" w="790575">
                <a:moveTo>
                  <a:pt x="790448" y="142875"/>
                </a:moveTo>
                <a:lnTo>
                  <a:pt x="777367" y="70358"/>
                </a:lnTo>
                <a:lnTo>
                  <a:pt x="754126" y="32512"/>
                </a:lnTo>
                <a:lnTo>
                  <a:pt x="720471" y="7493"/>
                </a:lnTo>
                <a:lnTo>
                  <a:pt x="699897" y="0"/>
                </a:lnTo>
                <a:lnTo>
                  <a:pt x="695833" y="11684"/>
                </a:lnTo>
                <a:lnTo>
                  <a:pt x="712343" y="18796"/>
                </a:lnTo>
                <a:lnTo>
                  <a:pt x="726440" y="28702"/>
                </a:lnTo>
                <a:lnTo>
                  <a:pt x="747903" y="56896"/>
                </a:lnTo>
                <a:lnTo>
                  <a:pt x="760349" y="94742"/>
                </a:lnTo>
                <a:lnTo>
                  <a:pt x="764667" y="141338"/>
                </a:lnTo>
                <a:lnTo>
                  <a:pt x="763524" y="166522"/>
                </a:lnTo>
                <a:lnTo>
                  <a:pt x="755142" y="209956"/>
                </a:lnTo>
                <a:lnTo>
                  <a:pt x="738251" y="243890"/>
                </a:lnTo>
                <a:lnTo>
                  <a:pt x="712470" y="266776"/>
                </a:lnTo>
                <a:lnTo>
                  <a:pt x="696214" y="274015"/>
                </a:lnTo>
                <a:lnTo>
                  <a:pt x="699897" y="285559"/>
                </a:lnTo>
                <a:lnTo>
                  <a:pt x="738632" y="267309"/>
                </a:lnTo>
                <a:lnTo>
                  <a:pt x="767080" y="235724"/>
                </a:lnTo>
                <a:lnTo>
                  <a:pt x="784606" y="193332"/>
                </a:lnTo>
                <a:lnTo>
                  <a:pt x="790448" y="14287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How do we model human preferences?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251527" y="1820925"/>
            <a:ext cx="24987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An earthquake hit San Francisco.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8100" marR="139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There was minor property damage, but no injuries.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6839" rtl="0" algn="ct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𝑦</a:t>
            </a:r>
            <a:r>
              <a:rPr b="0" baseline="-25000" i="0" lang="en-IN" sz="27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 b="0" baseline="-25000" i="0" sz="27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6110601" y="1791714"/>
            <a:ext cx="2242800" cy="16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The Bay Area has good weather but is prone to earthquakes and wildfires.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329565" rtl="0" algn="ctr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𝑦</a:t>
            </a:r>
            <a:r>
              <a:rPr b="0" baseline="-25000" i="0" lang="en-IN" sz="27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="0" baseline="-25000" i="0" sz="27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3320149" y="1738125"/>
            <a:ext cx="20643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 4.2 magnitude earthquake hit San Francisco, resulting in massive damage.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4220333" y="2997262"/>
            <a:ext cx="370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𝑦</a:t>
            </a:r>
            <a:r>
              <a:rPr b="0" baseline="-25000" i="0" lang="en-IN" sz="27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 b="0" baseline="-25000" i="0" sz="27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2851527" y="2222498"/>
            <a:ext cx="25400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&gt;</a:t>
            </a:r>
            <a:endParaRPr b="0" i="0" sz="2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5634098" y="2222498"/>
            <a:ext cx="25400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&gt;</a:t>
            </a:r>
            <a:endParaRPr b="0" i="0" sz="2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178" name="Google Shape;178;p17"/>
          <p:cNvGrpSpPr/>
          <p:nvPr/>
        </p:nvGrpSpPr>
        <p:grpSpPr>
          <a:xfrm>
            <a:off x="557273" y="3491292"/>
            <a:ext cx="2967037" cy="1038224"/>
            <a:chOff x="781050" y="3743325"/>
            <a:chExt cx="2967037" cy="1038224"/>
          </a:xfrm>
        </p:grpSpPr>
        <p:sp>
          <p:nvSpPr>
            <p:cNvPr id="179" name="Google Shape;179;p17"/>
            <p:cNvSpPr/>
            <p:nvPr/>
          </p:nvSpPr>
          <p:spPr>
            <a:xfrm>
              <a:off x="895350" y="3895724"/>
              <a:ext cx="2743200" cy="371475"/>
            </a:xfrm>
            <a:custGeom>
              <a:rect b="b" l="l" r="r" t="t"/>
              <a:pathLst>
                <a:path extrusionOk="0" h="371475" w="2743200">
                  <a:moveTo>
                    <a:pt x="113093" y="1143"/>
                  </a:moveTo>
                  <a:lnTo>
                    <a:pt x="0" y="1143"/>
                  </a:lnTo>
                  <a:lnTo>
                    <a:pt x="0" y="366750"/>
                  </a:lnTo>
                  <a:lnTo>
                    <a:pt x="113093" y="366750"/>
                  </a:lnTo>
                  <a:lnTo>
                    <a:pt x="113093" y="1143"/>
                  </a:lnTo>
                  <a:close/>
                </a:path>
                <a:path extrusionOk="0" h="371475" w="2743200">
                  <a:moveTo>
                    <a:pt x="684339" y="0"/>
                  </a:moveTo>
                  <a:lnTo>
                    <a:pt x="571246" y="0"/>
                  </a:lnTo>
                  <a:lnTo>
                    <a:pt x="571246" y="365607"/>
                  </a:lnTo>
                  <a:lnTo>
                    <a:pt x="684339" y="365607"/>
                  </a:lnTo>
                  <a:lnTo>
                    <a:pt x="684339" y="0"/>
                  </a:lnTo>
                  <a:close/>
                </a:path>
                <a:path extrusionOk="0" h="371475" w="2743200">
                  <a:moveTo>
                    <a:pt x="1198435" y="6921"/>
                  </a:moveTo>
                  <a:lnTo>
                    <a:pt x="1085342" y="6921"/>
                  </a:lnTo>
                  <a:lnTo>
                    <a:pt x="1085342" y="371373"/>
                  </a:lnTo>
                  <a:lnTo>
                    <a:pt x="1198435" y="371373"/>
                  </a:lnTo>
                  <a:lnTo>
                    <a:pt x="1198435" y="6921"/>
                  </a:lnTo>
                  <a:close/>
                </a:path>
                <a:path extrusionOk="0" h="371475" w="2743200">
                  <a:moveTo>
                    <a:pt x="1713547" y="6921"/>
                  </a:moveTo>
                  <a:lnTo>
                    <a:pt x="1600454" y="6921"/>
                  </a:lnTo>
                  <a:lnTo>
                    <a:pt x="1600454" y="371373"/>
                  </a:lnTo>
                  <a:lnTo>
                    <a:pt x="1713547" y="371373"/>
                  </a:lnTo>
                  <a:lnTo>
                    <a:pt x="1713547" y="6921"/>
                  </a:lnTo>
                  <a:close/>
                </a:path>
                <a:path extrusionOk="0" h="371475" w="2743200">
                  <a:moveTo>
                    <a:pt x="2227643" y="6921"/>
                  </a:moveTo>
                  <a:lnTo>
                    <a:pt x="2114550" y="6921"/>
                  </a:lnTo>
                  <a:lnTo>
                    <a:pt x="2114550" y="371373"/>
                  </a:lnTo>
                  <a:lnTo>
                    <a:pt x="2227643" y="371373"/>
                  </a:lnTo>
                  <a:lnTo>
                    <a:pt x="2227643" y="6921"/>
                  </a:lnTo>
                  <a:close/>
                </a:path>
                <a:path extrusionOk="0" h="371475" w="2743200">
                  <a:moveTo>
                    <a:pt x="2742869" y="6921"/>
                  </a:moveTo>
                  <a:lnTo>
                    <a:pt x="2629789" y="6921"/>
                  </a:lnTo>
                  <a:lnTo>
                    <a:pt x="2629789" y="371373"/>
                  </a:lnTo>
                  <a:lnTo>
                    <a:pt x="2742869" y="371373"/>
                  </a:lnTo>
                  <a:lnTo>
                    <a:pt x="2742869" y="6921"/>
                  </a:lnTo>
                  <a:close/>
                </a:path>
              </a:pathLst>
            </a:custGeom>
            <a:solidFill>
              <a:srgbClr val="E2474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1009650" y="4048124"/>
              <a:ext cx="2514600" cy="66675"/>
            </a:xfrm>
            <a:custGeom>
              <a:rect b="b" l="l" r="r" t="t"/>
              <a:pathLst>
                <a:path extrusionOk="0" h="66675" w="2514600">
                  <a:moveTo>
                    <a:pt x="457835" y="30200"/>
                  </a:moveTo>
                  <a:lnTo>
                    <a:pt x="400685" y="0"/>
                  </a:lnTo>
                  <a:lnTo>
                    <a:pt x="400685" y="25285"/>
                  </a:lnTo>
                  <a:lnTo>
                    <a:pt x="57061" y="26149"/>
                  </a:lnTo>
                  <a:lnTo>
                    <a:pt x="56984" y="914"/>
                  </a:lnTo>
                  <a:lnTo>
                    <a:pt x="0" y="31318"/>
                  </a:lnTo>
                  <a:lnTo>
                    <a:pt x="57175" y="61518"/>
                  </a:lnTo>
                  <a:lnTo>
                    <a:pt x="57086" y="36271"/>
                  </a:lnTo>
                  <a:lnTo>
                    <a:pt x="400685" y="35382"/>
                  </a:lnTo>
                  <a:lnTo>
                    <a:pt x="400812" y="60617"/>
                  </a:lnTo>
                  <a:lnTo>
                    <a:pt x="457835" y="30200"/>
                  </a:lnTo>
                  <a:close/>
                </a:path>
                <a:path extrusionOk="0" h="66675" w="2514600">
                  <a:moveTo>
                    <a:pt x="963676" y="41021"/>
                  </a:moveTo>
                  <a:lnTo>
                    <a:pt x="914908" y="41021"/>
                  </a:lnTo>
                  <a:lnTo>
                    <a:pt x="914527" y="66065"/>
                  </a:lnTo>
                  <a:lnTo>
                    <a:pt x="963676" y="41021"/>
                  </a:lnTo>
                  <a:close/>
                </a:path>
                <a:path extrusionOk="0" h="66675" w="2514600">
                  <a:moveTo>
                    <a:pt x="972058" y="36766"/>
                  </a:moveTo>
                  <a:lnTo>
                    <a:pt x="915416" y="5461"/>
                  </a:lnTo>
                  <a:lnTo>
                    <a:pt x="915035" y="30759"/>
                  </a:lnTo>
                  <a:lnTo>
                    <a:pt x="627888" y="26123"/>
                  </a:lnTo>
                  <a:lnTo>
                    <a:pt x="628269" y="812"/>
                  </a:lnTo>
                  <a:lnTo>
                    <a:pt x="570738" y="30200"/>
                  </a:lnTo>
                  <a:lnTo>
                    <a:pt x="627380" y="61417"/>
                  </a:lnTo>
                  <a:lnTo>
                    <a:pt x="627761" y="36220"/>
                  </a:lnTo>
                  <a:lnTo>
                    <a:pt x="914908" y="40868"/>
                  </a:lnTo>
                  <a:lnTo>
                    <a:pt x="964057" y="40868"/>
                  </a:lnTo>
                  <a:lnTo>
                    <a:pt x="972058" y="36766"/>
                  </a:lnTo>
                  <a:close/>
                </a:path>
                <a:path extrusionOk="0" h="66675" w="2514600">
                  <a:moveTo>
                    <a:pt x="1485773" y="36271"/>
                  </a:moveTo>
                  <a:lnTo>
                    <a:pt x="1428623" y="5956"/>
                  </a:lnTo>
                  <a:lnTo>
                    <a:pt x="1428623" y="31216"/>
                  </a:lnTo>
                  <a:lnTo>
                    <a:pt x="1141476" y="31216"/>
                  </a:lnTo>
                  <a:lnTo>
                    <a:pt x="1141476" y="5956"/>
                  </a:lnTo>
                  <a:lnTo>
                    <a:pt x="1084453" y="36271"/>
                  </a:lnTo>
                  <a:lnTo>
                    <a:pt x="1141476" y="66573"/>
                  </a:lnTo>
                  <a:lnTo>
                    <a:pt x="1141476" y="41313"/>
                  </a:lnTo>
                  <a:lnTo>
                    <a:pt x="1428623" y="41313"/>
                  </a:lnTo>
                  <a:lnTo>
                    <a:pt x="1428623" y="66573"/>
                  </a:lnTo>
                  <a:lnTo>
                    <a:pt x="1485773" y="36271"/>
                  </a:lnTo>
                  <a:close/>
                </a:path>
                <a:path extrusionOk="0" h="66675" w="2514600">
                  <a:moveTo>
                    <a:pt x="2000504" y="36271"/>
                  </a:moveTo>
                  <a:lnTo>
                    <a:pt x="1943481" y="5956"/>
                  </a:lnTo>
                  <a:lnTo>
                    <a:pt x="1943481" y="31216"/>
                  </a:lnTo>
                  <a:lnTo>
                    <a:pt x="1656334" y="31216"/>
                  </a:lnTo>
                  <a:lnTo>
                    <a:pt x="1656334" y="5956"/>
                  </a:lnTo>
                  <a:lnTo>
                    <a:pt x="1599184" y="36271"/>
                  </a:lnTo>
                  <a:lnTo>
                    <a:pt x="1656334" y="66573"/>
                  </a:lnTo>
                  <a:lnTo>
                    <a:pt x="1656334" y="41313"/>
                  </a:lnTo>
                  <a:lnTo>
                    <a:pt x="1943481" y="41313"/>
                  </a:lnTo>
                  <a:lnTo>
                    <a:pt x="1943481" y="66573"/>
                  </a:lnTo>
                  <a:lnTo>
                    <a:pt x="2000504" y="36271"/>
                  </a:lnTo>
                  <a:close/>
                </a:path>
                <a:path extrusionOk="0" h="66675" w="2514600">
                  <a:moveTo>
                    <a:pt x="2514219" y="36271"/>
                  </a:moveTo>
                  <a:lnTo>
                    <a:pt x="2457196" y="5956"/>
                  </a:lnTo>
                  <a:lnTo>
                    <a:pt x="2457196" y="31216"/>
                  </a:lnTo>
                  <a:lnTo>
                    <a:pt x="2169922" y="31216"/>
                  </a:lnTo>
                  <a:lnTo>
                    <a:pt x="2169922" y="5956"/>
                  </a:lnTo>
                  <a:lnTo>
                    <a:pt x="2112899" y="36271"/>
                  </a:lnTo>
                  <a:lnTo>
                    <a:pt x="2169922" y="66573"/>
                  </a:lnTo>
                  <a:lnTo>
                    <a:pt x="2169922" y="41313"/>
                  </a:lnTo>
                  <a:lnTo>
                    <a:pt x="2457196" y="41313"/>
                  </a:lnTo>
                  <a:lnTo>
                    <a:pt x="2457196" y="66573"/>
                  </a:lnTo>
                  <a:lnTo>
                    <a:pt x="2514219" y="362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1" name="Google Shape;18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95425" y="3743325"/>
              <a:ext cx="57150" cy="14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3925" y="3743325"/>
              <a:ext cx="57150" cy="14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09775" y="3752850"/>
              <a:ext cx="57150" cy="14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24125" y="3752850"/>
              <a:ext cx="57150" cy="14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38475" y="3752850"/>
              <a:ext cx="57150" cy="14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52825" y="3752850"/>
              <a:ext cx="57150" cy="142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17"/>
            <p:cNvSpPr/>
            <p:nvPr/>
          </p:nvSpPr>
          <p:spPr>
            <a:xfrm>
              <a:off x="895350" y="4410074"/>
              <a:ext cx="2743200" cy="371475"/>
            </a:xfrm>
            <a:custGeom>
              <a:rect b="b" l="l" r="r" t="t"/>
              <a:pathLst>
                <a:path extrusionOk="0" h="371475" w="2743200">
                  <a:moveTo>
                    <a:pt x="113093" y="1155"/>
                  </a:moveTo>
                  <a:lnTo>
                    <a:pt x="0" y="1155"/>
                  </a:lnTo>
                  <a:lnTo>
                    <a:pt x="0" y="366763"/>
                  </a:lnTo>
                  <a:lnTo>
                    <a:pt x="113093" y="366763"/>
                  </a:lnTo>
                  <a:lnTo>
                    <a:pt x="113093" y="1155"/>
                  </a:lnTo>
                  <a:close/>
                </a:path>
                <a:path extrusionOk="0" h="371475" w="2743200">
                  <a:moveTo>
                    <a:pt x="684339" y="0"/>
                  </a:moveTo>
                  <a:lnTo>
                    <a:pt x="571246" y="0"/>
                  </a:lnTo>
                  <a:lnTo>
                    <a:pt x="571246" y="365607"/>
                  </a:lnTo>
                  <a:lnTo>
                    <a:pt x="684339" y="365607"/>
                  </a:lnTo>
                  <a:lnTo>
                    <a:pt x="684339" y="0"/>
                  </a:lnTo>
                  <a:close/>
                </a:path>
                <a:path extrusionOk="0" h="371475" w="2743200">
                  <a:moveTo>
                    <a:pt x="1198435" y="6908"/>
                  </a:moveTo>
                  <a:lnTo>
                    <a:pt x="1085342" y="6908"/>
                  </a:lnTo>
                  <a:lnTo>
                    <a:pt x="1085342" y="371373"/>
                  </a:lnTo>
                  <a:lnTo>
                    <a:pt x="1198435" y="371373"/>
                  </a:lnTo>
                  <a:lnTo>
                    <a:pt x="1198435" y="6908"/>
                  </a:lnTo>
                  <a:close/>
                </a:path>
                <a:path extrusionOk="0" h="371475" w="2743200">
                  <a:moveTo>
                    <a:pt x="1713547" y="6908"/>
                  </a:moveTo>
                  <a:lnTo>
                    <a:pt x="1600454" y="6908"/>
                  </a:lnTo>
                  <a:lnTo>
                    <a:pt x="1600454" y="371373"/>
                  </a:lnTo>
                  <a:lnTo>
                    <a:pt x="1713547" y="371373"/>
                  </a:lnTo>
                  <a:lnTo>
                    <a:pt x="1713547" y="6908"/>
                  </a:lnTo>
                  <a:close/>
                </a:path>
                <a:path extrusionOk="0" h="371475" w="2743200">
                  <a:moveTo>
                    <a:pt x="2227643" y="6908"/>
                  </a:moveTo>
                  <a:lnTo>
                    <a:pt x="2114550" y="6908"/>
                  </a:lnTo>
                  <a:lnTo>
                    <a:pt x="2114550" y="371373"/>
                  </a:lnTo>
                  <a:lnTo>
                    <a:pt x="2227643" y="371373"/>
                  </a:lnTo>
                  <a:lnTo>
                    <a:pt x="2227643" y="6908"/>
                  </a:lnTo>
                  <a:close/>
                </a:path>
                <a:path extrusionOk="0" h="371475" w="2743200">
                  <a:moveTo>
                    <a:pt x="2742869" y="6908"/>
                  </a:moveTo>
                  <a:lnTo>
                    <a:pt x="2629789" y="6908"/>
                  </a:lnTo>
                  <a:lnTo>
                    <a:pt x="2629789" y="371373"/>
                  </a:lnTo>
                  <a:lnTo>
                    <a:pt x="2742869" y="371373"/>
                  </a:lnTo>
                  <a:lnTo>
                    <a:pt x="2742869" y="6908"/>
                  </a:lnTo>
                  <a:close/>
                </a:path>
              </a:pathLst>
            </a:custGeom>
            <a:solidFill>
              <a:srgbClr val="E2474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781050" y="3848100"/>
              <a:ext cx="2962275" cy="495300"/>
            </a:xfrm>
            <a:custGeom>
              <a:rect b="b" l="l" r="r" t="t"/>
              <a:pathLst>
                <a:path extrusionOk="0" h="495300" w="2962274">
                  <a:moveTo>
                    <a:pt x="2879344" y="0"/>
                  </a:moveTo>
                  <a:lnTo>
                    <a:pt x="82880" y="0"/>
                  </a:lnTo>
                  <a:lnTo>
                    <a:pt x="50622" y="6477"/>
                  </a:lnTo>
                  <a:lnTo>
                    <a:pt x="24269" y="24130"/>
                  </a:lnTo>
                  <a:lnTo>
                    <a:pt x="6515" y="50368"/>
                  </a:lnTo>
                  <a:lnTo>
                    <a:pt x="0" y="82499"/>
                  </a:lnTo>
                  <a:lnTo>
                    <a:pt x="0" y="412508"/>
                  </a:lnTo>
                  <a:lnTo>
                    <a:pt x="6515" y="444627"/>
                  </a:lnTo>
                  <a:lnTo>
                    <a:pt x="24269" y="470852"/>
                  </a:lnTo>
                  <a:lnTo>
                    <a:pt x="50622" y="488530"/>
                  </a:lnTo>
                  <a:lnTo>
                    <a:pt x="82880" y="495020"/>
                  </a:lnTo>
                  <a:lnTo>
                    <a:pt x="2879344" y="495020"/>
                  </a:lnTo>
                  <a:lnTo>
                    <a:pt x="2911602" y="488530"/>
                  </a:lnTo>
                  <a:lnTo>
                    <a:pt x="2937891" y="470852"/>
                  </a:lnTo>
                  <a:lnTo>
                    <a:pt x="2955671" y="444627"/>
                  </a:lnTo>
                  <a:lnTo>
                    <a:pt x="2962148" y="412508"/>
                  </a:lnTo>
                  <a:lnTo>
                    <a:pt x="2962148" y="82499"/>
                  </a:lnTo>
                  <a:lnTo>
                    <a:pt x="2955671" y="50368"/>
                  </a:lnTo>
                  <a:lnTo>
                    <a:pt x="2937891" y="24130"/>
                  </a:lnTo>
                  <a:lnTo>
                    <a:pt x="2911602" y="6477"/>
                  </a:lnTo>
                  <a:lnTo>
                    <a:pt x="2879344" y="0"/>
                  </a:lnTo>
                  <a:close/>
                </a:path>
              </a:pathLst>
            </a:custGeom>
            <a:solidFill>
              <a:srgbClr val="EB85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785812" y="3852926"/>
              <a:ext cx="2962275" cy="495300"/>
            </a:xfrm>
            <a:custGeom>
              <a:rect b="b" l="l" r="r" t="t"/>
              <a:pathLst>
                <a:path extrusionOk="0" h="495300" w="2962275">
                  <a:moveTo>
                    <a:pt x="0" y="82435"/>
                  </a:moveTo>
                  <a:lnTo>
                    <a:pt x="6515" y="50304"/>
                  </a:lnTo>
                  <a:lnTo>
                    <a:pt x="24269" y="24091"/>
                  </a:lnTo>
                  <a:lnTo>
                    <a:pt x="50622" y="6476"/>
                  </a:lnTo>
                  <a:lnTo>
                    <a:pt x="82880" y="0"/>
                  </a:lnTo>
                  <a:lnTo>
                    <a:pt x="2879280" y="0"/>
                  </a:lnTo>
                  <a:lnTo>
                    <a:pt x="2911538" y="6476"/>
                  </a:lnTo>
                  <a:lnTo>
                    <a:pt x="2937954" y="24091"/>
                  </a:lnTo>
                  <a:lnTo>
                    <a:pt x="2955734" y="50304"/>
                  </a:lnTo>
                  <a:lnTo>
                    <a:pt x="2962211" y="82435"/>
                  </a:lnTo>
                  <a:lnTo>
                    <a:pt x="2962211" y="412445"/>
                  </a:lnTo>
                  <a:lnTo>
                    <a:pt x="2955734" y="444563"/>
                  </a:lnTo>
                  <a:lnTo>
                    <a:pt x="2937954" y="470789"/>
                  </a:lnTo>
                  <a:lnTo>
                    <a:pt x="2911538" y="488467"/>
                  </a:lnTo>
                  <a:lnTo>
                    <a:pt x="2879280" y="494957"/>
                  </a:lnTo>
                  <a:lnTo>
                    <a:pt x="82880" y="494957"/>
                  </a:lnTo>
                  <a:lnTo>
                    <a:pt x="50622" y="488467"/>
                  </a:lnTo>
                  <a:lnTo>
                    <a:pt x="24269" y="470789"/>
                  </a:lnTo>
                  <a:lnTo>
                    <a:pt x="6515" y="444563"/>
                  </a:lnTo>
                  <a:lnTo>
                    <a:pt x="0" y="412445"/>
                  </a:lnTo>
                  <a:lnTo>
                    <a:pt x="0" y="82435"/>
                  </a:lnTo>
                  <a:close/>
                </a:path>
              </a:pathLst>
            </a:custGeom>
            <a:noFill/>
            <a:ln cap="flat" cmpd="sng" w="9525">
              <a:solidFill>
                <a:srgbClr val="EB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17"/>
          <p:cNvSpPr txBox="1"/>
          <p:nvPr/>
        </p:nvSpPr>
        <p:spPr>
          <a:xfrm>
            <a:off x="993517" y="3667187"/>
            <a:ext cx="206438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Reward Model (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𝑅𝑀</a:t>
            </a:r>
            <a:r>
              <a:rPr b="0" baseline="-25000" i="0" lang="en-IN" sz="2025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𝜙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586800" y="4588254"/>
            <a:ext cx="1404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baseline="3000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	Bay         Area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2250564" y="4600954"/>
            <a:ext cx="15113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2763008" y="4606987"/>
            <a:ext cx="880744" cy="243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...  wildfires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" name="Google Shape;194;p17"/>
          <p:cNvGrpSpPr/>
          <p:nvPr/>
        </p:nvGrpSpPr>
        <p:grpSpPr>
          <a:xfrm>
            <a:off x="700148" y="4015167"/>
            <a:ext cx="2686050" cy="152400"/>
            <a:chOff x="923925" y="4267200"/>
            <a:chExt cx="2686050" cy="152400"/>
          </a:xfrm>
        </p:grpSpPr>
        <p:pic>
          <p:nvPicPr>
            <p:cNvPr id="195" name="Google Shape;195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3925" y="4267200"/>
              <a:ext cx="57150" cy="14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95425" y="4267200"/>
              <a:ext cx="57150" cy="14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09775" y="4276725"/>
              <a:ext cx="57150" cy="14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24125" y="4276725"/>
              <a:ext cx="57150" cy="14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38475" y="4276725"/>
              <a:ext cx="57150" cy="14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52825" y="4276725"/>
              <a:ext cx="57150" cy="142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17"/>
          <p:cNvSpPr txBox="1"/>
          <p:nvPr/>
        </p:nvSpPr>
        <p:spPr>
          <a:xfrm>
            <a:off x="3175632" y="3129976"/>
            <a:ext cx="373380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1.2</a:t>
            </a:r>
            <a:endParaRPr b="0" i="0" sz="21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3752593" y="3916424"/>
            <a:ext cx="25019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𝑅𝑀</a:t>
            </a:r>
            <a:endParaRPr b="0" i="0" sz="12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203" name="Google Shape;20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45226" y="3872292"/>
            <a:ext cx="64897" cy="199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24373" y="3872292"/>
            <a:ext cx="64770" cy="19991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7"/>
          <p:cNvSpPr txBox="1"/>
          <p:nvPr/>
        </p:nvSpPr>
        <p:spPr>
          <a:xfrm>
            <a:off x="4860032" y="3940237"/>
            <a:ext cx="10026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(𝑥, </a:t>
            </a:r>
            <a:r>
              <a:rPr b="0" i="0" lang="en-IN" sz="120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𝑦 </a:t>
            </a:r>
            <a:r>
              <a:rPr b="0" baseline="30000" i="0" lang="en-IN" sz="1425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𝑤 </a:t>
            </a:r>
            <a:r>
              <a:rPr b="0" i="0" lang="en-IN" sz="12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b="0" i="0" lang="en-IN" sz="12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𝑦</a:t>
            </a:r>
            <a:r>
              <a:rPr b="0" baseline="30000" i="0" lang="en-IN" sz="1425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𝑙</a:t>
            </a:r>
            <a:r>
              <a:rPr b="0" i="0" lang="en-IN" sz="12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)~𝐷</a:t>
            </a:r>
            <a:endParaRPr b="0" i="0" sz="12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9082148" y="3843717"/>
            <a:ext cx="47625" cy="257810"/>
          </a:xfrm>
          <a:custGeom>
            <a:rect b="b" l="l" r="r" t="t"/>
            <a:pathLst>
              <a:path extrusionOk="0" h="257810" w="47625">
                <a:moveTo>
                  <a:pt x="47498" y="0"/>
                </a:moveTo>
                <a:lnTo>
                  <a:pt x="0" y="0"/>
                </a:lnTo>
                <a:lnTo>
                  <a:pt x="0" y="8890"/>
                </a:lnTo>
                <a:lnTo>
                  <a:pt x="28067" y="8890"/>
                </a:lnTo>
                <a:lnTo>
                  <a:pt x="28067" y="248920"/>
                </a:lnTo>
                <a:lnTo>
                  <a:pt x="0" y="248920"/>
                </a:lnTo>
                <a:lnTo>
                  <a:pt x="0" y="257810"/>
                </a:lnTo>
                <a:lnTo>
                  <a:pt x="47498" y="257810"/>
                </a:lnTo>
                <a:lnTo>
                  <a:pt x="47498" y="248920"/>
                </a:lnTo>
                <a:lnTo>
                  <a:pt x="47498" y="8890"/>
                </a:lnTo>
                <a:lnTo>
                  <a:pt x="4749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5872223" y="3843717"/>
            <a:ext cx="47625" cy="257810"/>
          </a:xfrm>
          <a:custGeom>
            <a:rect b="b" l="l" r="r" t="t"/>
            <a:pathLst>
              <a:path extrusionOk="0" h="257810" w="47625">
                <a:moveTo>
                  <a:pt x="47498" y="0"/>
                </a:moveTo>
                <a:lnTo>
                  <a:pt x="0" y="0"/>
                </a:lnTo>
                <a:lnTo>
                  <a:pt x="0" y="8890"/>
                </a:lnTo>
                <a:lnTo>
                  <a:pt x="0" y="248920"/>
                </a:lnTo>
                <a:lnTo>
                  <a:pt x="0" y="257810"/>
                </a:lnTo>
                <a:lnTo>
                  <a:pt x="47498" y="257810"/>
                </a:lnTo>
                <a:lnTo>
                  <a:pt x="47498" y="248920"/>
                </a:lnTo>
                <a:lnTo>
                  <a:pt x="19304" y="248920"/>
                </a:lnTo>
                <a:lnTo>
                  <a:pt x="19304" y="8890"/>
                </a:lnTo>
                <a:lnTo>
                  <a:pt x="47498" y="8890"/>
                </a:lnTo>
                <a:lnTo>
                  <a:pt x="4749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35974" y="3872292"/>
            <a:ext cx="64770" cy="199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00923" y="3872292"/>
            <a:ext cx="64770" cy="19991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/>
        </p:nvSpPr>
        <p:spPr>
          <a:xfrm>
            <a:off x="3659625" y="3807525"/>
            <a:ext cx="3990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IN" sz="16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𝐽	𝜙 = −𝔼	                    log 𝜎(𝑅𝑀	   𝑥, </a:t>
            </a:r>
            <a:r>
              <a:rPr b="0" i="0" lang="en-IN" sz="165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𝑦</a:t>
            </a:r>
            <a:r>
              <a:rPr b="0" baseline="30000" i="0" lang="en-IN" sz="180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𝑤</a:t>
            </a:r>
            <a:endParaRPr b="0" baseline="3000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6748152" y="3916425"/>
            <a:ext cx="1816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𝜙 	                                 𝜙</a:t>
            </a:r>
            <a:endParaRPr b="0" i="0" sz="12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2" name="Google Shape;212;p17"/>
          <p:cNvSpPr txBox="1"/>
          <p:nvPr/>
        </p:nvSpPr>
        <p:spPr>
          <a:xfrm>
            <a:off x="7761982" y="3807521"/>
            <a:ext cx="13545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IN" sz="16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− 𝑅𝑀  (𝑥, </a:t>
            </a:r>
            <a:r>
              <a:rPr b="0" i="0" lang="en-IN" sz="165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𝑦</a:t>
            </a:r>
            <a:r>
              <a:rPr b="0" baseline="30000" i="0" lang="en-IN" sz="18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𝑙</a:t>
            </a:r>
            <a:r>
              <a:rPr b="0" i="0" lang="en-IN" sz="16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))</a:t>
            </a:r>
            <a:endParaRPr b="0" i="0" sz="16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4405373" y="4259959"/>
            <a:ext cx="961390" cy="57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AE50"/>
                </a:solidFill>
                <a:latin typeface="Calibri"/>
                <a:ea typeface="Calibri"/>
                <a:cs typeface="Calibri"/>
                <a:sym typeface="Calibri"/>
              </a:rPr>
              <a:t>“winning”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AE50"/>
                </a:solidFill>
                <a:latin typeface="Calibri"/>
                <a:ea typeface="Calibri"/>
                <a:cs typeface="Calibri"/>
                <a:sym typeface="Calibri"/>
              </a:rPr>
              <a:t>sample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38798" y="4177092"/>
            <a:ext cx="1143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7"/>
          <p:cNvSpPr txBox="1"/>
          <p:nvPr/>
        </p:nvSpPr>
        <p:spPr>
          <a:xfrm>
            <a:off x="5550024" y="4265357"/>
            <a:ext cx="758825" cy="57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“losing”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sample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91223" y="4186617"/>
            <a:ext cx="8572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7"/>
          <p:cNvSpPr txBox="1"/>
          <p:nvPr/>
        </p:nvSpPr>
        <p:spPr>
          <a:xfrm>
            <a:off x="6681848" y="4208842"/>
            <a:ext cx="1576705" cy="56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54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𝑦</a:t>
            </a:r>
            <a:r>
              <a:rPr b="0" baseline="30000" i="0" lang="en-IN" sz="2025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𝑤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should score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5095" marR="0" rtl="0" algn="l">
              <a:lnSpc>
                <a:spcPct val="1054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higher than </a:t>
            </a:r>
            <a:r>
              <a:rPr b="0" i="0" lang="en-IN" sz="18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𝑦</a:t>
            </a:r>
            <a:r>
              <a:rPr b="0" baseline="30000" i="0" lang="en-IN" sz="2025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𝑙</a:t>
            </a:r>
            <a:endParaRPr b="0" baseline="30000" i="0" sz="2025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4226952" y="3456677"/>
            <a:ext cx="454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IN" sz="1650" u="none" cap="none" strike="noStrike">
                <a:solidFill>
                  <a:srgbClr val="007A92"/>
                </a:solidFill>
                <a:latin typeface="Calibri"/>
                <a:ea typeface="Calibri"/>
                <a:cs typeface="Calibri"/>
                <a:sym typeface="Calibri"/>
              </a:rPr>
              <a:t>Bradley-Terry </a:t>
            </a:r>
            <a:r>
              <a:rPr b="0" i="0" lang="en-IN" sz="16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0" i="0" lang="en-IN" sz="1650" u="none" cap="none" strike="noStrike">
                <a:solidFill>
                  <a:srgbClr val="007A92"/>
                </a:solidFill>
                <a:latin typeface="Calibri"/>
                <a:ea typeface="Calibri"/>
                <a:cs typeface="Calibri"/>
                <a:sym typeface="Calibri"/>
              </a:rPr>
              <a:t>1952</a:t>
            </a:r>
            <a:r>
              <a:rPr b="0" i="0" lang="en-IN" sz="16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 paired comparison model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251520" y="649730"/>
            <a:ext cx="7863205" cy="960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3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 2: human judgments are noisy and miscalibrated!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8333"/>
              </a:lnSpc>
              <a:spcBef>
                <a:spcPts val="47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Solution: instead of asking for direct ratings, ask for pairwise comparisons, which can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6924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 more reliable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RLHF: Optimizing the learned reward model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6100027" y="1404263"/>
            <a:ext cx="17793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baseline="-25000" i="0" lang="en-IN" sz="27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𝑝</a:t>
            </a:r>
            <a:r>
              <a:rPr b="0" i="0" lang="en-IN" sz="135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𝑃𝑇</a:t>
            </a:r>
            <a:r>
              <a:rPr b="0" baseline="-25000" i="0" lang="en-IN" sz="27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(y|x)</a:t>
            </a:r>
            <a:endParaRPr b="0" baseline="-25000" i="0" sz="27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1019402" y="1249350"/>
            <a:ext cx="73689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have the following: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4965" marR="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pretrained (possibly instruction-finetuned) LM	              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485992" y="2329778"/>
            <a:ext cx="83127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0365" marR="304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reward model </a:t>
            </a:r>
            <a:r>
              <a:rPr b="0" i="0" lang="en-IN" sz="1800" u="none" cap="none" strike="noStrike">
                <a:solidFill>
                  <a:srgbClr val="6E2E9F"/>
                </a:solidFill>
                <a:latin typeface="Cambria Math"/>
                <a:ea typeface="Cambria Math"/>
                <a:cs typeface="Cambria Math"/>
                <a:sym typeface="Cambria Math"/>
              </a:rPr>
              <a:t>𝑅𝑀</a:t>
            </a:r>
            <a:r>
              <a:rPr b="0" baseline="-25000" i="0" lang="en-IN" sz="2025" u="none" cap="none" strike="noStrike">
                <a:solidFill>
                  <a:srgbClr val="6E2E9F"/>
                </a:solidFill>
                <a:latin typeface="Cambria Math"/>
                <a:ea typeface="Cambria Math"/>
                <a:cs typeface="Cambria Math"/>
                <a:sym typeface="Cambria Math"/>
              </a:rPr>
              <a:t>𝜙</a:t>
            </a:r>
            <a:r>
              <a:rPr b="0" i="0" lang="en-IN" sz="1800" u="none" cap="none" strike="noStrike">
                <a:solidFill>
                  <a:srgbClr val="6E2E9F"/>
                </a:solidFill>
                <a:latin typeface="Cambria Math"/>
                <a:ea typeface="Cambria Math"/>
                <a:cs typeface="Cambria Math"/>
                <a:sym typeface="Cambria Math"/>
              </a:rPr>
              <a:t>(𝑥, 𝑦)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produces scalar rewards for LM outputs, trained on a dataset of human comparisons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Now to do RLHF: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3285643" y="3571343"/>
            <a:ext cx="17780" cy="205739"/>
          </a:xfrm>
          <a:custGeom>
            <a:rect b="b" l="l" r="r" t="t"/>
            <a:pathLst>
              <a:path extrusionOk="0" h="205739" w="17780">
                <a:moveTo>
                  <a:pt x="17335" y="0"/>
                </a:moveTo>
                <a:lnTo>
                  <a:pt x="0" y="0"/>
                </a:lnTo>
                <a:lnTo>
                  <a:pt x="0" y="205409"/>
                </a:lnTo>
                <a:lnTo>
                  <a:pt x="17335" y="205409"/>
                </a:lnTo>
                <a:lnTo>
                  <a:pt x="17335" y="0"/>
                </a:lnTo>
                <a:close/>
              </a:path>
            </a:pathLst>
          </a:custGeom>
          <a:solidFill>
            <a:srgbClr val="00AE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2170" y="3569870"/>
            <a:ext cx="71374" cy="20942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8"/>
          <p:cNvSpPr txBox="1"/>
          <p:nvPr/>
        </p:nvSpPr>
        <p:spPr>
          <a:xfrm>
            <a:off x="817949" y="3451400"/>
            <a:ext cx="7771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Copy the model </a:t>
            </a:r>
            <a:r>
              <a:rPr b="0" i="0" lang="en-IN" sz="180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𝑝</a:t>
            </a:r>
            <a:r>
              <a:rPr b="0" baseline="30000" i="0" lang="en-IN" sz="2025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𝑅𝐿	</a:t>
            </a:r>
            <a:r>
              <a:rPr b="0" i="0" lang="en-IN" sz="180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𝑦   𝑥)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with parameters </a:t>
            </a:r>
            <a:r>
              <a:rPr b="0" i="0" lang="en-IN" sz="180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𝜃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would like to optimize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829209" y="3829112"/>
            <a:ext cx="2009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want to optimize: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2514300" y="3554213"/>
            <a:ext cx="324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6604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IN" sz="135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𝜃</a:t>
            </a:r>
            <a:endParaRPr b="0" i="0" sz="135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RLHF: Optimizing the learned reward model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475300" y="961450"/>
            <a:ext cx="7575900" cy="16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want to optimize: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you see any problems?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83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Learned rewards are imperfect; this quantity can be imperfectly optimized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83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a penalty for drifting too for from the initialization: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763" y="4025874"/>
            <a:ext cx="1796142" cy="4206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19"/>
          <p:cNvGrpSpPr/>
          <p:nvPr/>
        </p:nvGrpSpPr>
        <p:grpSpPr>
          <a:xfrm>
            <a:off x="3197559" y="3926052"/>
            <a:ext cx="5530323" cy="707771"/>
            <a:chOff x="3197559" y="3926052"/>
            <a:chExt cx="5530323" cy="707771"/>
          </a:xfrm>
        </p:grpSpPr>
        <p:pic>
          <p:nvPicPr>
            <p:cNvPr id="243" name="Google Shape;243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97559" y="3926052"/>
              <a:ext cx="5530323" cy="6519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19"/>
            <p:cNvSpPr/>
            <p:nvPr/>
          </p:nvSpPr>
          <p:spPr>
            <a:xfrm>
              <a:off x="3914775" y="4291558"/>
              <a:ext cx="3623310" cy="342265"/>
            </a:xfrm>
            <a:custGeom>
              <a:rect b="b" l="l" r="r" t="t"/>
              <a:pathLst>
                <a:path extrusionOk="0" h="342264" w="3623309">
                  <a:moveTo>
                    <a:pt x="21971" y="324739"/>
                  </a:moveTo>
                  <a:lnTo>
                    <a:pt x="17018" y="319811"/>
                  </a:lnTo>
                  <a:lnTo>
                    <a:pt x="4953" y="319811"/>
                  </a:lnTo>
                  <a:lnTo>
                    <a:pt x="0" y="324739"/>
                  </a:lnTo>
                  <a:lnTo>
                    <a:pt x="0" y="336867"/>
                  </a:lnTo>
                  <a:lnTo>
                    <a:pt x="4953" y="341782"/>
                  </a:lnTo>
                  <a:lnTo>
                    <a:pt x="17018" y="341782"/>
                  </a:lnTo>
                  <a:lnTo>
                    <a:pt x="21971" y="336867"/>
                  </a:lnTo>
                  <a:lnTo>
                    <a:pt x="21971" y="330796"/>
                  </a:lnTo>
                  <a:lnTo>
                    <a:pt x="21971" y="324739"/>
                  </a:lnTo>
                  <a:close/>
                </a:path>
                <a:path extrusionOk="0" h="342264" w="3623309">
                  <a:moveTo>
                    <a:pt x="3622802" y="4813"/>
                  </a:moveTo>
                  <a:lnTo>
                    <a:pt x="3617976" y="0"/>
                  </a:lnTo>
                  <a:lnTo>
                    <a:pt x="3606165" y="0"/>
                  </a:lnTo>
                  <a:lnTo>
                    <a:pt x="3601339" y="4813"/>
                  </a:lnTo>
                  <a:lnTo>
                    <a:pt x="3601339" y="16700"/>
                  </a:lnTo>
                  <a:lnTo>
                    <a:pt x="3606165" y="21513"/>
                  </a:lnTo>
                  <a:lnTo>
                    <a:pt x="3617976" y="21513"/>
                  </a:lnTo>
                  <a:lnTo>
                    <a:pt x="3622802" y="16700"/>
                  </a:lnTo>
                  <a:lnTo>
                    <a:pt x="3622802" y="10756"/>
                  </a:lnTo>
                  <a:lnTo>
                    <a:pt x="3622802" y="481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5" name="Google Shape;2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4724" y="2751801"/>
            <a:ext cx="3723264" cy="749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1766" y="992140"/>
            <a:ext cx="3017972" cy="415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How to optimize? Reinforcement Learning!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708025" y="912324"/>
            <a:ext cx="4733925" cy="159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RL has been around for a long time 1992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2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RL applied to deep-learning &amp; game playing RL to LMs is new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RL in nutshell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937249" y="2781874"/>
            <a:ext cx="5073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Generate completions from </a:t>
            </a:r>
            <a:r>
              <a:rPr b="0" i="0" lang="en-IN" sz="180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𝑝</a:t>
            </a:r>
            <a:r>
              <a:rPr b="0" baseline="30000" i="0" lang="en-IN" sz="2025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𝑅𝐿	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several tasks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3041" y="3190875"/>
            <a:ext cx="70358" cy="209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0475" y="3190875"/>
            <a:ext cx="70485" cy="20942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 txBox="1"/>
          <p:nvPr/>
        </p:nvSpPr>
        <p:spPr>
          <a:xfrm>
            <a:off x="924560" y="2902267"/>
            <a:ext cx="3331845" cy="510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2616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IN" sz="135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𝜃</a:t>
            </a:r>
            <a:endParaRPr b="0" i="0" sz="13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reward using </a:t>
            </a:r>
            <a:r>
              <a:rPr b="0" i="0" lang="en-IN" sz="1800" u="none" cap="none" strike="noStrike">
                <a:solidFill>
                  <a:srgbClr val="6E2E9F"/>
                </a:solidFill>
                <a:latin typeface="Cambria Math"/>
                <a:ea typeface="Cambria Math"/>
                <a:cs typeface="Cambria Math"/>
                <a:sym typeface="Cambria Math"/>
              </a:rPr>
              <a:t>𝑅𝑀</a:t>
            </a:r>
            <a:r>
              <a:rPr b="0" baseline="-25000" i="0" lang="en-IN" sz="2025" u="none" cap="none" strike="noStrike">
                <a:solidFill>
                  <a:srgbClr val="6E2E9F"/>
                </a:solidFill>
                <a:latin typeface="Cambria Math"/>
                <a:ea typeface="Cambria Math"/>
                <a:cs typeface="Cambria Math"/>
                <a:sym typeface="Cambria Math"/>
              </a:rPr>
              <a:t>𝜙	</a:t>
            </a:r>
            <a:r>
              <a:rPr b="0" i="0" lang="en-IN" sz="1800" u="none" cap="none" strike="noStrike">
                <a:solidFill>
                  <a:srgbClr val="6E2E9F"/>
                </a:solidFill>
                <a:latin typeface="Cambria Math"/>
                <a:ea typeface="Cambria Math"/>
                <a:cs typeface="Cambria Math"/>
                <a:sym typeface="Cambria Math"/>
              </a:rPr>
              <a:t>𝑥, 𝑦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1994916" y="3612197"/>
            <a:ext cx="12255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IN" sz="135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𝜃</a:t>
            </a:r>
            <a:endParaRPr b="0" i="0" sz="13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2535173" y="3563899"/>
            <a:ext cx="17780" cy="215265"/>
          </a:xfrm>
          <a:custGeom>
            <a:rect b="b" l="l" r="r" t="t"/>
            <a:pathLst>
              <a:path extrusionOk="0" h="215264" w="17780">
                <a:moveTo>
                  <a:pt x="17335" y="0"/>
                </a:moveTo>
                <a:lnTo>
                  <a:pt x="0" y="0"/>
                </a:lnTo>
                <a:lnTo>
                  <a:pt x="0" y="214731"/>
                </a:lnTo>
                <a:lnTo>
                  <a:pt x="17335" y="214731"/>
                </a:lnTo>
                <a:lnTo>
                  <a:pt x="17335" y="0"/>
                </a:lnTo>
                <a:close/>
              </a:path>
            </a:pathLst>
          </a:custGeom>
          <a:solidFill>
            <a:srgbClr val="00AE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47900" y="3562350"/>
            <a:ext cx="71374" cy="21882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 txBox="1"/>
          <p:nvPr/>
        </p:nvSpPr>
        <p:spPr>
          <a:xfrm>
            <a:off x="924560" y="3492182"/>
            <a:ext cx="157035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0" lang="en-IN" sz="180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𝑝</a:t>
            </a:r>
            <a:r>
              <a:rPr b="0" baseline="30000" i="0" lang="en-IN" sz="2025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𝑅𝐿	</a:t>
            </a:r>
            <a:r>
              <a:rPr b="0" i="0" lang="en-IN" sz="180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𝑦</a:t>
            </a:r>
            <a:endParaRPr b="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2621026" y="3492182"/>
            <a:ext cx="318071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AE50"/>
                </a:solidFill>
                <a:latin typeface="Cambria Math"/>
                <a:ea typeface="Cambria Math"/>
                <a:cs typeface="Cambria Math"/>
                <a:sym typeface="Cambria Math"/>
              </a:rPr>
              <a:t>𝑥) </a:t>
            </a: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increase probability of high-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1134427" y="3757612"/>
            <a:ext cx="1869439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reward completions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2439" y="989671"/>
            <a:ext cx="249555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/>
          <p:nvPr/>
        </p:nvSpPr>
        <p:spPr>
          <a:xfrm>
            <a:off x="7470013" y="964946"/>
            <a:ext cx="22225" cy="22225"/>
          </a:xfrm>
          <a:custGeom>
            <a:rect b="b" l="l" r="r" t="t"/>
            <a:pathLst>
              <a:path extrusionOk="0" h="22225" w="22225">
                <a:moveTo>
                  <a:pt x="16764" y="0"/>
                </a:moveTo>
                <a:lnTo>
                  <a:pt x="4826" y="0"/>
                </a:lnTo>
                <a:lnTo>
                  <a:pt x="0" y="4826"/>
                </a:lnTo>
                <a:lnTo>
                  <a:pt x="0" y="16764"/>
                </a:lnTo>
                <a:lnTo>
                  <a:pt x="4826" y="21717"/>
                </a:lnTo>
                <a:lnTo>
                  <a:pt x="16764" y="21717"/>
                </a:lnTo>
                <a:lnTo>
                  <a:pt x="21717" y="16764"/>
                </a:lnTo>
                <a:lnTo>
                  <a:pt x="21717" y="10795"/>
                </a:lnTo>
                <a:lnTo>
                  <a:pt x="21717" y="4826"/>
                </a:lnTo>
                <a:lnTo>
                  <a:pt x="16764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7563611" y="961136"/>
            <a:ext cx="20955" cy="29209"/>
          </a:xfrm>
          <a:custGeom>
            <a:rect b="b" l="l" r="r" t="t"/>
            <a:pathLst>
              <a:path extrusionOk="0" h="29209" w="20954">
                <a:moveTo>
                  <a:pt x="12700" y="0"/>
                </a:moveTo>
                <a:lnTo>
                  <a:pt x="8255" y="0"/>
                </a:lnTo>
                <a:lnTo>
                  <a:pt x="4826" y="2285"/>
                </a:lnTo>
                <a:lnTo>
                  <a:pt x="1524" y="4698"/>
                </a:lnTo>
                <a:lnTo>
                  <a:pt x="0" y="8889"/>
                </a:lnTo>
                <a:lnTo>
                  <a:pt x="1016" y="12826"/>
                </a:lnTo>
                <a:lnTo>
                  <a:pt x="3429" y="21843"/>
                </a:lnTo>
                <a:lnTo>
                  <a:pt x="4953" y="24764"/>
                </a:lnTo>
                <a:lnTo>
                  <a:pt x="6858" y="26796"/>
                </a:lnTo>
                <a:lnTo>
                  <a:pt x="8382" y="28574"/>
                </a:lnTo>
                <a:lnTo>
                  <a:pt x="11049" y="28828"/>
                </a:lnTo>
                <a:lnTo>
                  <a:pt x="14986" y="25653"/>
                </a:lnTo>
                <a:lnTo>
                  <a:pt x="17399" y="21843"/>
                </a:lnTo>
                <a:lnTo>
                  <a:pt x="19812" y="12826"/>
                </a:lnTo>
                <a:lnTo>
                  <a:pt x="20955" y="8889"/>
                </a:lnTo>
                <a:lnTo>
                  <a:pt x="19431" y="4698"/>
                </a:lnTo>
                <a:lnTo>
                  <a:pt x="127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RLHF provides gains over pretraining + finetuning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3" name="Google Shape;2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816" y="1031167"/>
            <a:ext cx="6076928" cy="359955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 txBox="1"/>
          <p:nvPr/>
        </p:nvSpPr>
        <p:spPr>
          <a:xfrm>
            <a:off x="1543685" y="4630719"/>
            <a:ext cx="605663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sng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https://proceedings.neurips.cc/paper/2020/file/1f89885d556929e98d3ef9b86448f951-Paper.pdf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RLHF can be complex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1" name="Google Shape;2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2774" y="809625"/>
            <a:ext cx="535305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 txBox="1"/>
          <p:nvPr/>
        </p:nvSpPr>
        <p:spPr>
          <a:xfrm>
            <a:off x="463683" y="1050861"/>
            <a:ext cx="2411095" cy="229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128904" rtl="0" algn="l">
              <a:lnSpc>
                <a:spcPct val="98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IN" sz="16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RL optimization can be computationally expensive and tricky: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633" lvl="0" marL="470534" marR="5080" rtl="0" algn="l">
              <a:lnSpc>
                <a:spcPct val="1006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IN" sz="16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Fitting a value function Online sampling is slow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70534" marR="0" rtl="0" algn="l">
              <a:lnSpc>
                <a:spcPct val="1175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IN" sz="16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can be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70534" marR="0" rtl="0" algn="l">
              <a:lnSpc>
                <a:spcPct val="119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IN" sz="16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sensitive to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70534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IN" sz="16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hyperparameters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1211332" y="4430077"/>
            <a:ext cx="24498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https://arxiv.org/pdf/2307.04964</a:t>
            </a:r>
            <a:r>
              <a:rPr b="0" i="0" lang="en-IN" sz="1400" u="sng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Summary RLHF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251520" y="1094268"/>
            <a:ext cx="8373109" cy="254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3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want to optimize for human preferences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4965" marR="0" rtl="0" algn="l">
              <a:lnSpc>
                <a:spcPct val="118333"/>
              </a:lnSpc>
              <a:spcBef>
                <a:spcPts val="47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Instead of humans writing the answers or giving uncalibrated scores, we get humans to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4965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rank different LM generated answers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Reinforcement learning from human feedback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4965" marR="0" rtl="0" algn="l">
              <a:lnSpc>
                <a:spcPct val="118611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 an explicit reward model on comparison data to predict a score for a given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4965" marR="0" rtl="0" algn="l">
              <a:lnSpc>
                <a:spcPct val="1186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4965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Optimize the LM to maximize the predicted score (under KL-constraint)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4965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Very effective when tuned well, computationally expensive and tricky to get right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InstructGPT: scaling up RLHF to large # of tasks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251520" y="4226132"/>
            <a:ext cx="2082800" cy="178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sng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https://arxiv.org/pdf/2203.02155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8" name="Google Shape;298;p24"/>
          <p:cNvGrpSpPr/>
          <p:nvPr/>
        </p:nvGrpSpPr>
        <p:grpSpPr>
          <a:xfrm>
            <a:off x="2804275" y="797934"/>
            <a:ext cx="5329585" cy="4047866"/>
            <a:chOff x="2805176" y="652462"/>
            <a:chExt cx="6210300" cy="4391025"/>
          </a:xfrm>
        </p:grpSpPr>
        <p:pic>
          <p:nvPicPr>
            <p:cNvPr id="299" name="Google Shape;299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42401" y="727328"/>
              <a:ext cx="5726246" cy="41010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24"/>
            <p:cNvSpPr/>
            <p:nvPr/>
          </p:nvSpPr>
          <p:spPr>
            <a:xfrm>
              <a:off x="3195701" y="652462"/>
              <a:ext cx="5819775" cy="4391025"/>
            </a:xfrm>
            <a:custGeom>
              <a:rect b="b" l="l" r="r" t="t"/>
              <a:pathLst>
                <a:path extrusionOk="0" h="4391025" w="5819775">
                  <a:moveTo>
                    <a:pt x="0" y="4391025"/>
                  </a:moveTo>
                  <a:lnTo>
                    <a:pt x="5819775" y="4391025"/>
                  </a:lnTo>
                  <a:lnTo>
                    <a:pt x="5819775" y="0"/>
                  </a:lnTo>
                  <a:lnTo>
                    <a:pt x="0" y="0"/>
                  </a:lnTo>
                  <a:lnTo>
                    <a:pt x="0" y="4391025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2805176" y="1547875"/>
              <a:ext cx="533400" cy="47625"/>
            </a:xfrm>
            <a:custGeom>
              <a:rect b="b" l="l" r="r" t="t"/>
              <a:pathLst>
                <a:path extrusionOk="0" h="47625" w="533400">
                  <a:moveTo>
                    <a:pt x="509523" y="0"/>
                  </a:moveTo>
                  <a:lnTo>
                    <a:pt x="509523" y="11811"/>
                  </a:lnTo>
                  <a:lnTo>
                    <a:pt x="0" y="11811"/>
                  </a:lnTo>
                  <a:lnTo>
                    <a:pt x="0" y="35687"/>
                  </a:lnTo>
                  <a:lnTo>
                    <a:pt x="509523" y="35687"/>
                  </a:lnTo>
                  <a:lnTo>
                    <a:pt x="509523" y="47625"/>
                  </a:lnTo>
                  <a:lnTo>
                    <a:pt x="533400" y="23749"/>
                  </a:lnTo>
                  <a:lnTo>
                    <a:pt x="509523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2805176" y="1547875"/>
              <a:ext cx="533400" cy="47625"/>
            </a:xfrm>
            <a:custGeom>
              <a:rect b="b" l="l" r="r" t="t"/>
              <a:pathLst>
                <a:path extrusionOk="0" h="47625" w="533400">
                  <a:moveTo>
                    <a:pt x="0" y="11811"/>
                  </a:moveTo>
                  <a:lnTo>
                    <a:pt x="509523" y="11811"/>
                  </a:lnTo>
                  <a:lnTo>
                    <a:pt x="509523" y="0"/>
                  </a:lnTo>
                  <a:lnTo>
                    <a:pt x="533400" y="23749"/>
                  </a:lnTo>
                  <a:lnTo>
                    <a:pt x="509523" y="47625"/>
                  </a:lnTo>
                  <a:lnTo>
                    <a:pt x="509523" y="35687"/>
                  </a:lnTo>
                  <a:lnTo>
                    <a:pt x="0" y="35687"/>
                  </a:lnTo>
                  <a:lnTo>
                    <a:pt x="0" y="11811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24"/>
          <p:cNvSpPr txBox="1"/>
          <p:nvPr/>
        </p:nvSpPr>
        <p:spPr>
          <a:xfrm>
            <a:off x="1619250" y="1422780"/>
            <a:ext cx="886460" cy="30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50K tasks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InstructGPT: Kinds of prompts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0" name="Google Shape;310;p25"/>
          <p:cNvSpPr txBox="1"/>
          <p:nvPr>
            <p:ph idx="1" type="body"/>
          </p:nvPr>
        </p:nvSpPr>
        <p:spPr>
          <a:xfrm>
            <a:off x="449897" y="901763"/>
            <a:ext cx="7914000" cy="20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175">
            <a:spAutoFit/>
          </a:bodyPr>
          <a:lstStyle/>
          <a:p>
            <a:pPr indent="-270510" lvl="0" marL="27051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Plain: arbitrary task, while ensuring the tasks had sufficient diversity</a:t>
            </a:r>
            <a:endParaRPr/>
          </a:p>
          <a:p>
            <a:pPr indent="-270510" lvl="0" marL="270510" rtl="0" algn="l">
              <a:lnSpc>
                <a:spcPct val="99375"/>
              </a:lnSpc>
              <a:spcBef>
                <a:spcPts val="560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Few-shot: an instruction, and multiple query/response pairs for the instruction</a:t>
            </a:r>
            <a:endParaRPr/>
          </a:p>
          <a:p>
            <a:pPr indent="-270510" lvl="0" marL="27051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User-based:</a:t>
            </a:r>
            <a:endParaRPr/>
          </a:p>
        </p:txBody>
      </p:sp>
      <p:pic>
        <p:nvPicPr>
          <p:cNvPr id="311" name="Google Shape;3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952" y="3135612"/>
            <a:ext cx="56959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349199" y="4152519"/>
            <a:ext cx="2082800" cy="178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sng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https://arxiv.org/pdf/2203.02155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InstructGPT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19" name="Google Shape;3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947" y="854241"/>
            <a:ext cx="7291421" cy="3462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InstructGPT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6" name="Google Shape;32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162" y="786525"/>
            <a:ext cx="6613859" cy="4063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lang="en-IN"/>
              <a:t>ChatGPT: Instruction Finetuning + RLHF for dialog agents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33" name="Google Shape;33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" y="657225"/>
            <a:ext cx="7410450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9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ChatGPT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9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40" name="Google Shape;34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9219" y="759938"/>
            <a:ext cx="5114423" cy="3920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Limitation of RL + Reward modeling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251527" y="830042"/>
            <a:ext cx="6885300" cy="3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18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 preferences are unreliable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“Reward Hacking” is common problem in RL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maximize the score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6435" lvl="0" marL="699135" marR="2740660" rtl="0" algn="l">
              <a:lnSpc>
                <a:spcPct val="116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 the game – Score (reward function) did not matter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12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Agent found turbo boost, collect for more score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 score, not doing race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8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Continuously crashing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500"/>
              </a:lnSpc>
              <a:spcBef>
                <a:spcPts val="239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risk losing control over AIs as they become more capable Proxy gaming: YouTube / Insta – User engagement – Mental health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4975" y="1123949"/>
            <a:ext cx="3400425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What is an alignment problem?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1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55" name="Google Shape;355;p31"/>
          <p:cNvSpPr txBox="1"/>
          <p:nvPr/>
        </p:nvSpPr>
        <p:spPr>
          <a:xfrm>
            <a:off x="708025" y="912324"/>
            <a:ext cx="7257415" cy="265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Machine can solve problems that human will take decades to solve Sometimes less inclined towards listening to human instructions Important to solve this problem to benefit AI effects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28904" rtl="0" algn="l">
              <a:lnSpc>
                <a:spcPct val="1207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 should be incentivized to tell the truth (hallucination!) Can the system act with human intentions &amp; human values Technically difficult to distinguish between AI generated &amp; human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generated (cool research problem!)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6" name="Google Shape;356;p31"/>
          <p:cNvGrpSpPr/>
          <p:nvPr/>
        </p:nvGrpSpPr>
        <p:grpSpPr>
          <a:xfrm>
            <a:off x="6855306" y="3291425"/>
            <a:ext cx="1847850" cy="1304925"/>
            <a:chOff x="7120001" y="3471862"/>
            <a:chExt cx="1847850" cy="1304925"/>
          </a:xfrm>
        </p:grpSpPr>
        <p:pic>
          <p:nvPicPr>
            <p:cNvPr id="357" name="Google Shape;357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24700" y="3476625"/>
              <a:ext cx="1829179" cy="12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31"/>
            <p:cNvSpPr/>
            <p:nvPr/>
          </p:nvSpPr>
          <p:spPr>
            <a:xfrm>
              <a:off x="7120001" y="3471862"/>
              <a:ext cx="1847850" cy="1304925"/>
            </a:xfrm>
            <a:custGeom>
              <a:rect b="b" l="l" r="r" t="t"/>
              <a:pathLst>
                <a:path extrusionOk="0" h="1304925" w="1847850">
                  <a:moveTo>
                    <a:pt x="0" y="1304925"/>
                  </a:moveTo>
                  <a:lnTo>
                    <a:pt x="1847850" y="130492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1304925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9" name="Google Shape;359;p31"/>
          <p:cNvSpPr txBox="1"/>
          <p:nvPr/>
        </p:nvSpPr>
        <p:spPr>
          <a:xfrm>
            <a:off x="1998825" y="4595556"/>
            <a:ext cx="4864100" cy="254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7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b="0" i="0" lang="en-IN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www.youtube.com/watch?v=yWDUzNiWPJA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RLHF for AI Alignment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66" name="Google Shape;3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6397" y="895739"/>
            <a:ext cx="6005090" cy="358101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2"/>
          <p:cNvSpPr txBox="1"/>
          <p:nvPr/>
        </p:nvSpPr>
        <p:spPr>
          <a:xfrm>
            <a:off x="3116179" y="4545931"/>
            <a:ext cx="4572000" cy="312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29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https://arxiv.org/abs/2307.15217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2"/>
          <p:cNvSpPr/>
          <p:nvPr/>
        </p:nvSpPr>
        <p:spPr>
          <a:xfrm>
            <a:off x="1776476" y="661987"/>
            <a:ext cx="6448425" cy="3819525"/>
          </a:xfrm>
          <a:custGeom>
            <a:rect b="b" l="l" r="r" t="t"/>
            <a:pathLst>
              <a:path extrusionOk="0" h="3819525" w="6448425">
                <a:moveTo>
                  <a:pt x="0" y="3819525"/>
                </a:moveTo>
                <a:lnTo>
                  <a:pt x="6448425" y="3819525"/>
                </a:lnTo>
                <a:lnTo>
                  <a:pt x="6448425" y="0"/>
                </a:lnTo>
                <a:lnTo>
                  <a:pt x="0" y="0"/>
                </a:lnTo>
                <a:lnTo>
                  <a:pt x="0" y="381952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RLHF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75" name="Google Shape;37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658" y="2290512"/>
            <a:ext cx="79248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3"/>
          <p:cNvSpPr txBox="1"/>
          <p:nvPr/>
        </p:nvSpPr>
        <p:spPr>
          <a:xfrm>
            <a:off x="708025" y="912324"/>
            <a:ext cx="3072765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RLHF – Human Feedback = ?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308610" rtl="0" algn="l">
              <a:lnSpc>
                <a:spcPct val="12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RLHF – Reward model = ? RLHF – RL = ?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RLHF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83" name="Google Shape;38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658" y="2290512"/>
            <a:ext cx="79248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4"/>
          <p:cNvSpPr txBox="1"/>
          <p:nvPr/>
        </p:nvSpPr>
        <p:spPr>
          <a:xfrm>
            <a:off x="708025" y="912324"/>
            <a:ext cx="6685915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RLHF – Human Feedback = RLAIF (RL from AI Feedback)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2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RLHF – Reward model = Direct Preference Optimization (DPO) RLHF – RL = Supervised Finetuning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RLHF Challenges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5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1" name="Google Shape;39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043" y="1384515"/>
            <a:ext cx="8561913" cy="254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RLHF Challenges: Human Feedback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6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98" name="Google Shape;398;p36"/>
          <p:cNvSpPr txBox="1"/>
          <p:nvPr/>
        </p:nvSpPr>
        <p:spPr>
          <a:xfrm>
            <a:off x="708025" y="962913"/>
            <a:ext cx="7190105" cy="311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108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Selecting representative humans and getting them to provide feedback is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08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difficult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207260" rtl="0" algn="l">
              <a:lnSpc>
                <a:spcPct val="118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evaluators have harmful biases and opinions Individual human evaluators can poison data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415925" rtl="0" algn="l">
              <a:lnSpc>
                <a:spcPct val="1184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Humans make simple mistakes due to limited time, attention, or care Partial observability limits human evaluators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Humans can be misled, so their evaluations can be gamed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collection can introduce harmful biases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0810"/>
              </a:lnSpc>
              <a:spcBef>
                <a:spcPts val="409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Suffers from trade-off between richness and efficiency of feedback types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08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(comparison, scalar, label, etc.)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7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RLHF Challenges: Reward model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7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05" name="Google Shape;405;p37"/>
          <p:cNvSpPr txBox="1"/>
          <p:nvPr>
            <p:ph idx="1" type="body"/>
          </p:nvPr>
        </p:nvSpPr>
        <p:spPr>
          <a:xfrm>
            <a:off x="286369" y="1479279"/>
            <a:ext cx="8571300" cy="25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575">
            <a:spAutoFit/>
          </a:bodyPr>
          <a:lstStyle/>
          <a:p>
            <a:pPr indent="-270510" lvl="0" marL="270510" rtl="0" algn="l">
              <a:lnSpc>
                <a:spcPct val="99375"/>
              </a:lnSpc>
              <a:spcBef>
                <a:spcPts val="100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An individual human’s values are difficult to represent with a reward function.</a:t>
            </a:r>
            <a:endParaRPr/>
          </a:p>
          <a:p>
            <a:pPr indent="-270510" lvl="0" marL="270510" marR="5080" rtl="0" algn="l">
              <a:lnSpc>
                <a:spcPct val="122200"/>
              </a:lnSpc>
              <a:spcBef>
                <a:spcPts val="5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A single reward function cannot represent a diverse society of humans </a:t>
            </a:r>
            <a:endParaRPr/>
          </a:p>
          <a:p>
            <a:pPr indent="-270510" lvl="0" marL="270510" marR="5080" rtl="0" algn="l">
              <a:lnSpc>
                <a:spcPct val="122200"/>
              </a:lnSpc>
              <a:spcBef>
                <a:spcPts val="5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Optimizing for an imperfect reward proxy leads to reward hacking </a:t>
            </a:r>
            <a:endParaRPr/>
          </a:p>
          <a:p>
            <a:pPr indent="-270510" lvl="0" marL="270510" marR="5080" rtl="0" algn="l">
              <a:lnSpc>
                <a:spcPct val="122200"/>
              </a:lnSpc>
              <a:spcBef>
                <a:spcPts val="5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Evaluating reward model is difficult and expensive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RLHF Challenges: Policy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8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12" name="Google Shape;412;p38"/>
          <p:cNvSpPr txBox="1"/>
          <p:nvPr/>
        </p:nvSpPr>
        <p:spPr>
          <a:xfrm>
            <a:off x="383172" y="1633537"/>
            <a:ext cx="7322820" cy="187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Policies tend to perform poorly in adversarial situations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571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Policies tend to perform poorly in deployment even if rewards seen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during training were perfectly correct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3181350" rtl="0" algn="l">
              <a:lnSpc>
                <a:spcPct val="12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Optimal RL agents tend to seek power RL contributes to mode collapse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Strategies to address the RLHF challenges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9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19" name="Google Shape;41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956" y="1396026"/>
            <a:ext cx="7668891" cy="2692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0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Transparency / Auditing for RLHF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0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6" name="Google Shape;42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635" y="1381466"/>
            <a:ext cx="7629689" cy="2676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Auditing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1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433" name="Google Shape;433;p41"/>
          <p:cNvGrpSpPr/>
          <p:nvPr/>
        </p:nvGrpSpPr>
        <p:grpSpPr>
          <a:xfrm>
            <a:off x="623887" y="1223962"/>
            <a:ext cx="7896225" cy="3057525"/>
            <a:chOff x="623887" y="1223962"/>
            <a:chExt cx="7896225" cy="3057525"/>
          </a:xfrm>
        </p:grpSpPr>
        <p:pic>
          <p:nvPicPr>
            <p:cNvPr id="434" name="Google Shape;434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4302" y="1276474"/>
              <a:ext cx="7624340" cy="2785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5" name="Google Shape;435;p41"/>
            <p:cNvSpPr/>
            <p:nvPr/>
          </p:nvSpPr>
          <p:spPr>
            <a:xfrm>
              <a:off x="623887" y="1223962"/>
              <a:ext cx="7896225" cy="3057525"/>
            </a:xfrm>
            <a:custGeom>
              <a:rect b="b" l="l" r="r" t="t"/>
              <a:pathLst>
                <a:path extrusionOk="0" h="3057525" w="7896225">
                  <a:moveTo>
                    <a:pt x="0" y="3057525"/>
                  </a:moveTo>
                  <a:lnTo>
                    <a:pt x="7896225" y="3057525"/>
                  </a:lnTo>
                  <a:lnTo>
                    <a:pt x="7896225" y="0"/>
                  </a:lnTo>
                  <a:lnTo>
                    <a:pt x="0" y="0"/>
                  </a:lnTo>
                  <a:lnTo>
                    <a:pt x="0" y="3057525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6" name="Google Shape;436;p41"/>
          <p:cNvSpPr txBox="1"/>
          <p:nvPr/>
        </p:nvSpPr>
        <p:spPr>
          <a:xfrm>
            <a:off x="684302" y="4438521"/>
            <a:ext cx="3131185" cy="254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sng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https://arxiv.org/abs/2401.14446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State of Alignment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43" name="Google Shape;443;p42"/>
          <p:cNvSpPr txBox="1"/>
          <p:nvPr/>
        </p:nvSpPr>
        <p:spPr>
          <a:xfrm>
            <a:off x="811908" y="1586092"/>
            <a:ext cx="6517005" cy="80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RLHF was never designed to solve the AI alignment problem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probably the state of art for now for alignment problem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RLHF Bibliography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50" name="Google Shape;450;p43"/>
          <p:cNvSpPr txBox="1"/>
          <p:nvPr/>
        </p:nvSpPr>
        <p:spPr>
          <a:xfrm>
            <a:off x="708025" y="982662"/>
            <a:ext cx="6846570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sng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https://web.stanford.edu/class/cs224n/slides/cs224n-spr2024-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sng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lecture10-prompting-rlhf.pdf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