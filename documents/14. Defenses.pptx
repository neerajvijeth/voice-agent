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12192000" cy="6858000"/>
  <p:embeddedFontLs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41Bfta+PuaIstMejFNqGh5I86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C8E743-F6EA-44B3-922D-08D99B337A7F}">
  <a:tblStyle styleId="{13C8E743-F6EA-44B3-922D-08D99B337A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Tahoma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fbd7c83c5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9fbd7c83c5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fbd7c83c5_0_4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9fbd7c83c5_0_4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764267" y="1715070"/>
            <a:ext cx="10571480" cy="28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5527" y="690455"/>
            <a:ext cx="280945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4"/>
          <p:cNvSpPr txBox="1"/>
          <p:nvPr>
            <p:ph type="ctrTitle"/>
          </p:nvPr>
        </p:nvSpPr>
        <p:spPr>
          <a:xfrm>
            <a:off x="2958404" y="876711"/>
            <a:ext cx="6275191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" y="690455"/>
            <a:ext cx="280943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5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fbd7c83c5_0_39"/>
          <p:cNvSpPr txBox="1"/>
          <p:nvPr>
            <p:ph type="title"/>
          </p:nvPr>
        </p:nvSpPr>
        <p:spPr>
          <a:xfrm>
            <a:off x="596900" y="841375"/>
            <a:ext cx="56649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003CA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9fbd7c83c5_0_39"/>
          <p:cNvSpPr txBox="1"/>
          <p:nvPr>
            <p:ph idx="1" type="body"/>
          </p:nvPr>
        </p:nvSpPr>
        <p:spPr>
          <a:xfrm>
            <a:off x="688340" y="1968753"/>
            <a:ext cx="10134000" cy="19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fbd7c83c5_0_39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fbd7c83c5_0_39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9fbd7c83c5_0_39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764267" y="1715070"/>
            <a:ext cx="10571480" cy="28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3.png"/><Relationship Id="rId13" Type="http://schemas.openxmlformats.org/officeDocument/2006/relationships/image" Target="../media/image9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image" Target="../media/image8.png"/><Relationship Id="rId1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41.jp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20.png"/><Relationship Id="rId13" Type="http://schemas.openxmlformats.org/officeDocument/2006/relationships/image" Target="../media/image1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9" Type="http://schemas.openxmlformats.org/officeDocument/2006/relationships/image" Target="../media/image44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42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8.jp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8.jp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7.jp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7.jp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0.jp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8.png"/><Relationship Id="rId13" Type="http://schemas.openxmlformats.org/officeDocument/2006/relationships/image" Target="../media/image48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7.png"/><Relationship Id="rId1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bd7c83c5_0_0"/>
          <p:cNvSpPr txBox="1"/>
          <p:nvPr>
            <p:ph type="title"/>
          </p:nvPr>
        </p:nvSpPr>
        <p:spPr>
          <a:xfrm>
            <a:off x="2642375" y="1769450"/>
            <a:ext cx="7899900" cy="27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Unit 4</a:t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Defenses against Adversarial Attacks on LLMs</a:t>
            </a:r>
            <a:endParaRPr sz="4400"/>
          </a:p>
        </p:txBody>
      </p:sp>
      <p:pic>
        <p:nvPicPr>
          <p:cNvPr id="52" name="Google Shape;52;g39fbd7c83c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2053931" y="4330056"/>
            <a:ext cx="15627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Inference Time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8" name="Google Shape;58;p2"/>
          <p:cNvGrpSpPr/>
          <p:nvPr/>
        </p:nvGrpSpPr>
        <p:grpSpPr>
          <a:xfrm>
            <a:off x="910149" y="2692144"/>
            <a:ext cx="1071446" cy="1799342"/>
            <a:chOff x="910149" y="2692144"/>
            <a:chExt cx="1071446" cy="1799342"/>
          </a:xfrm>
        </p:grpSpPr>
        <p:sp>
          <p:nvSpPr>
            <p:cNvPr id="59" name="Google Shape;59;p2"/>
            <p:cNvSpPr/>
            <p:nvPr/>
          </p:nvSpPr>
          <p:spPr>
            <a:xfrm>
              <a:off x="910206" y="3711849"/>
              <a:ext cx="979169" cy="719455"/>
            </a:xfrm>
            <a:custGeom>
              <a:rect b="b" l="l" r="r" t="t"/>
              <a:pathLst>
                <a:path extrusionOk="0" h="719454" w="979169">
                  <a:moveTo>
                    <a:pt x="0" y="0"/>
                  </a:moveTo>
                  <a:lnTo>
                    <a:pt x="978586" y="718927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" name="Google Shape;6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60638" y="4395895"/>
              <a:ext cx="107349" cy="955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2"/>
            <p:cNvSpPr/>
            <p:nvPr/>
          </p:nvSpPr>
          <p:spPr>
            <a:xfrm>
              <a:off x="910149" y="2761251"/>
              <a:ext cx="999490" cy="950594"/>
            </a:xfrm>
            <a:custGeom>
              <a:rect b="b" l="l" r="r" t="t"/>
              <a:pathLst>
                <a:path extrusionOk="0" h="950595" w="999489">
                  <a:moveTo>
                    <a:pt x="0" y="950523"/>
                  </a:moveTo>
                  <a:lnTo>
                    <a:pt x="999282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78220" y="2692144"/>
              <a:ext cx="103375" cy="1014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oogle Shape;63;p2"/>
          <p:cNvGrpSpPr/>
          <p:nvPr/>
        </p:nvGrpSpPr>
        <p:grpSpPr>
          <a:xfrm>
            <a:off x="3777550" y="2652313"/>
            <a:ext cx="1515876" cy="1103105"/>
            <a:chOff x="3777550" y="2652313"/>
            <a:chExt cx="1515876" cy="1103105"/>
          </a:xfrm>
        </p:grpSpPr>
        <p:sp>
          <p:nvSpPr>
            <p:cNvPr id="64" name="Google Shape;64;p2"/>
            <p:cNvSpPr/>
            <p:nvPr/>
          </p:nvSpPr>
          <p:spPr>
            <a:xfrm>
              <a:off x="3786650" y="3714437"/>
              <a:ext cx="1405255" cy="33020"/>
            </a:xfrm>
            <a:custGeom>
              <a:rect b="b" l="l" r="r" t="t"/>
              <a:pathLst>
                <a:path extrusionOk="0" h="33020" w="1405254">
                  <a:moveTo>
                    <a:pt x="0" y="32737"/>
                  </a:moveTo>
                  <a:lnTo>
                    <a:pt x="1404930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5" name="Google Shape;65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81323" y="3673455"/>
              <a:ext cx="106210" cy="81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2"/>
            <p:cNvSpPr/>
            <p:nvPr/>
          </p:nvSpPr>
          <p:spPr>
            <a:xfrm>
              <a:off x="3777550" y="2682475"/>
              <a:ext cx="1420495" cy="11430"/>
            </a:xfrm>
            <a:custGeom>
              <a:rect b="b" l="l" r="r" t="t"/>
              <a:pathLst>
                <a:path extrusionOk="0" h="11430" w="1420495">
                  <a:moveTo>
                    <a:pt x="0" y="0"/>
                  </a:moveTo>
                  <a:lnTo>
                    <a:pt x="1419903" y="10828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" name="Google Shape;67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87688" y="2652313"/>
              <a:ext cx="105738" cy="819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2"/>
            <p:cNvSpPr/>
            <p:nvPr/>
          </p:nvSpPr>
          <p:spPr>
            <a:xfrm>
              <a:off x="3777550" y="2682475"/>
              <a:ext cx="9525" cy="1062990"/>
            </a:xfrm>
            <a:custGeom>
              <a:rect b="b" l="l" r="r" t="t"/>
              <a:pathLst>
                <a:path extrusionOk="0" h="1062989" w="9525">
                  <a:moveTo>
                    <a:pt x="0" y="0"/>
                  </a:moveTo>
                  <a:lnTo>
                    <a:pt x="8999" y="1062899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2"/>
          <p:cNvSpPr txBox="1"/>
          <p:nvPr/>
        </p:nvSpPr>
        <p:spPr>
          <a:xfrm>
            <a:off x="5384774" y="3513306"/>
            <a:ext cx="20942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Adversarial Training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7588052" y="3544275"/>
            <a:ext cx="32658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Jain et al. (2023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816814" y="901503"/>
            <a:ext cx="1404620" cy="620395"/>
          </a:xfrm>
          <a:custGeom>
            <a:rect b="b" l="l" r="r" t="t"/>
            <a:pathLst>
              <a:path extrusionOk="0" h="620394" w="1404620">
                <a:moveTo>
                  <a:pt x="1300898" y="620399"/>
                </a:moveTo>
                <a:lnTo>
                  <a:pt x="103402" y="620399"/>
                </a:lnTo>
                <a:lnTo>
                  <a:pt x="63153" y="612274"/>
                </a:lnTo>
                <a:lnTo>
                  <a:pt x="30285" y="590114"/>
                </a:lnTo>
                <a:lnTo>
                  <a:pt x="8125" y="557246"/>
                </a:lnTo>
                <a:lnTo>
                  <a:pt x="0" y="516997"/>
                </a:lnTo>
                <a:lnTo>
                  <a:pt x="0" y="103402"/>
                </a:lnTo>
                <a:lnTo>
                  <a:pt x="8125" y="63153"/>
                </a:lnTo>
                <a:lnTo>
                  <a:pt x="30285" y="30285"/>
                </a:lnTo>
                <a:lnTo>
                  <a:pt x="63153" y="8125"/>
                </a:lnTo>
                <a:lnTo>
                  <a:pt x="103402" y="0"/>
                </a:lnTo>
                <a:lnTo>
                  <a:pt x="1300898" y="0"/>
                </a:lnTo>
                <a:lnTo>
                  <a:pt x="1340468" y="7870"/>
                </a:lnTo>
                <a:lnTo>
                  <a:pt x="1374013" y="30285"/>
                </a:lnTo>
                <a:lnTo>
                  <a:pt x="1396428" y="63831"/>
                </a:lnTo>
                <a:lnTo>
                  <a:pt x="1404299" y="103402"/>
                </a:lnTo>
                <a:lnTo>
                  <a:pt x="1404299" y="516997"/>
                </a:lnTo>
                <a:lnTo>
                  <a:pt x="1396174" y="557246"/>
                </a:lnTo>
                <a:lnTo>
                  <a:pt x="1374014" y="590114"/>
                </a:lnTo>
                <a:lnTo>
                  <a:pt x="1341146" y="612274"/>
                </a:lnTo>
                <a:lnTo>
                  <a:pt x="1300898" y="620399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6991358" y="884042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1683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How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3" name="Google Shape;73;p2"/>
          <p:cNvGrpSpPr/>
          <p:nvPr/>
        </p:nvGrpSpPr>
        <p:grpSpPr>
          <a:xfrm>
            <a:off x="6692317" y="1573313"/>
            <a:ext cx="1764447" cy="1616374"/>
            <a:chOff x="6692317" y="1573313"/>
            <a:chExt cx="1764447" cy="1616374"/>
          </a:xfrm>
        </p:grpSpPr>
        <p:sp>
          <p:nvSpPr>
            <p:cNvPr id="74" name="Google Shape;74;p2"/>
            <p:cNvSpPr/>
            <p:nvPr/>
          </p:nvSpPr>
          <p:spPr>
            <a:xfrm>
              <a:off x="6716011" y="2269326"/>
              <a:ext cx="1647189" cy="398145"/>
            </a:xfrm>
            <a:custGeom>
              <a:rect b="b" l="l" r="r" t="t"/>
              <a:pathLst>
                <a:path extrusionOk="0" h="398144" w="1647190">
                  <a:moveTo>
                    <a:pt x="0" y="397675"/>
                  </a:moveTo>
                  <a:lnTo>
                    <a:pt x="1647192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5" name="Google Shape;75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46294" y="2229214"/>
              <a:ext cx="110470" cy="802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2"/>
            <p:cNvSpPr/>
            <p:nvPr/>
          </p:nvSpPr>
          <p:spPr>
            <a:xfrm>
              <a:off x="6692317" y="2671082"/>
              <a:ext cx="1647189" cy="31115"/>
            </a:xfrm>
            <a:custGeom>
              <a:rect b="b" l="l" r="r" t="t"/>
              <a:pathLst>
                <a:path extrusionOk="0" h="31114" w="1647190">
                  <a:moveTo>
                    <a:pt x="0" y="0"/>
                  </a:moveTo>
                  <a:lnTo>
                    <a:pt x="1647019" y="30858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7" name="Google Shape;77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329222" y="2660956"/>
              <a:ext cx="106074" cy="819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6716011" y="2672442"/>
              <a:ext cx="1628139" cy="478155"/>
            </a:xfrm>
            <a:custGeom>
              <a:rect b="b" l="l" r="r" t="t"/>
              <a:pathLst>
                <a:path extrusionOk="0" h="478155" w="1628140">
                  <a:moveTo>
                    <a:pt x="0" y="0"/>
                  </a:moveTo>
                  <a:lnTo>
                    <a:pt x="1627920" y="477527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325551" y="3110251"/>
              <a:ext cx="110861" cy="79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2"/>
            <p:cNvSpPr/>
            <p:nvPr/>
          </p:nvSpPr>
          <p:spPr>
            <a:xfrm>
              <a:off x="7492842" y="1573313"/>
              <a:ext cx="0" cy="555625"/>
            </a:xfrm>
            <a:custGeom>
              <a:rect b="b" l="l" r="r" t="t"/>
              <a:pathLst>
                <a:path extrusionOk="0" h="555625" w="120000">
                  <a:moveTo>
                    <a:pt x="0" y="0"/>
                  </a:moveTo>
                  <a:lnTo>
                    <a:pt x="0" y="554999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51852" y="2118788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2"/>
          <p:cNvSpPr txBox="1"/>
          <p:nvPr/>
        </p:nvSpPr>
        <p:spPr>
          <a:xfrm>
            <a:off x="8547327" y="2047230"/>
            <a:ext cx="57023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RLHF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DPO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8526575" y="3035556"/>
            <a:ext cx="1165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Unlearning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9174225" y="2566702"/>
            <a:ext cx="29187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Rafailov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0025038" y="3077604"/>
            <a:ext cx="22689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Yao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9277687" y="2069150"/>
            <a:ext cx="21948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Bai et al. (2022)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3760326" y="901503"/>
            <a:ext cx="1404620" cy="620395"/>
          </a:xfrm>
          <a:custGeom>
            <a:rect b="b" l="l" r="r" t="t"/>
            <a:pathLst>
              <a:path extrusionOk="0" h="620394" w="1404620">
                <a:moveTo>
                  <a:pt x="1300897" y="620399"/>
                </a:moveTo>
                <a:lnTo>
                  <a:pt x="103401" y="620399"/>
                </a:lnTo>
                <a:lnTo>
                  <a:pt x="63153" y="612274"/>
                </a:lnTo>
                <a:lnTo>
                  <a:pt x="30285" y="590114"/>
                </a:lnTo>
                <a:lnTo>
                  <a:pt x="8125" y="557246"/>
                </a:lnTo>
                <a:lnTo>
                  <a:pt x="0" y="516997"/>
                </a:lnTo>
                <a:lnTo>
                  <a:pt x="0" y="103402"/>
                </a:lnTo>
                <a:lnTo>
                  <a:pt x="8125" y="63153"/>
                </a:lnTo>
                <a:lnTo>
                  <a:pt x="30285" y="30285"/>
                </a:lnTo>
                <a:lnTo>
                  <a:pt x="63153" y="8125"/>
                </a:lnTo>
                <a:lnTo>
                  <a:pt x="103401" y="0"/>
                </a:lnTo>
                <a:lnTo>
                  <a:pt x="1300897" y="0"/>
                </a:lnTo>
                <a:lnTo>
                  <a:pt x="1340467" y="7870"/>
                </a:lnTo>
                <a:lnTo>
                  <a:pt x="1374013" y="30285"/>
                </a:lnTo>
                <a:lnTo>
                  <a:pt x="1396428" y="63831"/>
                </a:lnTo>
                <a:lnTo>
                  <a:pt x="1404299" y="103402"/>
                </a:lnTo>
                <a:lnTo>
                  <a:pt x="1404299" y="516997"/>
                </a:lnTo>
                <a:lnTo>
                  <a:pt x="1396174" y="557246"/>
                </a:lnTo>
                <a:lnTo>
                  <a:pt x="1374014" y="590114"/>
                </a:lnTo>
                <a:lnTo>
                  <a:pt x="1341146" y="612274"/>
                </a:lnTo>
                <a:lnTo>
                  <a:pt x="1300897" y="620399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3934869" y="884042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921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What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5401571" y="2504030"/>
            <a:ext cx="10845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Alignment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604594" y="901503"/>
            <a:ext cx="1376680" cy="620395"/>
          </a:xfrm>
          <a:custGeom>
            <a:rect b="b" l="l" r="r" t="t"/>
            <a:pathLst>
              <a:path extrusionOk="0" h="620394" w="1376680">
                <a:moveTo>
                  <a:pt x="1272997" y="620399"/>
                </a:moveTo>
                <a:lnTo>
                  <a:pt x="103402" y="620399"/>
                </a:lnTo>
                <a:lnTo>
                  <a:pt x="63153" y="612274"/>
                </a:lnTo>
                <a:lnTo>
                  <a:pt x="30285" y="590114"/>
                </a:lnTo>
                <a:lnTo>
                  <a:pt x="8125" y="557246"/>
                </a:lnTo>
                <a:lnTo>
                  <a:pt x="0" y="516997"/>
                </a:lnTo>
                <a:lnTo>
                  <a:pt x="0" y="103402"/>
                </a:lnTo>
                <a:lnTo>
                  <a:pt x="8125" y="63153"/>
                </a:lnTo>
                <a:lnTo>
                  <a:pt x="30285" y="30285"/>
                </a:lnTo>
                <a:lnTo>
                  <a:pt x="63153" y="8125"/>
                </a:lnTo>
                <a:lnTo>
                  <a:pt x="103402" y="0"/>
                </a:lnTo>
                <a:lnTo>
                  <a:pt x="1272997" y="0"/>
                </a:lnTo>
                <a:lnTo>
                  <a:pt x="1312568" y="7870"/>
                </a:lnTo>
                <a:lnTo>
                  <a:pt x="1346114" y="30285"/>
                </a:lnTo>
                <a:lnTo>
                  <a:pt x="1368529" y="63831"/>
                </a:lnTo>
                <a:lnTo>
                  <a:pt x="1376399" y="103402"/>
                </a:lnTo>
                <a:lnTo>
                  <a:pt x="1376399" y="516997"/>
                </a:lnTo>
                <a:lnTo>
                  <a:pt x="1368274" y="557246"/>
                </a:lnTo>
                <a:lnTo>
                  <a:pt x="1346114" y="590114"/>
                </a:lnTo>
                <a:lnTo>
                  <a:pt x="1313246" y="612274"/>
                </a:lnTo>
                <a:lnTo>
                  <a:pt x="1272997" y="620399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765188" y="884042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889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When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2065275" y="2514081"/>
            <a:ext cx="14268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Training Time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4360309" y="1607049"/>
            <a:ext cx="81980" cy="650975"/>
            <a:chOff x="4360309" y="1607049"/>
            <a:chExt cx="81980" cy="650975"/>
          </a:xfrm>
        </p:grpSpPr>
        <p:sp>
          <p:nvSpPr>
            <p:cNvPr id="94" name="Google Shape;94;p2"/>
            <p:cNvSpPr/>
            <p:nvPr/>
          </p:nvSpPr>
          <p:spPr>
            <a:xfrm>
              <a:off x="4401299" y="1607049"/>
              <a:ext cx="0" cy="555625"/>
            </a:xfrm>
            <a:custGeom>
              <a:rect b="b" l="l" r="r" t="t"/>
              <a:pathLst>
                <a:path extrusionOk="0" h="555625" w="120000">
                  <a:moveTo>
                    <a:pt x="0" y="0"/>
                  </a:moveTo>
                  <a:lnTo>
                    <a:pt x="0" y="554999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5" name="Google Shape;95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360309" y="2152524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2"/>
          <p:cNvGrpSpPr/>
          <p:nvPr/>
        </p:nvGrpSpPr>
        <p:grpSpPr>
          <a:xfrm>
            <a:off x="1159909" y="1607049"/>
            <a:ext cx="81980" cy="650975"/>
            <a:chOff x="1159909" y="1607049"/>
            <a:chExt cx="81980" cy="650975"/>
          </a:xfrm>
        </p:grpSpPr>
        <p:sp>
          <p:nvSpPr>
            <p:cNvPr id="97" name="Google Shape;97;p2"/>
            <p:cNvSpPr/>
            <p:nvPr/>
          </p:nvSpPr>
          <p:spPr>
            <a:xfrm>
              <a:off x="1200900" y="1607049"/>
              <a:ext cx="0" cy="555625"/>
            </a:xfrm>
            <a:custGeom>
              <a:rect b="b" l="l" r="r" t="t"/>
              <a:pathLst>
                <a:path extrusionOk="0" h="555625" w="120000">
                  <a:moveTo>
                    <a:pt x="0" y="0"/>
                  </a:moveTo>
                  <a:lnTo>
                    <a:pt x="0" y="554999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" name="Google Shape;98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59909" y="2152524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2"/>
          <p:cNvSpPr txBox="1"/>
          <p:nvPr/>
        </p:nvSpPr>
        <p:spPr>
          <a:xfrm>
            <a:off x="38549" y="3483281"/>
            <a:ext cx="8693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LLM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Defense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3864324" y="4437326"/>
            <a:ext cx="1442378" cy="81973"/>
            <a:chOff x="3864324" y="4437326"/>
            <a:chExt cx="1442378" cy="81973"/>
          </a:xfrm>
        </p:grpSpPr>
        <p:sp>
          <p:nvSpPr>
            <p:cNvPr id="101" name="Google Shape;101;p2"/>
            <p:cNvSpPr/>
            <p:nvPr/>
          </p:nvSpPr>
          <p:spPr>
            <a:xfrm>
              <a:off x="3864324" y="4478313"/>
              <a:ext cx="1346835" cy="20320"/>
            </a:xfrm>
            <a:custGeom>
              <a:rect b="b" l="l" r="r" t="t"/>
              <a:pathLst>
                <a:path extrusionOk="0" h="20320" w="1346835">
                  <a:moveTo>
                    <a:pt x="0" y="20186"/>
                  </a:moveTo>
                  <a:lnTo>
                    <a:pt x="1346412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200740" y="4437326"/>
              <a:ext cx="105962" cy="819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2"/>
          <p:cNvSpPr txBox="1"/>
          <p:nvPr/>
        </p:nvSpPr>
        <p:spPr>
          <a:xfrm>
            <a:off x="5398049" y="4308206"/>
            <a:ext cx="8794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Filtering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6520679" y="4468679"/>
            <a:ext cx="1766975" cy="1112906"/>
            <a:chOff x="6520679" y="4468679"/>
            <a:chExt cx="1766975" cy="1112906"/>
          </a:xfrm>
        </p:grpSpPr>
        <p:sp>
          <p:nvSpPr>
            <p:cNvPr id="105" name="Google Shape;105;p2"/>
            <p:cNvSpPr/>
            <p:nvPr/>
          </p:nvSpPr>
          <p:spPr>
            <a:xfrm>
              <a:off x="6520679" y="4509669"/>
              <a:ext cx="1671320" cy="0"/>
            </a:xfrm>
            <a:custGeom>
              <a:rect b="b" l="l" r="r" t="t"/>
              <a:pathLst>
                <a:path extrusionOk="0" h="120000" w="1671320">
                  <a:moveTo>
                    <a:pt x="0" y="0"/>
                  </a:moveTo>
                  <a:lnTo>
                    <a:pt x="1670999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6" name="Google Shape;106;p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182154" y="4468679"/>
              <a:ext cx="105500" cy="819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2"/>
            <p:cNvSpPr/>
            <p:nvPr/>
          </p:nvSpPr>
          <p:spPr>
            <a:xfrm>
              <a:off x="6520679" y="4522167"/>
              <a:ext cx="1524000" cy="1029335"/>
            </a:xfrm>
            <a:custGeom>
              <a:rect b="b" l="l" r="r" t="t"/>
              <a:pathLst>
                <a:path extrusionOk="0" h="1029335" w="1524000">
                  <a:moveTo>
                    <a:pt x="3659" y="0"/>
                  </a:moveTo>
                  <a:lnTo>
                    <a:pt x="3659" y="1029299"/>
                  </a:lnTo>
                </a:path>
                <a:path extrusionOk="0" h="1029335" w="1524000">
                  <a:moveTo>
                    <a:pt x="0" y="1018426"/>
                  </a:moveTo>
                  <a:lnTo>
                    <a:pt x="1523699" y="1018426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" name="Google Shape;108;p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034854" y="5499604"/>
              <a:ext cx="105500" cy="819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2"/>
          <p:cNvSpPr txBox="1"/>
          <p:nvPr/>
        </p:nvSpPr>
        <p:spPr>
          <a:xfrm>
            <a:off x="8417351" y="4341255"/>
            <a:ext cx="2095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Input Preprocessing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0061976" y="4735800"/>
            <a:ext cx="22320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Kumar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329777" y="5344755"/>
            <a:ext cx="2209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Response processing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9933150" y="5788029"/>
            <a:ext cx="21942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Robey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" name="Google Shape;113;p2"/>
          <p:cNvSpPr txBox="1"/>
          <p:nvPr>
            <p:ph type="title"/>
          </p:nvPr>
        </p:nvSpPr>
        <p:spPr>
          <a:xfrm>
            <a:off x="3742600" y="-39225"/>
            <a:ext cx="47301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Roadmap for Defenses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3729184" y="6519789"/>
            <a:ext cx="47351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Tahoma"/>
                <a:ea typeface="Tahoma"/>
                <a:cs typeface="Tahoma"/>
                <a:sym typeface="Tahoma"/>
              </a:rPr>
              <a:t>Defenses against Adversarial attacks on LLMs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5" name="Google Shape;115;p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6816814" y="901503"/>
            <a:ext cx="1404620" cy="621030"/>
          </a:xfrm>
          <a:custGeom>
            <a:rect b="b" l="l" r="r" t="t"/>
            <a:pathLst>
              <a:path extrusionOk="0" h="621030" w="1404620">
                <a:moveTo>
                  <a:pt x="1300840" y="620485"/>
                </a:moveTo>
                <a:lnTo>
                  <a:pt x="103416" y="620485"/>
                </a:lnTo>
                <a:lnTo>
                  <a:pt x="63162" y="612359"/>
                </a:lnTo>
                <a:lnTo>
                  <a:pt x="30290" y="590196"/>
                </a:lnTo>
                <a:lnTo>
                  <a:pt x="8127" y="557323"/>
                </a:lnTo>
                <a:lnTo>
                  <a:pt x="0" y="517069"/>
                </a:lnTo>
                <a:lnTo>
                  <a:pt x="0" y="103416"/>
                </a:lnTo>
                <a:lnTo>
                  <a:pt x="8127" y="63162"/>
                </a:lnTo>
                <a:lnTo>
                  <a:pt x="30290" y="30289"/>
                </a:lnTo>
                <a:lnTo>
                  <a:pt x="63162" y="8126"/>
                </a:lnTo>
                <a:lnTo>
                  <a:pt x="103416" y="0"/>
                </a:lnTo>
                <a:lnTo>
                  <a:pt x="1300840" y="0"/>
                </a:lnTo>
                <a:lnTo>
                  <a:pt x="1340416" y="7872"/>
                </a:lnTo>
                <a:lnTo>
                  <a:pt x="1373966" y="30289"/>
                </a:lnTo>
                <a:lnTo>
                  <a:pt x="1396384" y="63840"/>
                </a:lnTo>
                <a:lnTo>
                  <a:pt x="1404256" y="103416"/>
                </a:lnTo>
                <a:lnTo>
                  <a:pt x="1404256" y="517069"/>
                </a:lnTo>
                <a:lnTo>
                  <a:pt x="1396130" y="557323"/>
                </a:lnTo>
                <a:lnTo>
                  <a:pt x="1373967" y="590196"/>
                </a:lnTo>
                <a:lnTo>
                  <a:pt x="1341094" y="612359"/>
                </a:lnTo>
                <a:lnTo>
                  <a:pt x="1300840" y="620485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991336" y="884085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1683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How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2" name="Google Shape;122;p3"/>
          <p:cNvGrpSpPr/>
          <p:nvPr/>
        </p:nvGrpSpPr>
        <p:grpSpPr>
          <a:xfrm>
            <a:off x="6692317" y="1573313"/>
            <a:ext cx="1764428" cy="1616418"/>
            <a:chOff x="6692317" y="1573313"/>
            <a:chExt cx="1764428" cy="1616418"/>
          </a:xfrm>
        </p:grpSpPr>
        <p:sp>
          <p:nvSpPr>
            <p:cNvPr id="123" name="Google Shape;123;p3"/>
            <p:cNvSpPr/>
            <p:nvPr/>
          </p:nvSpPr>
          <p:spPr>
            <a:xfrm>
              <a:off x="6716011" y="2269375"/>
              <a:ext cx="1647189" cy="398145"/>
            </a:xfrm>
            <a:custGeom>
              <a:rect b="b" l="l" r="r" t="t"/>
              <a:pathLst>
                <a:path extrusionOk="0" h="398144" w="1647190">
                  <a:moveTo>
                    <a:pt x="0" y="397626"/>
                  </a:moveTo>
                  <a:lnTo>
                    <a:pt x="1647172" y="0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" name="Google Shape;124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46275" y="2229263"/>
              <a:ext cx="110470" cy="802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3"/>
            <p:cNvSpPr/>
            <p:nvPr/>
          </p:nvSpPr>
          <p:spPr>
            <a:xfrm>
              <a:off x="6692317" y="2671082"/>
              <a:ext cx="1647189" cy="31115"/>
            </a:xfrm>
            <a:custGeom>
              <a:rect b="b" l="l" r="r" t="t"/>
              <a:pathLst>
                <a:path extrusionOk="0" h="31114" w="1647190">
                  <a:moveTo>
                    <a:pt x="0" y="0"/>
                  </a:moveTo>
                  <a:lnTo>
                    <a:pt x="1646950" y="30904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29152" y="2661002"/>
              <a:ext cx="106075" cy="819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3"/>
            <p:cNvSpPr/>
            <p:nvPr/>
          </p:nvSpPr>
          <p:spPr>
            <a:xfrm>
              <a:off x="6716011" y="2672442"/>
              <a:ext cx="1628139" cy="478155"/>
            </a:xfrm>
            <a:custGeom>
              <a:rect b="b" l="l" r="r" t="t"/>
              <a:pathLst>
                <a:path extrusionOk="0" h="478155" w="1628140">
                  <a:moveTo>
                    <a:pt x="0" y="0"/>
                  </a:moveTo>
                  <a:lnTo>
                    <a:pt x="1627858" y="477571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8" name="Google Shape;128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5487" y="3110296"/>
              <a:ext cx="110862" cy="794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3"/>
            <p:cNvSpPr/>
            <p:nvPr/>
          </p:nvSpPr>
          <p:spPr>
            <a:xfrm>
              <a:off x="7492842" y="1573313"/>
              <a:ext cx="0" cy="554990"/>
            </a:xfrm>
            <a:custGeom>
              <a:rect b="b" l="l" r="r" t="t"/>
              <a:pathLst>
                <a:path extrusionOk="0" h="554989" w="120000">
                  <a:moveTo>
                    <a:pt x="0" y="0"/>
                  </a:moveTo>
                  <a:lnTo>
                    <a:pt x="0" y="554939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0" name="Google Shape;130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51852" y="2118728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3"/>
          <p:cNvSpPr txBox="1"/>
          <p:nvPr/>
        </p:nvSpPr>
        <p:spPr>
          <a:xfrm>
            <a:off x="8547327" y="2047230"/>
            <a:ext cx="57023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RLHF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DPO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8526575" y="3035556"/>
            <a:ext cx="1165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Unlearning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174225" y="2566702"/>
            <a:ext cx="40017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Rafailov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0340814" y="3077604"/>
            <a:ext cx="31110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Yao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316087" y="2069150"/>
            <a:ext cx="30096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Bai et al. (2022)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760326" y="901503"/>
            <a:ext cx="1404620" cy="620395"/>
          </a:xfrm>
          <a:custGeom>
            <a:rect b="b" l="l" r="r" t="t"/>
            <a:pathLst>
              <a:path extrusionOk="0" h="620394" w="1404620">
                <a:moveTo>
                  <a:pt x="1300897" y="620399"/>
                </a:moveTo>
                <a:lnTo>
                  <a:pt x="103401" y="620399"/>
                </a:lnTo>
                <a:lnTo>
                  <a:pt x="63153" y="612274"/>
                </a:lnTo>
                <a:lnTo>
                  <a:pt x="30285" y="590114"/>
                </a:lnTo>
                <a:lnTo>
                  <a:pt x="8125" y="557246"/>
                </a:lnTo>
                <a:lnTo>
                  <a:pt x="0" y="516997"/>
                </a:lnTo>
                <a:lnTo>
                  <a:pt x="0" y="103402"/>
                </a:lnTo>
                <a:lnTo>
                  <a:pt x="8125" y="63153"/>
                </a:lnTo>
                <a:lnTo>
                  <a:pt x="30285" y="30285"/>
                </a:lnTo>
                <a:lnTo>
                  <a:pt x="63153" y="8125"/>
                </a:lnTo>
                <a:lnTo>
                  <a:pt x="103401" y="0"/>
                </a:lnTo>
                <a:lnTo>
                  <a:pt x="1300897" y="0"/>
                </a:lnTo>
                <a:lnTo>
                  <a:pt x="1340467" y="7870"/>
                </a:lnTo>
                <a:lnTo>
                  <a:pt x="1374013" y="30285"/>
                </a:lnTo>
                <a:lnTo>
                  <a:pt x="1396428" y="63831"/>
                </a:lnTo>
                <a:lnTo>
                  <a:pt x="1404299" y="103402"/>
                </a:lnTo>
                <a:lnTo>
                  <a:pt x="1404299" y="516997"/>
                </a:lnTo>
                <a:lnTo>
                  <a:pt x="1396174" y="557246"/>
                </a:lnTo>
                <a:lnTo>
                  <a:pt x="1374014" y="590114"/>
                </a:lnTo>
                <a:lnTo>
                  <a:pt x="1341146" y="612274"/>
                </a:lnTo>
                <a:lnTo>
                  <a:pt x="1300897" y="620399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3934869" y="884042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921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What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8" name="Google Shape;138;p3"/>
          <p:cNvGrpSpPr/>
          <p:nvPr/>
        </p:nvGrpSpPr>
        <p:grpSpPr>
          <a:xfrm>
            <a:off x="3777550" y="2652313"/>
            <a:ext cx="1515876" cy="81979"/>
            <a:chOff x="3777550" y="2652313"/>
            <a:chExt cx="1515876" cy="81979"/>
          </a:xfrm>
        </p:grpSpPr>
        <p:sp>
          <p:nvSpPr>
            <p:cNvPr id="139" name="Google Shape;139;p3"/>
            <p:cNvSpPr/>
            <p:nvPr/>
          </p:nvSpPr>
          <p:spPr>
            <a:xfrm>
              <a:off x="3777550" y="2682475"/>
              <a:ext cx="1420495" cy="11430"/>
            </a:xfrm>
            <a:custGeom>
              <a:rect b="b" l="l" r="r" t="t"/>
              <a:pathLst>
                <a:path extrusionOk="0" h="11430" w="1420495">
                  <a:moveTo>
                    <a:pt x="0" y="0"/>
                  </a:moveTo>
                  <a:lnTo>
                    <a:pt x="1419903" y="10828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" name="Google Shape;140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87688" y="2652313"/>
              <a:ext cx="105738" cy="819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3"/>
          <p:cNvSpPr txBox="1"/>
          <p:nvPr/>
        </p:nvSpPr>
        <p:spPr>
          <a:xfrm>
            <a:off x="5477771" y="2504030"/>
            <a:ext cx="10845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Alignment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2" name="Google Shape;142;p3"/>
          <p:cNvGrpSpPr/>
          <p:nvPr/>
        </p:nvGrpSpPr>
        <p:grpSpPr>
          <a:xfrm>
            <a:off x="910149" y="2692144"/>
            <a:ext cx="1071446" cy="1019701"/>
            <a:chOff x="910149" y="2692144"/>
            <a:chExt cx="1071446" cy="1019701"/>
          </a:xfrm>
        </p:grpSpPr>
        <p:sp>
          <p:nvSpPr>
            <p:cNvPr id="143" name="Google Shape;143;p3"/>
            <p:cNvSpPr/>
            <p:nvPr/>
          </p:nvSpPr>
          <p:spPr>
            <a:xfrm>
              <a:off x="910149" y="2761251"/>
              <a:ext cx="999490" cy="950594"/>
            </a:xfrm>
            <a:custGeom>
              <a:rect b="b" l="l" r="r" t="t"/>
              <a:pathLst>
                <a:path extrusionOk="0" h="950595" w="999489">
                  <a:moveTo>
                    <a:pt x="0" y="950523"/>
                  </a:moveTo>
                  <a:lnTo>
                    <a:pt x="999282" y="0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4" name="Google Shape;144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78220" y="2692144"/>
              <a:ext cx="103375" cy="1014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3"/>
          <p:cNvSpPr/>
          <p:nvPr/>
        </p:nvSpPr>
        <p:spPr>
          <a:xfrm>
            <a:off x="604594" y="901503"/>
            <a:ext cx="1376680" cy="620395"/>
          </a:xfrm>
          <a:custGeom>
            <a:rect b="b" l="l" r="r" t="t"/>
            <a:pathLst>
              <a:path extrusionOk="0" h="620394" w="1376680">
                <a:moveTo>
                  <a:pt x="1272997" y="620399"/>
                </a:moveTo>
                <a:lnTo>
                  <a:pt x="103402" y="620399"/>
                </a:lnTo>
                <a:lnTo>
                  <a:pt x="63153" y="612274"/>
                </a:lnTo>
                <a:lnTo>
                  <a:pt x="30285" y="590114"/>
                </a:lnTo>
                <a:lnTo>
                  <a:pt x="8125" y="557246"/>
                </a:lnTo>
                <a:lnTo>
                  <a:pt x="0" y="516997"/>
                </a:lnTo>
                <a:lnTo>
                  <a:pt x="0" y="103402"/>
                </a:lnTo>
                <a:lnTo>
                  <a:pt x="8125" y="63153"/>
                </a:lnTo>
                <a:lnTo>
                  <a:pt x="30285" y="30285"/>
                </a:lnTo>
                <a:lnTo>
                  <a:pt x="63153" y="8125"/>
                </a:lnTo>
                <a:lnTo>
                  <a:pt x="103402" y="0"/>
                </a:lnTo>
                <a:lnTo>
                  <a:pt x="1272997" y="0"/>
                </a:lnTo>
                <a:lnTo>
                  <a:pt x="1312568" y="7870"/>
                </a:lnTo>
                <a:lnTo>
                  <a:pt x="1346114" y="30285"/>
                </a:lnTo>
                <a:lnTo>
                  <a:pt x="1368529" y="63831"/>
                </a:lnTo>
                <a:lnTo>
                  <a:pt x="1376399" y="103402"/>
                </a:lnTo>
                <a:lnTo>
                  <a:pt x="1376399" y="516997"/>
                </a:lnTo>
                <a:lnTo>
                  <a:pt x="1368274" y="557246"/>
                </a:lnTo>
                <a:lnTo>
                  <a:pt x="1346114" y="590114"/>
                </a:lnTo>
                <a:lnTo>
                  <a:pt x="1313246" y="612274"/>
                </a:lnTo>
                <a:lnTo>
                  <a:pt x="1272997" y="620399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765188" y="884042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889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When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2065275" y="2514081"/>
            <a:ext cx="14268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Training Time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8" name="Google Shape;148;p3"/>
          <p:cNvGrpSpPr/>
          <p:nvPr/>
        </p:nvGrpSpPr>
        <p:grpSpPr>
          <a:xfrm>
            <a:off x="4360309" y="1607049"/>
            <a:ext cx="81980" cy="650975"/>
            <a:chOff x="4360309" y="1607049"/>
            <a:chExt cx="81980" cy="650975"/>
          </a:xfrm>
        </p:grpSpPr>
        <p:sp>
          <p:nvSpPr>
            <p:cNvPr id="149" name="Google Shape;149;p3"/>
            <p:cNvSpPr/>
            <p:nvPr/>
          </p:nvSpPr>
          <p:spPr>
            <a:xfrm>
              <a:off x="4401299" y="1607049"/>
              <a:ext cx="0" cy="555625"/>
            </a:xfrm>
            <a:custGeom>
              <a:rect b="b" l="l" r="r" t="t"/>
              <a:pathLst>
                <a:path extrusionOk="0" h="555625" w="120000">
                  <a:moveTo>
                    <a:pt x="0" y="0"/>
                  </a:moveTo>
                  <a:lnTo>
                    <a:pt x="0" y="554999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0" name="Google Shape;150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60309" y="2152524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3"/>
          <p:cNvGrpSpPr/>
          <p:nvPr/>
        </p:nvGrpSpPr>
        <p:grpSpPr>
          <a:xfrm>
            <a:off x="1159909" y="1607049"/>
            <a:ext cx="81980" cy="650975"/>
            <a:chOff x="1159909" y="1607049"/>
            <a:chExt cx="81980" cy="650975"/>
          </a:xfrm>
        </p:grpSpPr>
        <p:sp>
          <p:nvSpPr>
            <p:cNvPr id="152" name="Google Shape;152;p3"/>
            <p:cNvSpPr/>
            <p:nvPr/>
          </p:nvSpPr>
          <p:spPr>
            <a:xfrm>
              <a:off x="1200900" y="1607049"/>
              <a:ext cx="0" cy="555625"/>
            </a:xfrm>
            <a:custGeom>
              <a:rect b="b" l="l" r="r" t="t"/>
              <a:pathLst>
                <a:path extrusionOk="0" h="555625" w="120000">
                  <a:moveTo>
                    <a:pt x="0" y="0"/>
                  </a:moveTo>
                  <a:lnTo>
                    <a:pt x="0" y="554999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59909" y="2152524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3"/>
          <p:cNvSpPr txBox="1"/>
          <p:nvPr/>
        </p:nvSpPr>
        <p:spPr>
          <a:xfrm>
            <a:off x="38549" y="3483281"/>
            <a:ext cx="8693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LLM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Defense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3"/>
          <p:cNvSpPr txBox="1"/>
          <p:nvPr>
            <p:ph type="title"/>
          </p:nvPr>
        </p:nvSpPr>
        <p:spPr>
          <a:xfrm>
            <a:off x="3742600" y="-39225"/>
            <a:ext cx="47301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Roadmap for Defenses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3729184" y="6519789"/>
            <a:ext cx="47351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Tahoma"/>
                <a:ea typeface="Tahoma"/>
                <a:cs typeface="Tahoma"/>
                <a:sym typeface="Tahoma"/>
              </a:rPr>
              <a:t>Defenses against Adversarial attacks on LLMs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7" name="Google Shape;157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527" y="690455"/>
            <a:ext cx="280943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688527" y="1715070"/>
            <a:ext cx="10920095" cy="896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rPr>
              <a:t>Overview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247015" lvl="0" marL="259715" rtl="0" algn="l">
              <a:lnSpc>
                <a:spcPct val="100000"/>
              </a:lnSpc>
              <a:spcBef>
                <a:spcPts val="158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Penalizes the model when it generates responses that are similar to the undesirable outputs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0096475" y="16256"/>
            <a:ext cx="16490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  <a:latin typeface="Tahoma"/>
                <a:ea typeface="Tahoma"/>
                <a:cs typeface="Tahoma"/>
                <a:sym typeface="Tahoma"/>
              </a:rPr>
              <a:t>Yao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77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Large Language Model Unlearning</a:t>
            </a:r>
            <a:endParaRPr sz="3200"/>
          </a:p>
        </p:txBody>
      </p:sp>
      <p:pic>
        <p:nvPicPr>
          <p:cNvPr id="166" name="Google Shape;1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464" y="2929914"/>
            <a:ext cx="11542285" cy="273939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650423" y="5975704"/>
            <a:ext cx="971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Defense Category: Training time -&gt; Alignment -&gt; Unlearning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8" name="Google Shape;168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527" y="690455"/>
            <a:ext cx="280943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>
            <p:ph idx="1" type="body"/>
          </p:nvPr>
        </p:nvSpPr>
        <p:spPr>
          <a:xfrm>
            <a:off x="764267" y="1715070"/>
            <a:ext cx="10571480" cy="289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</a:t>
            </a:r>
            <a:endParaRPr/>
          </a:p>
          <a:p>
            <a:pPr indent="0" lvl="0" marL="50800" rtl="0" algn="l">
              <a:lnSpc>
                <a:spcPct val="100000"/>
              </a:lnSpc>
              <a:spcBef>
                <a:spcPts val="2385"/>
              </a:spcBef>
              <a:spcAft>
                <a:spcPts val="0"/>
              </a:spcAft>
              <a:buNone/>
            </a:pPr>
            <a:r>
              <a:rPr lang="en-US" sz="2100"/>
              <a:t>Gradient Ascent (GA)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247015" lvl="0" marL="297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Update the model by following the opposite direction of the gradient of the loss function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3DA5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08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100"/>
              <a:t>Mismatch</a:t>
            </a:r>
            <a:endParaRPr sz="2100"/>
          </a:p>
          <a:p>
            <a:pPr indent="-247015" lvl="0" marL="297815" rtl="0" algn="l">
              <a:lnSpc>
                <a:spcPct val="100000"/>
              </a:lnSpc>
              <a:spcBef>
                <a:spcPts val="204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Introduces data that is intentionally unrelated or mismatched with the original prompts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650430" y="5975689"/>
            <a:ext cx="678370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Defense Category: Training time -&gt; Alignment -&gt; Unlearning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6" name="Google Shape;176;p7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77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Large Language Model Unlearning</a:t>
            </a:r>
            <a:endParaRPr sz="3200"/>
          </a:p>
        </p:txBody>
      </p:sp>
      <p:sp>
        <p:nvSpPr>
          <p:cNvPr id="177" name="Google Shape;177;p7"/>
          <p:cNvSpPr txBox="1"/>
          <p:nvPr/>
        </p:nvSpPr>
        <p:spPr>
          <a:xfrm>
            <a:off x="10096475" y="16256"/>
            <a:ext cx="16490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  <a:latin typeface="Tahoma"/>
                <a:ea typeface="Tahoma"/>
                <a:cs typeface="Tahoma"/>
                <a:sym typeface="Tahoma"/>
              </a:rPr>
              <a:t>Yao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8" name="Google Shape;17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527" y="690455"/>
            <a:ext cx="280945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377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Large Language Model Unlearning</a:t>
            </a:r>
            <a:endParaRPr sz="3200"/>
          </a:p>
        </p:txBody>
      </p:sp>
      <p:sp>
        <p:nvSpPr>
          <p:cNvPr id="185" name="Google Shape;185;p8"/>
          <p:cNvSpPr txBox="1"/>
          <p:nvPr/>
        </p:nvSpPr>
        <p:spPr>
          <a:xfrm>
            <a:off x="650423" y="6280503"/>
            <a:ext cx="944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Defense Category: Training time -&gt; Alignment -&gt; Unlearning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764267" y="1486470"/>
            <a:ext cx="111823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rPr>
              <a:t>Results: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87" name="Google Shape;187;p8"/>
          <p:cNvGraphicFramePr/>
          <p:nvPr/>
        </p:nvGraphicFramePr>
        <p:xfrm>
          <a:off x="958238" y="2145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{13C8E743-F6EA-44B3-922D-08D99B337A7F}</a:tableStyleId>
              </a:tblPr>
              <a:tblGrid>
                <a:gridCol w="1666250"/>
                <a:gridCol w="2834000"/>
                <a:gridCol w="2813675"/>
                <a:gridCol w="3366775"/>
              </a:tblGrid>
              <a:tr h="1043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Method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98475" marR="49021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Harmful rate on Unseen harmful Prompts </a:t>
                      </a: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(↓)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9870" marR="22034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leak Rate on Unseen Extraction Attempts </a:t>
                      </a: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(↓)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-635" lvl="0" marL="100330" marR="908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Hallucination rate on Unseen Misleading (In-dist) Question  </a:t>
                      </a: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(↓)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original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51.5%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81%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45.5%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Fine Tuning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52.5%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81%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43.5%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GA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1%</a:t>
                      </a:r>
                      <a:endParaRPr sz="1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0%</a:t>
                      </a:r>
                      <a:endParaRPr sz="1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8.5%</a:t>
                      </a:r>
                      <a:endParaRPr sz="1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695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GA +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Mismatch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3%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1%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8.5%</a:t>
                      </a:r>
                      <a:endParaRPr sz="1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8"/>
          <p:cNvSpPr txBox="1"/>
          <p:nvPr/>
        </p:nvSpPr>
        <p:spPr>
          <a:xfrm>
            <a:off x="3787630" y="5772506"/>
            <a:ext cx="45631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Table 1: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Experiment results for Llama-2 (7B)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10096475" y="16256"/>
            <a:ext cx="16490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  <a:latin typeface="Tahoma"/>
                <a:ea typeface="Tahoma"/>
                <a:cs typeface="Tahoma"/>
                <a:sym typeface="Tahoma"/>
              </a:rPr>
              <a:t>Yao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0" name="Google Shape;19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/>
        </p:nvSpPr>
        <p:spPr>
          <a:xfrm>
            <a:off x="2053931" y="4330056"/>
            <a:ext cx="15627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Inference Time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6" name="Google Shape;196;p9"/>
          <p:cNvGrpSpPr/>
          <p:nvPr/>
        </p:nvGrpSpPr>
        <p:grpSpPr>
          <a:xfrm>
            <a:off x="910149" y="2692144"/>
            <a:ext cx="1071446" cy="1799342"/>
            <a:chOff x="910149" y="2692144"/>
            <a:chExt cx="1071446" cy="1799342"/>
          </a:xfrm>
        </p:grpSpPr>
        <p:sp>
          <p:nvSpPr>
            <p:cNvPr id="197" name="Google Shape;197;p9"/>
            <p:cNvSpPr/>
            <p:nvPr/>
          </p:nvSpPr>
          <p:spPr>
            <a:xfrm>
              <a:off x="910206" y="3711849"/>
              <a:ext cx="979169" cy="719455"/>
            </a:xfrm>
            <a:custGeom>
              <a:rect b="b" l="l" r="r" t="t"/>
              <a:pathLst>
                <a:path extrusionOk="0" h="719454" w="979169">
                  <a:moveTo>
                    <a:pt x="0" y="0"/>
                  </a:moveTo>
                  <a:lnTo>
                    <a:pt x="978586" y="718927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8" name="Google Shape;19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60638" y="4395895"/>
              <a:ext cx="107349" cy="955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9"/>
            <p:cNvSpPr/>
            <p:nvPr/>
          </p:nvSpPr>
          <p:spPr>
            <a:xfrm>
              <a:off x="910149" y="2761251"/>
              <a:ext cx="999490" cy="950594"/>
            </a:xfrm>
            <a:custGeom>
              <a:rect b="b" l="l" r="r" t="t"/>
              <a:pathLst>
                <a:path extrusionOk="0" h="950595" w="999489">
                  <a:moveTo>
                    <a:pt x="0" y="950523"/>
                  </a:moveTo>
                  <a:lnTo>
                    <a:pt x="999282" y="0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0" name="Google Shape;20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78220" y="2692144"/>
              <a:ext cx="103375" cy="1014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" name="Google Shape;201;p9"/>
          <p:cNvGrpSpPr/>
          <p:nvPr/>
        </p:nvGrpSpPr>
        <p:grpSpPr>
          <a:xfrm>
            <a:off x="3777550" y="2652313"/>
            <a:ext cx="1515876" cy="1103105"/>
            <a:chOff x="3777550" y="2652313"/>
            <a:chExt cx="1515876" cy="1103105"/>
          </a:xfrm>
        </p:grpSpPr>
        <p:sp>
          <p:nvSpPr>
            <p:cNvPr id="202" name="Google Shape;202;p9"/>
            <p:cNvSpPr/>
            <p:nvPr/>
          </p:nvSpPr>
          <p:spPr>
            <a:xfrm>
              <a:off x="3786650" y="3714437"/>
              <a:ext cx="1405255" cy="33020"/>
            </a:xfrm>
            <a:custGeom>
              <a:rect b="b" l="l" r="r" t="t"/>
              <a:pathLst>
                <a:path extrusionOk="0" h="33020" w="1405254">
                  <a:moveTo>
                    <a:pt x="0" y="32737"/>
                  </a:moveTo>
                  <a:lnTo>
                    <a:pt x="1404930" y="0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3" name="Google Shape;203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81323" y="3673455"/>
              <a:ext cx="106210" cy="81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9"/>
            <p:cNvSpPr/>
            <p:nvPr/>
          </p:nvSpPr>
          <p:spPr>
            <a:xfrm>
              <a:off x="3777550" y="2682475"/>
              <a:ext cx="1420495" cy="11430"/>
            </a:xfrm>
            <a:custGeom>
              <a:rect b="b" l="l" r="r" t="t"/>
              <a:pathLst>
                <a:path extrusionOk="0" h="11430" w="1420495">
                  <a:moveTo>
                    <a:pt x="0" y="0"/>
                  </a:moveTo>
                  <a:lnTo>
                    <a:pt x="1419903" y="10828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5" name="Google Shape;205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87688" y="2652313"/>
              <a:ext cx="105738" cy="819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9"/>
            <p:cNvSpPr/>
            <p:nvPr/>
          </p:nvSpPr>
          <p:spPr>
            <a:xfrm>
              <a:off x="3777550" y="2682475"/>
              <a:ext cx="9525" cy="1062990"/>
            </a:xfrm>
            <a:custGeom>
              <a:rect b="b" l="l" r="r" t="t"/>
              <a:pathLst>
                <a:path extrusionOk="0" h="1062989" w="9525">
                  <a:moveTo>
                    <a:pt x="0" y="0"/>
                  </a:moveTo>
                  <a:lnTo>
                    <a:pt x="8999" y="1062899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9"/>
          <p:cNvSpPr txBox="1"/>
          <p:nvPr/>
        </p:nvSpPr>
        <p:spPr>
          <a:xfrm>
            <a:off x="5384774" y="3513306"/>
            <a:ext cx="20942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Adversarial Training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7892851" y="3544275"/>
            <a:ext cx="26964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Jain et al. (2023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816814" y="901503"/>
            <a:ext cx="1404620" cy="620395"/>
          </a:xfrm>
          <a:custGeom>
            <a:rect b="b" l="l" r="r" t="t"/>
            <a:pathLst>
              <a:path extrusionOk="0" h="620394" w="1404620">
                <a:moveTo>
                  <a:pt x="1300898" y="620399"/>
                </a:moveTo>
                <a:lnTo>
                  <a:pt x="103402" y="620399"/>
                </a:lnTo>
                <a:lnTo>
                  <a:pt x="63153" y="612274"/>
                </a:lnTo>
                <a:lnTo>
                  <a:pt x="30285" y="590114"/>
                </a:lnTo>
                <a:lnTo>
                  <a:pt x="8125" y="557246"/>
                </a:lnTo>
                <a:lnTo>
                  <a:pt x="0" y="516997"/>
                </a:lnTo>
                <a:lnTo>
                  <a:pt x="0" y="103402"/>
                </a:lnTo>
                <a:lnTo>
                  <a:pt x="8125" y="63153"/>
                </a:lnTo>
                <a:lnTo>
                  <a:pt x="30285" y="30285"/>
                </a:lnTo>
                <a:lnTo>
                  <a:pt x="63153" y="8125"/>
                </a:lnTo>
                <a:lnTo>
                  <a:pt x="103402" y="0"/>
                </a:lnTo>
                <a:lnTo>
                  <a:pt x="1300898" y="0"/>
                </a:lnTo>
                <a:lnTo>
                  <a:pt x="1340468" y="7870"/>
                </a:lnTo>
                <a:lnTo>
                  <a:pt x="1374013" y="30285"/>
                </a:lnTo>
                <a:lnTo>
                  <a:pt x="1396428" y="63831"/>
                </a:lnTo>
                <a:lnTo>
                  <a:pt x="1404299" y="103402"/>
                </a:lnTo>
                <a:lnTo>
                  <a:pt x="1404299" y="516997"/>
                </a:lnTo>
                <a:lnTo>
                  <a:pt x="1396174" y="557246"/>
                </a:lnTo>
                <a:lnTo>
                  <a:pt x="1374014" y="590114"/>
                </a:lnTo>
                <a:lnTo>
                  <a:pt x="1341146" y="612274"/>
                </a:lnTo>
                <a:lnTo>
                  <a:pt x="1300898" y="620399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6991358" y="884042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1683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How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11" name="Google Shape;211;p9"/>
          <p:cNvGrpSpPr/>
          <p:nvPr/>
        </p:nvGrpSpPr>
        <p:grpSpPr>
          <a:xfrm>
            <a:off x="6692317" y="1573313"/>
            <a:ext cx="1764447" cy="1616374"/>
            <a:chOff x="6692317" y="1573313"/>
            <a:chExt cx="1764447" cy="1616374"/>
          </a:xfrm>
        </p:grpSpPr>
        <p:sp>
          <p:nvSpPr>
            <p:cNvPr id="212" name="Google Shape;212;p9"/>
            <p:cNvSpPr/>
            <p:nvPr/>
          </p:nvSpPr>
          <p:spPr>
            <a:xfrm>
              <a:off x="6716011" y="2269326"/>
              <a:ext cx="1647189" cy="398145"/>
            </a:xfrm>
            <a:custGeom>
              <a:rect b="b" l="l" r="r" t="t"/>
              <a:pathLst>
                <a:path extrusionOk="0" h="398144" w="1647190">
                  <a:moveTo>
                    <a:pt x="0" y="397675"/>
                  </a:moveTo>
                  <a:lnTo>
                    <a:pt x="1647192" y="0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3" name="Google Shape;213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46294" y="2229214"/>
              <a:ext cx="110470" cy="802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9"/>
            <p:cNvSpPr/>
            <p:nvPr/>
          </p:nvSpPr>
          <p:spPr>
            <a:xfrm>
              <a:off x="6692317" y="2671082"/>
              <a:ext cx="1647189" cy="31115"/>
            </a:xfrm>
            <a:custGeom>
              <a:rect b="b" l="l" r="r" t="t"/>
              <a:pathLst>
                <a:path extrusionOk="0" h="31114" w="1647190">
                  <a:moveTo>
                    <a:pt x="0" y="0"/>
                  </a:moveTo>
                  <a:lnTo>
                    <a:pt x="1647019" y="30858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5" name="Google Shape;215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329222" y="2660956"/>
              <a:ext cx="106074" cy="819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9"/>
            <p:cNvSpPr/>
            <p:nvPr/>
          </p:nvSpPr>
          <p:spPr>
            <a:xfrm>
              <a:off x="6716011" y="2672442"/>
              <a:ext cx="1628139" cy="478155"/>
            </a:xfrm>
            <a:custGeom>
              <a:rect b="b" l="l" r="r" t="t"/>
              <a:pathLst>
                <a:path extrusionOk="0" h="478155" w="1628140">
                  <a:moveTo>
                    <a:pt x="0" y="0"/>
                  </a:moveTo>
                  <a:lnTo>
                    <a:pt x="1627920" y="477527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7" name="Google Shape;217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325551" y="3110251"/>
              <a:ext cx="110861" cy="79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9"/>
            <p:cNvSpPr/>
            <p:nvPr/>
          </p:nvSpPr>
          <p:spPr>
            <a:xfrm>
              <a:off x="7492842" y="1573313"/>
              <a:ext cx="0" cy="555625"/>
            </a:xfrm>
            <a:custGeom>
              <a:rect b="b" l="l" r="r" t="t"/>
              <a:pathLst>
                <a:path extrusionOk="0" h="555625" w="120000">
                  <a:moveTo>
                    <a:pt x="0" y="0"/>
                  </a:moveTo>
                  <a:lnTo>
                    <a:pt x="0" y="554999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9" name="Google Shape;219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51852" y="2118788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9"/>
          <p:cNvSpPr txBox="1"/>
          <p:nvPr/>
        </p:nvSpPr>
        <p:spPr>
          <a:xfrm>
            <a:off x="8547327" y="2047230"/>
            <a:ext cx="57023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RLHF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DPO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8526575" y="3035556"/>
            <a:ext cx="1165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Unlearning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9174225" y="2566702"/>
            <a:ext cx="26964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Rafailov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9960265" y="3077604"/>
            <a:ext cx="20961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Yao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9269811" y="2069150"/>
            <a:ext cx="20277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Bai et al. (2022)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760326" y="901503"/>
            <a:ext cx="1404620" cy="620395"/>
          </a:xfrm>
          <a:custGeom>
            <a:rect b="b" l="l" r="r" t="t"/>
            <a:pathLst>
              <a:path extrusionOk="0" h="620394" w="1404620">
                <a:moveTo>
                  <a:pt x="1300897" y="620399"/>
                </a:moveTo>
                <a:lnTo>
                  <a:pt x="103401" y="620399"/>
                </a:lnTo>
                <a:lnTo>
                  <a:pt x="63153" y="612274"/>
                </a:lnTo>
                <a:lnTo>
                  <a:pt x="30285" y="590114"/>
                </a:lnTo>
                <a:lnTo>
                  <a:pt x="8125" y="557246"/>
                </a:lnTo>
                <a:lnTo>
                  <a:pt x="0" y="516997"/>
                </a:lnTo>
                <a:lnTo>
                  <a:pt x="0" y="103402"/>
                </a:lnTo>
                <a:lnTo>
                  <a:pt x="8125" y="63153"/>
                </a:lnTo>
                <a:lnTo>
                  <a:pt x="30285" y="30285"/>
                </a:lnTo>
                <a:lnTo>
                  <a:pt x="63153" y="8125"/>
                </a:lnTo>
                <a:lnTo>
                  <a:pt x="103401" y="0"/>
                </a:lnTo>
                <a:lnTo>
                  <a:pt x="1300897" y="0"/>
                </a:lnTo>
                <a:lnTo>
                  <a:pt x="1340467" y="7870"/>
                </a:lnTo>
                <a:lnTo>
                  <a:pt x="1374013" y="30285"/>
                </a:lnTo>
                <a:lnTo>
                  <a:pt x="1396428" y="63831"/>
                </a:lnTo>
                <a:lnTo>
                  <a:pt x="1404299" y="103402"/>
                </a:lnTo>
                <a:lnTo>
                  <a:pt x="1404299" y="516997"/>
                </a:lnTo>
                <a:lnTo>
                  <a:pt x="1396174" y="557246"/>
                </a:lnTo>
                <a:lnTo>
                  <a:pt x="1374014" y="590114"/>
                </a:lnTo>
                <a:lnTo>
                  <a:pt x="1341146" y="612274"/>
                </a:lnTo>
                <a:lnTo>
                  <a:pt x="1300897" y="620399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3934869" y="884042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921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What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5401571" y="2504030"/>
            <a:ext cx="10845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Alignment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04594" y="901503"/>
            <a:ext cx="1376680" cy="620395"/>
          </a:xfrm>
          <a:custGeom>
            <a:rect b="b" l="l" r="r" t="t"/>
            <a:pathLst>
              <a:path extrusionOk="0" h="620394" w="1376680">
                <a:moveTo>
                  <a:pt x="1272997" y="620399"/>
                </a:moveTo>
                <a:lnTo>
                  <a:pt x="103402" y="620399"/>
                </a:lnTo>
                <a:lnTo>
                  <a:pt x="63153" y="612274"/>
                </a:lnTo>
                <a:lnTo>
                  <a:pt x="30285" y="590114"/>
                </a:lnTo>
                <a:lnTo>
                  <a:pt x="8125" y="557246"/>
                </a:lnTo>
                <a:lnTo>
                  <a:pt x="0" y="516997"/>
                </a:lnTo>
                <a:lnTo>
                  <a:pt x="0" y="103402"/>
                </a:lnTo>
                <a:lnTo>
                  <a:pt x="8125" y="63153"/>
                </a:lnTo>
                <a:lnTo>
                  <a:pt x="30285" y="30285"/>
                </a:lnTo>
                <a:lnTo>
                  <a:pt x="63153" y="8125"/>
                </a:lnTo>
                <a:lnTo>
                  <a:pt x="103402" y="0"/>
                </a:lnTo>
                <a:lnTo>
                  <a:pt x="1272997" y="0"/>
                </a:lnTo>
                <a:lnTo>
                  <a:pt x="1312568" y="7870"/>
                </a:lnTo>
                <a:lnTo>
                  <a:pt x="1346114" y="30285"/>
                </a:lnTo>
                <a:lnTo>
                  <a:pt x="1368529" y="63831"/>
                </a:lnTo>
                <a:lnTo>
                  <a:pt x="1376399" y="103402"/>
                </a:lnTo>
                <a:lnTo>
                  <a:pt x="1376399" y="516997"/>
                </a:lnTo>
                <a:lnTo>
                  <a:pt x="1368274" y="557246"/>
                </a:lnTo>
                <a:lnTo>
                  <a:pt x="1346114" y="590114"/>
                </a:lnTo>
                <a:lnTo>
                  <a:pt x="1313246" y="612274"/>
                </a:lnTo>
                <a:lnTo>
                  <a:pt x="1272997" y="620399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765188" y="884042"/>
            <a:ext cx="1056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889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When to perform?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2065275" y="2514081"/>
            <a:ext cx="14268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rPr>
              <a:t>Training Time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1" name="Google Shape;231;p9"/>
          <p:cNvGrpSpPr/>
          <p:nvPr/>
        </p:nvGrpSpPr>
        <p:grpSpPr>
          <a:xfrm>
            <a:off x="4360309" y="1607049"/>
            <a:ext cx="81980" cy="650975"/>
            <a:chOff x="4360309" y="1607049"/>
            <a:chExt cx="81980" cy="650975"/>
          </a:xfrm>
        </p:grpSpPr>
        <p:sp>
          <p:nvSpPr>
            <p:cNvPr id="232" name="Google Shape;232;p9"/>
            <p:cNvSpPr/>
            <p:nvPr/>
          </p:nvSpPr>
          <p:spPr>
            <a:xfrm>
              <a:off x="4401299" y="1607049"/>
              <a:ext cx="0" cy="555625"/>
            </a:xfrm>
            <a:custGeom>
              <a:rect b="b" l="l" r="r" t="t"/>
              <a:pathLst>
                <a:path extrusionOk="0" h="555625" w="120000">
                  <a:moveTo>
                    <a:pt x="0" y="0"/>
                  </a:moveTo>
                  <a:lnTo>
                    <a:pt x="0" y="554999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" name="Google Shape;233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360309" y="2152524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9"/>
          <p:cNvGrpSpPr/>
          <p:nvPr/>
        </p:nvGrpSpPr>
        <p:grpSpPr>
          <a:xfrm>
            <a:off x="1159909" y="1607049"/>
            <a:ext cx="81980" cy="650975"/>
            <a:chOff x="1159909" y="1607049"/>
            <a:chExt cx="81980" cy="650975"/>
          </a:xfrm>
        </p:grpSpPr>
        <p:sp>
          <p:nvSpPr>
            <p:cNvPr id="235" name="Google Shape;235;p9"/>
            <p:cNvSpPr/>
            <p:nvPr/>
          </p:nvSpPr>
          <p:spPr>
            <a:xfrm>
              <a:off x="1200900" y="1607049"/>
              <a:ext cx="0" cy="555625"/>
            </a:xfrm>
            <a:custGeom>
              <a:rect b="b" l="l" r="r" t="t"/>
              <a:pathLst>
                <a:path extrusionOk="0" h="555625" w="120000">
                  <a:moveTo>
                    <a:pt x="0" y="0"/>
                  </a:moveTo>
                  <a:lnTo>
                    <a:pt x="0" y="554999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" name="Google Shape;236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59909" y="2152524"/>
              <a:ext cx="81980" cy="10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9"/>
          <p:cNvSpPr txBox="1"/>
          <p:nvPr/>
        </p:nvSpPr>
        <p:spPr>
          <a:xfrm>
            <a:off x="15502" y="3483281"/>
            <a:ext cx="9150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LLM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Defense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9"/>
          <p:cNvGrpSpPr/>
          <p:nvPr/>
        </p:nvGrpSpPr>
        <p:grpSpPr>
          <a:xfrm>
            <a:off x="3864324" y="4437326"/>
            <a:ext cx="1442378" cy="81973"/>
            <a:chOff x="3864324" y="4437326"/>
            <a:chExt cx="1442378" cy="81973"/>
          </a:xfrm>
        </p:grpSpPr>
        <p:sp>
          <p:nvSpPr>
            <p:cNvPr id="239" name="Google Shape;239;p9"/>
            <p:cNvSpPr/>
            <p:nvPr/>
          </p:nvSpPr>
          <p:spPr>
            <a:xfrm>
              <a:off x="3864324" y="4478313"/>
              <a:ext cx="1346835" cy="20320"/>
            </a:xfrm>
            <a:custGeom>
              <a:rect b="b" l="l" r="r" t="t"/>
              <a:pathLst>
                <a:path extrusionOk="0" h="20320" w="1346835">
                  <a:moveTo>
                    <a:pt x="0" y="20186"/>
                  </a:moveTo>
                  <a:lnTo>
                    <a:pt x="1346412" y="0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0" name="Google Shape;240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200740" y="4437326"/>
              <a:ext cx="105962" cy="819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9"/>
          <p:cNvSpPr txBox="1"/>
          <p:nvPr/>
        </p:nvSpPr>
        <p:spPr>
          <a:xfrm>
            <a:off x="5398049" y="4308206"/>
            <a:ext cx="8794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Filtering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2" name="Google Shape;242;p9"/>
          <p:cNvGrpSpPr/>
          <p:nvPr/>
        </p:nvGrpSpPr>
        <p:grpSpPr>
          <a:xfrm>
            <a:off x="6520680" y="4468679"/>
            <a:ext cx="1766975" cy="81981"/>
            <a:chOff x="6520680" y="4468679"/>
            <a:chExt cx="1766975" cy="81981"/>
          </a:xfrm>
        </p:grpSpPr>
        <p:sp>
          <p:nvSpPr>
            <p:cNvPr id="243" name="Google Shape;243;p9"/>
            <p:cNvSpPr/>
            <p:nvPr/>
          </p:nvSpPr>
          <p:spPr>
            <a:xfrm>
              <a:off x="6520680" y="4509669"/>
              <a:ext cx="1671320" cy="0"/>
            </a:xfrm>
            <a:custGeom>
              <a:rect b="b" l="l" r="r" t="t"/>
              <a:pathLst>
                <a:path extrusionOk="0" h="120000" w="1671320">
                  <a:moveTo>
                    <a:pt x="0" y="0"/>
                  </a:moveTo>
                  <a:lnTo>
                    <a:pt x="1670999" y="0"/>
                  </a:lnTo>
                </a:path>
              </a:pathLst>
            </a:custGeom>
            <a:noFill/>
            <a:ln cap="flat" cmpd="sng" w="19025">
              <a:solidFill>
                <a:srgbClr val="1460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182155" y="4468679"/>
              <a:ext cx="105500" cy="819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9"/>
          <p:cNvSpPr txBox="1"/>
          <p:nvPr/>
        </p:nvSpPr>
        <p:spPr>
          <a:xfrm>
            <a:off x="8417351" y="4341255"/>
            <a:ext cx="2095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Input Preprocessing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10045375" y="4735800"/>
            <a:ext cx="23673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Kumar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" name="Google Shape;247;p9"/>
          <p:cNvSpPr txBox="1"/>
          <p:nvPr>
            <p:ph type="title"/>
          </p:nvPr>
        </p:nvSpPr>
        <p:spPr>
          <a:xfrm>
            <a:off x="3742600" y="-39225"/>
            <a:ext cx="47301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Roadmap for Defenses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3729184" y="6504930"/>
            <a:ext cx="47351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Tahoma"/>
                <a:ea typeface="Tahoma"/>
                <a:cs typeface="Tahoma"/>
                <a:sym typeface="Tahoma"/>
              </a:rPr>
              <a:t>Defenses against Adversarial attacks on LLMs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9" name="Google Shape;249;p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90455"/>
            <a:ext cx="280943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Defense: Perplexity (PPL) Based Detection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365578" y="4740583"/>
            <a:ext cx="11073765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Table 2: Both basic perplexity and windowed perplexity easily detect all adversarial prompts generated by the optimizer, while letting all prompts in the AdvBench dataset through.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00990" lvl="0" marL="3321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ahoma"/>
              <a:buChar char="•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Drops benign user queries for many normal instructions from AlpacaEval.</a:t>
            </a:r>
            <a:endParaRPr sz="2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10096475" y="16256"/>
            <a:ext cx="16719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  <a:latin typeface="Tahoma"/>
                <a:ea typeface="Tahoma"/>
                <a:cs typeface="Tahoma"/>
                <a:sym typeface="Tahoma"/>
              </a:rPr>
              <a:t>Jain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258" name="Google Shape;258;p10"/>
          <p:cNvGraphicFramePr/>
          <p:nvPr/>
        </p:nvGraphicFramePr>
        <p:xfrm>
          <a:off x="484600" y="2413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{13C8E743-F6EA-44B3-922D-08D99B337A7F}</a:tableStyleId>
              </a:tblPr>
              <a:tblGrid>
                <a:gridCol w="2875925"/>
                <a:gridCol w="1384925"/>
                <a:gridCol w="1910075"/>
                <a:gridCol w="1611000"/>
                <a:gridCol w="1750050"/>
                <a:gridCol w="1326525"/>
              </a:tblGrid>
              <a:tr h="700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Metric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Vicuna-7B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Falcon-7B-Inst.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Guanaco-7B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ChatGLM-6B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MPT-7B-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Chat</a:t>
                      </a:r>
                      <a:endParaRPr sz="2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38037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Attack Success Rate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0.79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0.7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0.96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0.04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0.12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8037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PPL Passed (↓)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0.01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F4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PPL Window Passed  (↓)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0.00</a:t>
                      </a:r>
                      <a:endParaRPr sz="1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  <p:pic>
        <p:nvPicPr>
          <p:cNvPr id="259" name="Google Shape;25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527" y="690455"/>
            <a:ext cx="280945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 txBox="1"/>
          <p:nvPr/>
        </p:nvSpPr>
        <p:spPr>
          <a:xfrm>
            <a:off x="688539" y="1715070"/>
            <a:ext cx="7380605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rPr>
              <a:t>Methodology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247015" lvl="0" marL="259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Erase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: Removes tokens one by one from the original prompt P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6" name="Google Shape;266;p11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277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Certifying LLM Safety against Adversarial Prompting</a:t>
            </a:r>
            <a:endParaRPr sz="3200"/>
          </a:p>
        </p:txBody>
      </p:sp>
      <p:sp>
        <p:nvSpPr>
          <p:cNvPr id="267" name="Google Shape;267;p11"/>
          <p:cNvSpPr txBox="1"/>
          <p:nvPr/>
        </p:nvSpPr>
        <p:spPr>
          <a:xfrm>
            <a:off x="10072299" y="85656"/>
            <a:ext cx="19570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  <a:latin typeface="Tahoma"/>
                <a:ea typeface="Tahoma"/>
                <a:cs typeface="Tahoma"/>
                <a:sym typeface="Tahoma"/>
              </a:rPr>
              <a:t>Kumar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8" name="Google Shape;268;p11"/>
          <p:cNvGrpSpPr/>
          <p:nvPr/>
        </p:nvGrpSpPr>
        <p:grpSpPr>
          <a:xfrm>
            <a:off x="1605378" y="2924231"/>
            <a:ext cx="9738082" cy="2954655"/>
            <a:chOff x="1605378" y="2924231"/>
            <a:chExt cx="9738082" cy="2954655"/>
          </a:xfrm>
        </p:grpSpPr>
        <p:pic>
          <p:nvPicPr>
            <p:cNvPr id="269" name="Google Shape;26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05378" y="3140004"/>
              <a:ext cx="8521997" cy="25937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11"/>
            <p:cNvSpPr/>
            <p:nvPr/>
          </p:nvSpPr>
          <p:spPr>
            <a:xfrm>
              <a:off x="5921830" y="2924231"/>
              <a:ext cx="5421630" cy="2954655"/>
            </a:xfrm>
            <a:custGeom>
              <a:rect b="b" l="l" r="r" t="t"/>
              <a:pathLst>
                <a:path extrusionOk="0" h="2954654" w="5421630">
                  <a:moveTo>
                    <a:pt x="5421086" y="2954054"/>
                  </a:moveTo>
                  <a:lnTo>
                    <a:pt x="0" y="2954054"/>
                  </a:lnTo>
                  <a:lnTo>
                    <a:pt x="0" y="0"/>
                  </a:lnTo>
                  <a:lnTo>
                    <a:pt x="5421086" y="0"/>
                  </a:lnTo>
                  <a:lnTo>
                    <a:pt x="5421086" y="29540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5921830" y="2924231"/>
              <a:ext cx="5421630" cy="2954655"/>
            </a:xfrm>
            <a:custGeom>
              <a:rect b="b" l="l" r="r" t="t"/>
              <a:pathLst>
                <a:path extrusionOk="0" h="2954654" w="5421630">
                  <a:moveTo>
                    <a:pt x="0" y="0"/>
                  </a:moveTo>
                  <a:lnTo>
                    <a:pt x="5421086" y="0"/>
                  </a:lnTo>
                  <a:lnTo>
                    <a:pt x="5421086" y="2954054"/>
                  </a:lnTo>
                  <a:lnTo>
                    <a:pt x="0" y="295405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9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11"/>
          <p:cNvSpPr txBox="1"/>
          <p:nvPr/>
        </p:nvSpPr>
        <p:spPr>
          <a:xfrm>
            <a:off x="650430" y="5975689"/>
            <a:ext cx="768730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Defense Category: Inference time -&gt; Filtering -&gt; Input Preprocessing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3" name="Google Shape;27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527" y="690455"/>
            <a:ext cx="280945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 txBox="1"/>
          <p:nvPr/>
        </p:nvSpPr>
        <p:spPr>
          <a:xfrm>
            <a:off x="688539" y="1715070"/>
            <a:ext cx="10816590" cy="119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rPr>
              <a:t>Methodology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-247015" lvl="0" marL="259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Check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: If any of these sequences are harmful, the original prompt P is identified as harmful.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0" name="Google Shape;280;p12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277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Certifying LLM Safety against Adversarial Prompting</a:t>
            </a:r>
            <a:endParaRPr sz="3200"/>
          </a:p>
        </p:txBody>
      </p:sp>
      <p:pic>
        <p:nvPicPr>
          <p:cNvPr id="281" name="Google Shape;2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5378" y="3140004"/>
            <a:ext cx="8521997" cy="259377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2"/>
          <p:cNvSpPr txBox="1"/>
          <p:nvPr/>
        </p:nvSpPr>
        <p:spPr>
          <a:xfrm>
            <a:off x="10072299" y="85656"/>
            <a:ext cx="19570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  <a:latin typeface="Tahoma"/>
                <a:ea typeface="Tahoma"/>
                <a:cs typeface="Tahoma"/>
                <a:sym typeface="Tahoma"/>
              </a:rPr>
              <a:t>Kumar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650430" y="5975689"/>
            <a:ext cx="768730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Defense Category: Inference time -&gt; Filtering -&gt; Input Preprocessing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4" name="Google Shape;284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90455"/>
            <a:ext cx="280943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 txBox="1"/>
          <p:nvPr/>
        </p:nvSpPr>
        <p:spPr>
          <a:xfrm>
            <a:off x="596900" y="851603"/>
            <a:ext cx="730630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rPr>
              <a:t>SmoothLLM: A randomized defense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2608584" y="5448153"/>
            <a:ext cx="68281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Figure 2: Examples of insert, swap, and patch perturbations (</a:t>
            </a:r>
            <a:r>
              <a:rPr b="1" lang="en-US" sz="1800">
                <a:solidFill>
                  <a:srgbClr val="B8188E"/>
                </a:solidFill>
                <a:latin typeface="Arial"/>
                <a:ea typeface="Arial"/>
                <a:cs typeface="Arial"/>
                <a:sym typeface="Arial"/>
              </a:rPr>
              <a:t>pink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1332" y="1638797"/>
            <a:ext cx="3859130" cy="333585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4"/>
          <p:cNvSpPr txBox="1"/>
          <p:nvPr>
            <p:ph type="title"/>
          </p:nvPr>
        </p:nvSpPr>
        <p:spPr>
          <a:xfrm>
            <a:off x="10072299" y="85656"/>
            <a:ext cx="19246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</a:rPr>
              <a:t>Robey et al. (2023)</a:t>
            </a:r>
            <a:endParaRPr sz="1800"/>
          </a:p>
        </p:txBody>
      </p:sp>
      <p:sp>
        <p:nvSpPr>
          <p:cNvPr id="294" name="Google Shape;294;p14"/>
          <p:cNvSpPr txBox="1"/>
          <p:nvPr/>
        </p:nvSpPr>
        <p:spPr>
          <a:xfrm>
            <a:off x="73025" y="6529634"/>
            <a:ext cx="52387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CA5E3"/>
                </a:solidFill>
                <a:latin typeface="Tahoma"/>
                <a:ea typeface="Tahoma"/>
                <a:cs typeface="Tahoma"/>
                <a:sym typeface="Tahoma"/>
              </a:rPr>
              <a:t>SmoothLLM: Defending Large Language Models Against Jailbreaking Attacks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5" name="Google Shape;2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90455"/>
            <a:ext cx="280943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8"/>
          <p:cNvSpPr txBox="1"/>
          <p:nvPr/>
        </p:nvSpPr>
        <p:spPr>
          <a:xfrm>
            <a:off x="596900" y="851603"/>
            <a:ext cx="275590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3DA5"/>
                </a:solidFill>
                <a:latin typeface="Tahoma"/>
                <a:ea typeface="Tahoma"/>
                <a:cs typeface="Tahoma"/>
                <a:sym typeface="Tahoma"/>
              </a:rPr>
              <a:t>Methodology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2" name="Google Shape;3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193" y="1887215"/>
            <a:ext cx="10008926" cy="345034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8"/>
          <p:cNvSpPr txBox="1"/>
          <p:nvPr/>
        </p:nvSpPr>
        <p:spPr>
          <a:xfrm>
            <a:off x="292100" y="5450186"/>
            <a:ext cx="1130236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Figure 3: (Left) An undefended LLM (</a:t>
            </a:r>
            <a:r>
              <a:rPr b="1" lang="en-US" sz="1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cyan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) takes an attacked prompt P as input and returns a response R. (Right) SMOOTHLLM (</a:t>
            </a:r>
            <a:r>
              <a:rPr b="1" lang="en-US" sz="1400">
                <a:solidFill>
                  <a:srgbClr val="0B769F"/>
                </a:solidFill>
                <a:latin typeface="Arial"/>
                <a:ea typeface="Arial"/>
                <a:cs typeface="Arial"/>
                <a:sym typeface="Arial"/>
              </a:rPr>
              <a:t>yellow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), which acts as a wrapper around any LLM, comprises a perturbation step (</a:t>
            </a:r>
            <a:r>
              <a:rPr b="1" lang="en-US" sz="1400">
                <a:solidFill>
                  <a:srgbClr val="B8188E"/>
                </a:solidFill>
                <a:latin typeface="Arial"/>
                <a:ea typeface="Arial"/>
                <a:cs typeface="Arial"/>
                <a:sym typeface="Arial"/>
              </a:rPr>
              <a:t>pink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), wherein N copies of the input prompt are perturbed, and an aggregation step (</a:t>
            </a:r>
            <a:r>
              <a:rPr b="1" lang="en-US" sz="1400">
                <a:solidFill>
                  <a:srgbClr val="4EA72E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), wherein the outputs corresponding to the perturbed copies are aggregated.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73025" y="6529634"/>
            <a:ext cx="52387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CA5E3"/>
                </a:solidFill>
                <a:latin typeface="Tahoma"/>
                <a:ea typeface="Tahoma"/>
                <a:cs typeface="Tahoma"/>
                <a:sym typeface="Tahoma"/>
              </a:rPr>
              <a:t>SmoothLLM: Defending Large Language Models Against Jailbreaking Attacks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5" name="Google Shape;305;p18"/>
          <p:cNvSpPr txBox="1"/>
          <p:nvPr>
            <p:ph type="title"/>
          </p:nvPr>
        </p:nvSpPr>
        <p:spPr>
          <a:xfrm>
            <a:off x="10072299" y="85656"/>
            <a:ext cx="19246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</a:rPr>
              <a:t>Robey et al. (2023)</a:t>
            </a:r>
            <a:endParaRPr sz="1800"/>
          </a:p>
        </p:txBody>
      </p:sp>
      <p:pic>
        <p:nvPicPr>
          <p:cNvPr id="306" name="Google Shape;30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90455"/>
            <a:ext cx="280943" cy="1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9"/>
          <p:cNvSpPr txBox="1"/>
          <p:nvPr>
            <p:ph type="title"/>
          </p:nvPr>
        </p:nvSpPr>
        <p:spPr>
          <a:xfrm>
            <a:off x="596900" y="839030"/>
            <a:ext cx="10289526" cy="58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378287" y="5505654"/>
            <a:ext cx="1116076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Figure 4: The dashed lines (</a:t>
            </a: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) denote the ASRs for suffixes generated by GCG on the AdvBench dataset for Vicuna and LLama2.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90" y="2043104"/>
            <a:ext cx="10177736" cy="30238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/>
        </p:nvSpPr>
        <p:spPr>
          <a:xfrm>
            <a:off x="10072299" y="85656"/>
            <a:ext cx="19246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EAEAE"/>
                </a:solidFill>
                <a:latin typeface="Tahoma"/>
                <a:ea typeface="Tahoma"/>
                <a:cs typeface="Tahoma"/>
                <a:sym typeface="Tahoma"/>
              </a:rPr>
              <a:t>Robey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73025" y="6529634"/>
            <a:ext cx="52387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CA5E3"/>
                </a:solidFill>
                <a:latin typeface="Tahoma"/>
                <a:ea typeface="Tahoma"/>
                <a:cs typeface="Tahoma"/>
                <a:sym typeface="Tahoma"/>
              </a:rPr>
              <a:t>SmoothLLM: Defending Large Language Models Against Jailbreaking Attacks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656773" y="1476451"/>
            <a:ext cx="9351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96875" lvl="0" marL="4095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At q = 10%, the ASR for swap perturbations falls below 1%.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/>
          <p:nvPr/>
        </p:nvSpPr>
        <p:spPr>
          <a:xfrm>
            <a:off x="2053931" y="4330056"/>
            <a:ext cx="15627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Inference Time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4" name="Google Shape;324;p20"/>
          <p:cNvGrpSpPr/>
          <p:nvPr/>
        </p:nvGrpSpPr>
        <p:grpSpPr>
          <a:xfrm>
            <a:off x="50746" y="2492817"/>
            <a:ext cx="5255956" cy="2800985"/>
            <a:chOff x="50746" y="2492817"/>
            <a:chExt cx="5255956" cy="2800985"/>
          </a:xfrm>
        </p:grpSpPr>
        <p:sp>
          <p:nvSpPr>
            <p:cNvPr id="325" name="Google Shape;325;p20"/>
            <p:cNvSpPr/>
            <p:nvPr/>
          </p:nvSpPr>
          <p:spPr>
            <a:xfrm>
              <a:off x="3786649" y="3714437"/>
              <a:ext cx="1405255" cy="33020"/>
            </a:xfrm>
            <a:custGeom>
              <a:rect b="b" l="l" r="r" t="t"/>
              <a:pathLst>
                <a:path extrusionOk="0" h="33020" w="1405254">
                  <a:moveTo>
                    <a:pt x="0" y="32737"/>
                  </a:moveTo>
                  <a:lnTo>
                    <a:pt x="1404930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6" name="Google Shape;32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1322" y="3673455"/>
              <a:ext cx="106210" cy="81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20"/>
            <p:cNvSpPr/>
            <p:nvPr/>
          </p:nvSpPr>
          <p:spPr>
            <a:xfrm>
              <a:off x="3777550" y="2682475"/>
              <a:ext cx="1420495" cy="11430"/>
            </a:xfrm>
            <a:custGeom>
              <a:rect b="b" l="l" r="r" t="t"/>
              <a:pathLst>
                <a:path extrusionOk="0" h="11430" w="1420495">
                  <a:moveTo>
                    <a:pt x="0" y="0"/>
                  </a:moveTo>
                  <a:lnTo>
                    <a:pt x="1419903" y="10828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8" name="Google Shape;32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87688" y="2652313"/>
              <a:ext cx="105738" cy="819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20"/>
            <p:cNvSpPr/>
            <p:nvPr/>
          </p:nvSpPr>
          <p:spPr>
            <a:xfrm>
              <a:off x="3864325" y="4478313"/>
              <a:ext cx="1346835" cy="20320"/>
            </a:xfrm>
            <a:custGeom>
              <a:rect b="b" l="l" r="r" t="t"/>
              <a:pathLst>
                <a:path extrusionOk="0" h="20320" w="1346835">
                  <a:moveTo>
                    <a:pt x="0" y="20186"/>
                  </a:moveTo>
                  <a:lnTo>
                    <a:pt x="1346412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0" name="Google Shape;330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00740" y="4437326"/>
              <a:ext cx="105962" cy="819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20"/>
            <p:cNvSpPr/>
            <p:nvPr/>
          </p:nvSpPr>
          <p:spPr>
            <a:xfrm>
              <a:off x="3777550" y="2682475"/>
              <a:ext cx="9525" cy="1062990"/>
            </a:xfrm>
            <a:custGeom>
              <a:rect b="b" l="l" r="r" t="t"/>
              <a:pathLst>
                <a:path extrusionOk="0" h="1062989" w="9525">
                  <a:moveTo>
                    <a:pt x="0" y="0"/>
                  </a:moveTo>
                  <a:lnTo>
                    <a:pt x="8999" y="1062899"/>
                  </a:lnTo>
                </a:path>
              </a:pathLst>
            </a:custGeom>
            <a:noFill/>
            <a:ln cap="flat" cmpd="sng" w="190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50746" y="2492817"/>
              <a:ext cx="3771900" cy="2800985"/>
            </a:xfrm>
            <a:custGeom>
              <a:rect b="b" l="l" r="r" t="t"/>
              <a:pathLst>
                <a:path extrusionOk="0" h="2800985" w="3771900">
                  <a:moveTo>
                    <a:pt x="2770625" y="2800768"/>
                  </a:moveTo>
                  <a:lnTo>
                    <a:pt x="2712783" y="2800650"/>
                  </a:lnTo>
                  <a:lnTo>
                    <a:pt x="2655216" y="2800350"/>
                  </a:lnTo>
                  <a:lnTo>
                    <a:pt x="2598214" y="2799970"/>
                  </a:lnTo>
                  <a:lnTo>
                    <a:pt x="2542064" y="2799615"/>
                  </a:lnTo>
                  <a:lnTo>
                    <a:pt x="2503031" y="2798878"/>
                  </a:lnTo>
                  <a:lnTo>
                    <a:pt x="2464403" y="2797145"/>
                  </a:lnTo>
                  <a:lnTo>
                    <a:pt x="2426085" y="2794478"/>
                  </a:lnTo>
                  <a:lnTo>
                    <a:pt x="2387980" y="2790939"/>
                  </a:lnTo>
                  <a:lnTo>
                    <a:pt x="2349994" y="2786592"/>
                  </a:lnTo>
                  <a:lnTo>
                    <a:pt x="2312031" y="2781499"/>
                  </a:lnTo>
                  <a:lnTo>
                    <a:pt x="2273997" y="2775723"/>
                  </a:lnTo>
                  <a:lnTo>
                    <a:pt x="2235795" y="2769327"/>
                  </a:lnTo>
                  <a:lnTo>
                    <a:pt x="2197330" y="2762372"/>
                  </a:lnTo>
                  <a:lnTo>
                    <a:pt x="2158507" y="2754923"/>
                  </a:lnTo>
                  <a:lnTo>
                    <a:pt x="2119231" y="2747041"/>
                  </a:lnTo>
                  <a:lnTo>
                    <a:pt x="2079407" y="2738789"/>
                  </a:lnTo>
                  <a:lnTo>
                    <a:pt x="2038938" y="2730231"/>
                  </a:lnTo>
                  <a:lnTo>
                    <a:pt x="1997729" y="2721428"/>
                  </a:lnTo>
                  <a:lnTo>
                    <a:pt x="1955686" y="2712443"/>
                  </a:lnTo>
                  <a:lnTo>
                    <a:pt x="1912713" y="2703340"/>
                  </a:lnTo>
                  <a:lnTo>
                    <a:pt x="1868715" y="2694180"/>
                  </a:lnTo>
                  <a:lnTo>
                    <a:pt x="1823596" y="2685026"/>
                  </a:lnTo>
                  <a:lnTo>
                    <a:pt x="1777260" y="2675942"/>
                  </a:lnTo>
                  <a:lnTo>
                    <a:pt x="1729614" y="2666989"/>
                  </a:lnTo>
                  <a:lnTo>
                    <a:pt x="1680560" y="2658231"/>
                  </a:lnTo>
                  <a:lnTo>
                    <a:pt x="1630004" y="2649730"/>
                  </a:lnTo>
                  <a:lnTo>
                    <a:pt x="1577851" y="2641549"/>
                  </a:lnTo>
                  <a:lnTo>
                    <a:pt x="1524005" y="2633750"/>
                  </a:lnTo>
                  <a:lnTo>
                    <a:pt x="1468371" y="2626397"/>
                  </a:lnTo>
                  <a:lnTo>
                    <a:pt x="1410854" y="2619551"/>
                  </a:lnTo>
                  <a:lnTo>
                    <a:pt x="1351358" y="2613276"/>
                  </a:lnTo>
                  <a:lnTo>
                    <a:pt x="1289787" y="2607635"/>
                  </a:lnTo>
                  <a:lnTo>
                    <a:pt x="1226047" y="2602689"/>
                  </a:lnTo>
                  <a:lnTo>
                    <a:pt x="1160042" y="2598502"/>
                  </a:lnTo>
                  <a:lnTo>
                    <a:pt x="1091677" y="2595136"/>
                  </a:lnTo>
                  <a:lnTo>
                    <a:pt x="1020857" y="2592654"/>
                  </a:lnTo>
                  <a:lnTo>
                    <a:pt x="947486" y="2591119"/>
                  </a:lnTo>
                  <a:lnTo>
                    <a:pt x="871468" y="2590594"/>
                  </a:lnTo>
                  <a:lnTo>
                    <a:pt x="826230" y="2589209"/>
                  </a:lnTo>
                  <a:lnTo>
                    <a:pt x="779984" y="2584863"/>
                  </a:lnTo>
                  <a:lnTo>
                    <a:pt x="733671" y="2577266"/>
                  </a:lnTo>
                  <a:lnTo>
                    <a:pt x="688233" y="2566130"/>
                  </a:lnTo>
                  <a:lnTo>
                    <a:pt x="644613" y="2551166"/>
                  </a:lnTo>
                  <a:lnTo>
                    <a:pt x="603753" y="2532086"/>
                  </a:lnTo>
                  <a:lnTo>
                    <a:pt x="566594" y="2508601"/>
                  </a:lnTo>
                  <a:lnTo>
                    <a:pt x="534079" y="2480423"/>
                  </a:lnTo>
                  <a:lnTo>
                    <a:pt x="507150" y="2447261"/>
                  </a:lnTo>
                  <a:lnTo>
                    <a:pt x="486748" y="2408829"/>
                  </a:lnTo>
                  <a:lnTo>
                    <a:pt x="473816" y="2364837"/>
                  </a:lnTo>
                  <a:lnTo>
                    <a:pt x="469297" y="2314997"/>
                  </a:lnTo>
                  <a:lnTo>
                    <a:pt x="466665" y="2267218"/>
                  </a:lnTo>
                  <a:lnTo>
                    <a:pt x="461341" y="2220431"/>
                  </a:lnTo>
                  <a:lnTo>
                    <a:pt x="453517" y="2174566"/>
                  </a:lnTo>
                  <a:lnTo>
                    <a:pt x="443386" y="2129552"/>
                  </a:lnTo>
                  <a:lnTo>
                    <a:pt x="431140" y="2085317"/>
                  </a:lnTo>
                  <a:lnTo>
                    <a:pt x="416971" y="2041792"/>
                  </a:lnTo>
                  <a:lnTo>
                    <a:pt x="401072" y="1998905"/>
                  </a:lnTo>
                  <a:lnTo>
                    <a:pt x="383634" y="1956585"/>
                  </a:lnTo>
                  <a:lnTo>
                    <a:pt x="364850" y="1914761"/>
                  </a:lnTo>
                  <a:lnTo>
                    <a:pt x="344912" y="1873363"/>
                  </a:lnTo>
                  <a:lnTo>
                    <a:pt x="324013" y="1832319"/>
                  </a:lnTo>
                  <a:lnTo>
                    <a:pt x="302345" y="1791559"/>
                  </a:lnTo>
                  <a:lnTo>
                    <a:pt x="280100" y="1751011"/>
                  </a:lnTo>
                  <a:lnTo>
                    <a:pt x="257470" y="1710605"/>
                  </a:lnTo>
                  <a:lnTo>
                    <a:pt x="211826" y="1629935"/>
                  </a:lnTo>
                  <a:lnTo>
                    <a:pt x="189196" y="1589530"/>
                  </a:lnTo>
                  <a:lnTo>
                    <a:pt x="166951" y="1548982"/>
                  </a:lnTo>
                  <a:lnTo>
                    <a:pt x="145283" y="1508222"/>
                  </a:lnTo>
                  <a:lnTo>
                    <a:pt x="124384" y="1467178"/>
                  </a:lnTo>
                  <a:lnTo>
                    <a:pt x="104446" y="1425780"/>
                  </a:lnTo>
                  <a:lnTo>
                    <a:pt x="85662" y="1383956"/>
                  </a:lnTo>
                  <a:lnTo>
                    <a:pt x="68224" y="1341636"/>
                  </a:lnTo>
                  <a:lnTo>
                    <a:pt x="52325" y="1298748"/>
                  </a:lnTo>
                  <a:lnTo>
                    <a:pt x="38156" y="1255223"/>
                  </a:lnTo>
                  <a:lnTo>
                    <a:pt x="25910" y="1210989"/>
                  </a:lnTo>
                  <a:lnTo>
                    <a:pt x="15779" y="1165975"/>
                  </a:lnTo>
                  <a:lnTo>
                    <a:pt x="7955" y="1120110"/>
                  </a:lnTo>
                  <a:lnTo>
                    <a:pt x="2631" y="1073323"/>
                  </a:lnTo>
                  <a:lnTo>
                    <a:pt x="0" y="1025544"/>
                  </a:lnTo>
                  <a:lnTo>
                    <a:pt x="322696" y="521954"/>
                  </a:lnTo>
                  <a:lnTo>
                    <a:pt x="326662" y="492545"/>
                  </a:lnTo>
                  <a:lnTo>
                    <a:pt x="356472" y="430967"/>
                  </a:lnTo>
                  <a:lnTo>
                    <a:pt x="381035" y="399258"/>
                  </a:lnTo>
                  <a:lnTo>
                    <a:pt x="411182" y="367245"/>
                  </a:lnTo>
                  <a:lnTo>
                    <a:pt x="446273" y="335158"/>
                  </a:lnTo>
                  <a:lnTo>
                    <a:pt x="485668" y="303227"/>
                  </a:lnTo>
                  <a:lnTo>
                    <a:pt x="528726" y="271683"/>
                  </a:lnTo>
                  <a:lnTo>
                    <a:pt x="574807" y="240758"/>
                  </a:lnTo>
                  <a:lnTo>
                    <a:pt x="623270" y="210682"/>
                  </a:lnTo>
                  <a:lnTo>
                    <a:pt x="673475" y="181686"/>
                  </a:lnTo>
                  <a:lnTo>
                    <a:pt x="724781" y="154000"/>
                  </a:lnTo>
                  <a:lnTo>
                    <a:pt x="776548" y="127856"/>
                  </a:lnTo>
                  <a:lnTo>
                    <a:pt x="828135" y="103483"/>
                  </a:lnTo>
                  <a:lnTo>
                    <a:pt x="878902" y="81114"/>
                  </a:lnTo>
                  <a:lnTo>
                    <a:pt x="928209" y="60979"/>
                  </a:lnTo>
                  <a:lnTo>
                    <a:pt x="975415" y="43308"/>
                  </a:lnTo>
                  <a:lnTo>
                    <a:pt x="1019879" y="28332"/>
                  </a:lnTo>
                  <a:lnTo>
                    <a:pt x="1060962" y="16283"/>
                  </a:lnTo>
                  <a:lnTo>
                    <a:pt x="1098022" y="7390"/>
                  </a:lnTo>
                  <a:lnTo>
                    <a:pt x="1157513" y="0"/>
                  </a:lnTo>
                  <a:lnTo>
                    <a:pt x="2945216" y="594110"/>
                  </a:lnTo>
                  <a:lnTo>
                    <a:pt x="3003717" y="618713"/>
                  </a:lnTo>
                  <a:lnTo>
                    <a:pt x="3039677" y="637919"/>
                  </a:lnTo>
                  <a:lnTo>
                    <a:pt x="3078725" y="661210"/>
                  </a:lnTo>
                  <a:lnTo>
                    <a:pt x="3119823" y="688195"/>
                  </a:lnTo>
                  <a:lnTo>
                    <a:pt x="3161934" y="718486"/>
                  </a:lnTo>
                  <a:lnTo>
                    <a:pt x="3204020" y="751693"/>
                  </a:lnTo>
                  <a:lnTo>
                    <a:pt x="3245042" y="787426"/>
                  </a:lnTo>
                  <a:lnTo>
                    <a:pt x="3283962" y="825296"/>
                  </a:lnTo>
                  <a:lnTo>
                    <a:pt x="3319742" y="864915"/>
                  </a:lnTo>
                  <a:lnTo>
                    <a:pt x="3351344" y="905892"/>
                  </a:lnTo>
                  <a:lnTo>
                    <a:pt x="3377731" y="947839"/>
                  </a:lnTo>
                  <a:lnTo>
                    <a:pt x="3397864" y="990365"/>
                  </a:lnTo>
                  <a:lnTo>
                    <a:pt x="3410705" y="1033081"/>
                  </a:lnTo>
                  <a:lnTo>
                    <a:pt x="3415216" y="1075599"/>
                  </a:lnTo>
                  <a:lnTo>
                    <a:pt x="3464276" y="1116415"/>
                  </a:lnTo>
                  <a:lnTo>
                    <a:pt x="3509055" y="1157068"/>
                  </a:lnTo>
                  <a:lnTo>
                    <a:pt x="3549707" y="1197557"/>
                  </a:lnTo>
                  <a:lnTo>
                    <a:pt x="3586383" y="1237883"/>
                  </a:lnTo>
                  <a:lnTo>
                    <a:pt x="3619236" y="1278043"/>
                  </a:lnTo>
                  <a:lnTo>
                    <a:pt x="3648419" y="1318037"/>
                  </a:lnTo>
                  <a:lnTo>
                    <a:pt x="3674083" y="1357864"/>
                  </a:lnTo>
                  <a:lnTo>
                    <a:pt x="3696382" y="1397523"/>
                  </a:lnTo>
                  <a:lnTo>
                    <a:pt x="3715467" y="1437012"/>
                  </a:lnTo>
                  <a:lnTo>
                    <a:pt x="3731492" y="1476331"/>
                  </a:lnTo>
                  <a:lnTo>
                    <a:pt x="3744607" y="1515479"/>
                  </a:lnTo>
                  <a:lnTo>
                    <a:pt x="3754967" y="1554455"/>
                  </a:lnTo>
                  <a:lnTo>
                    <a:pt x="3762723" y="1593258"/>
                  </a:lnTo>
                  <a:lnTo>
                    <a:pt x="3768028" y="1631886"/>
                  </a:lnTo>
                  <a:lnTo>
                    <a:pt x="3771034" y="1670339"/>
                  </a:lnTo>
                  <a:lnTo>
                    <a:pt x="3771893" y="1708616"/>
                  </a:lnTo>
                  <a:lnTo>
                    <a:pt x="3770759" y="1746716"/>
                  </a:lnTo>
                  <a:lnTo>
                    <a:pt x="3763117" y="1822381"/>
                  </a:lnTo>
                  <a:lnTo>
                    <a:pt x="3749328" y="1897325"/>
                  </a:lnTo>
                  <a:lnTo>
                    <a:pt x="3740510" y="1934524"/>
                  </a:lnTo>
                  <a:lnTo>
                    <a:pt x="3730612" y="1971540"/>
                  </a:lnTo>
                  <a:lnTo>
                    <a:pt x="3719787" y="2008372"/>
                  </a:lnTo>
                  <a:lnTo>
                    <a:pt x="3708187" y="2045019"/>
                  </a:lnTo>
                  <a:lnTo>
                    <a:pt x="3695965" y="2081480"/>
                  </a:lnTo>
                  <a:lnTo>
                    <a:pt x="3683273" y="2117754"/>
                  </a:lnTo>
                  <a:lnTo>
                    <a:pt x="3670263" y="2153840"/>
                  </a:lnTo>
                  <a:lnTo>
                    <a:pt x="3657089" y="2189737"/>
                  </a:lnTo>
                  <a:lnTo>
                    <a:pt x="3643902" y="2225443"/>
                  </a:lnTo>
                  <a:lnTo>
                    <a:pt x="3630854" y="2260959"/>
                  </a:lnTo>
                  <a:lnTo>
                    <a:pt x="3605789" y="2331413"/>
                  </a:lnTo>
                  <a:lnTo>
                    <a:pt x="3583111" y="2401091"/>
                  </a:lnTo>
                  <a:lnTo>
                    <a:pt x="3564041" y="2469984"/>
                  </a:lnTo>
                  <a:lnTo>
                    <a:pt x="3549798" y="2538086"/>
                  </a:lnTo>
                  <a:lnTo>
                    <a:pt x="3541601" y="2605388"/>
                  </a:lnTo>
                  <a:lnTo>
                    <a:pt x="3538761" y="2630658"/>
                  </a:lnTo>
                  <a:lnTo>
                    <a:pt x="3516905" y="2674542"/>
                  </a:lnTo>
                  <a:lnTo>
                    <a:pt x="3475403" y="2710244"/>
                  </a:lnTo>
                  <a:lnTo>
                    <a:pt x="3416559" y="2738592"/>
                  </a:lnTo>
                  <a:lnTo>
                    <a:pt x="3342681" y="2760412"/>
                  </a:lnTo>
                  <a:lnTo>
                    <a:pt x="3300824" y="2769134"/>
                  </a:lnTo>
                  <a:lnTo>
                    <a:pt x="3256073" y="2776535"/>
                  </a:lnTo>
                  <a:lnTo>
                    <a:pt x="3208716" y="2782718"/>
                  </a:lnTo>
                  <a:lnTo>
                    <a:pt x="3159041" y="2787786"/>
                  </a:lnTo>
                  <a:lnTo>
                    <a:pt x="3107336" y="2791845"/>
                  </a:lnTo>
                  <a:lnTo>
                    <a:pt x="3053890" y="2794996"/>
                  </a:lnTo>
                  <a:lnTo>
                    <a:pt x="2998991" y="2797343"/>
                  </a:lnTo>
                  <a:lnTo>
                    <a:pt x="2942926" y="2798991"/>
                  </a:lnTo>
                  <a:lnTo>
                    <a:pt x="2885985" y="2800042"/>
                  </a:lnTo>
                  <a:lnTo>
                    <a:pt x="2828455" y="2800600"/>
                  </a:lnTo>
                  <a:lnTo>
                    <a:pt x="2770625" y="280076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50746" y="2492817"/>
              <a:ext cx="3771900" cy="2800985"/>
            </a:xfrm>
            <a:custGeom>
              <a:rect b="b" l="l" r="r" t="t"/>
              <a:pathLst>
                <a:path extrusionOk="0" h="2800985" w="3771900">
                  <a:moveTo>
                    <a:pt x="322696" y="521954"/>
                  </a:moveTo>
                  <a:lnTo>
                    <a:pt x="338134" y="462139"/>
                  </a:lnTo>
                  <a:lnTo>
                    <a:pt x="381035" y="399258"/>
                  </a:lnTo>
                  <a:lnTo>
                    <a:pt x="411182" y="367245"/>
                  </a:lnTo>
                  <a:lnTo>
                    <a:pt x="446273" y="335158"/>
                  </a:lnTo>
                  <a:lnTo>
                    <a:pt x="485668" y="303227"/>
                  </a:lnTo>
                  <a:lnTo>
                    <a:pt x="528726" y="271683"/>
                  </a:lnTo>
                  <a:lnTo>
                    <a:pt x="574807" y="240758"/>
                  </a:lnTo>
                  <a:lnTo>
                    <a:pt x="623270" y="210682"/>
                  </a:lnTo>
                  <a:lnTo>
                    <a:pt x="673475" y="181686"/>
                  </a:lnTo>
                  <a:lnTo>
                    <a:pt x="724781" y="154000"/>
                  </a:lnTo>
                  <a:lnTo>
                    <a:pt x="776548" y="127856"/>
                  </a:lnTo>
                  <a:lnTo>
                    <a:pt x="828135" y="103483"/>
                  </a:lnTo>
                  <a:lnTo>
                    <a:pt x="878902" y="81114"/>
                  </a:lnTo>
                  <a:lnTo>
                    <a:pt x="928209" y="60979"/>
                  </a:lnTo>
                  <a:lnTo>
                    <a:pt x="975415" y="43308"/>
                  </a:lnTo>
                  <a:lnTo>
                    <a:pt x="1019879" y="28332"/>
                  </a:lnTo>
                  <a:lnTo>
                    <a:pt x="1060962" y="16283"/>
                  </a:lnTo>
                  <a:lnTo>
                    <a:pt x="1098022" y="7390"/>
                  </a:lnTo>
                  <a:lnTo>
                    <a:pt x="1157513" y="0"/>
                  </a:lnTo>
                  <a:lnTo>
                    <a:pt x="2945216" y="594110"/>
                  </a:lnTo>
                  <a:lnTo>
                    <a:pt x="3003717" y="618713"/>
                  </a:lnTo>
                  <a:lnTo>
                    <a:pt x="3039677" y="637919"/>
                  </a:lnTo>
                  <a:lnTo>
                    <a:pt x="3078725" y="661210"/>
                  </a:lnTo>
                  <a:lnTo>
                    <a:pt x="3119823" y="688195"/>
                  </a:lnTo>
                  <a:lnTo>
                    <a:pt x="3161934" y="718486"/>
                  </a:lnTo>
                  <a:lnTo>
                    <a:pt x="3204020" y="751693"/>
                  </a:lnTo>
                  <a:lnTo>
                    <a:pt x="3245042" y="787426"/>
                  </a:lnTo>
                  <a:lnTo>
                    <a:pt x="3283962" y="825296"/>
                  </a:lnTo>
                  <a:lnTo>
                    <a:pt x="3319742" y="864915"/>
                  </a:lnTo>
                  <a:lnTo>
                    <a:pt x="3351344" y="905892"/>
                  </a:lnTo>
                  <a:lnTo>
                    <a:pt x="3377731" y="947839"/>
                  </a:lnTo>
                  <a:lnTo>
                    <a:pt x="3397864" y="990365"/>
                  </a:lnTo>
                  <a:lnTo>
                    <a:pt x="3410705" y="1033081"/>
                  </a:lnTo>
                  <a:lnTo>
                    <a:pt x="3415216" y="1075599"/>
                  </a:lnTo>
                  <a:lnTo>
                    <a:pt x="3464276" y="1116415"/>
                  </a:lnTo>
                  <a:lnTo>
                    <a:pt x="3509055" y="1157068"/>
                  </a:lnTo>
                  <a:lnTo>
                    <a:pt x="3549707" y="1197557"/>
                  </a:lnTo>
                  <a:lnTo>
                    <a:pt x="3586383" y="1237883"/>
                  </a:lnTo>
                  <a:lnTo>
                    <a:pt x="3619236" y="1278043"/>
                  </a:lnTo>
                  <a:lnTo>
                    <a:pt x="3648419" y="1318037"/>
                  </a:lnTo>
                  <a:lnTo>
                    <a:pt x="3674083" y="1357864"/>
                  </a:lnTo>
                  <a:lnTo>
                    <a:pt x="3696382" y="1397523"/>
                  </a:lnTo>
                  <a:lnTo>
                    <a:pt x="3715467" y="1437012"/>
                  </a:lnTo>
                  <a:lnTo>
                    <a:pt x="3731492" y="1476331"/>
                  </a:lnTo>
                  <a:lnTo>
                    <a:pt x="3744607" y="1515479"/>
                  </a:lnTo>
                  <a:lnTo>
                    <a:pt x="3754967" y="1554455"/>
                  </a:lnTo>
                  <a:lnTo>
                    <a:pt x="3762723" y="1593258"/>
                  </a:lnTo>
                  <a:lnTo>
                    <a:pt x="3768028" y="1631886"/>
                  </a:lnTo>
                  <a:lnTo>
                    <a:pt x="3771034" y="1670339"/>
                  </a:lnTo>
                  <a:lnTo>
                    <a:pt x="3771893" y="1708616"/>
                  </a:lnTo>
                  <a:lnTo>
                    <a:pt x="3770759" y="1746716"/>
                  </a:lnTo>
                  <a:lnTo>
                    <a:pt x="3763117" y="1822381"/>
                  </a:lnTo>
                  <a:lnTo>
                    <a:pt x="3749328" y="1897325"/>
                  </a:lnTo>
                  <a:lnTo>
                    <a:pt x="3740510" y="1934524"/>
                  </a:lnTo>
                  <a:lnTo>
                    <a:pt x="3730612" y="1971540"/>
                  </a:lnTo>
                  <a:lnTo>
                    <a:pt x="3719787" y="2008372"/>
                  </a:lnTo>
                  <a:lnTo>
                    <a:pt x="3708187" y="2045019"/>
                  </a:lnTo>
                  <a:lnTo>
                    <a:pt x="3695965" y="2081480"/>
                  </a:lnTo>
                  <a:lnTo>
                    <a:pt x="3683273" y="2117754"/>
                  </a:lnTo>
                  <a:lnTo>
                    <a:pt x="3670263" y="2153840"/>
                  </a:lnTo>
                  <a:lnTo>
                    <a:pt x="3657089" y="2189737"/>
                  </a:lnTo>
                  <a:lnTo>
                    <a:pt x="3643902" y="2225443"/>
                  </a:lnTo>
                  <a:lnTo>
                    <a:pt x="3630854" y="2260959"/>
                  </a:lnTo>
                  <a:lnTo>
                    <a:pt x="3605789" y="2331413"/>
                  </a:lnTo>
                  <a:lnTo>
                    <a:pt x="3583111" y="2401091"/>
                  </a:lnTo>
                  <a:lnTo>
                    <a:pt x="3564041" y="2469984"/>
                  </a:lnTo>
                  <a:lnTo>
                    <a:pt x="3549798" y="2538086"/>
                  </a:lnTo>
                  <a:lnTo>
                    <a:pt x="3541601" y="2605388"/>
                  </a:lnTo>
                  <a:lnTo>
                    <a:pt x="3538761" y="2630658"/>
                  </a:lnTo>
                  <a:lnTo>
                    <a:pt x="3516905" y="2674542"/>
                  </a:lnTo>
                  <a:lnTo>
                    <a:pt x="3475403" y="2710244"/>
                  </a:lnTo>
                  <a:lnTo>
                    <a:pt x="3416559" y="2738592"/>
                  </a:lnTo>
                  <a:lnTo>
                    <a:pt x="3342681" y="2760412"/>
                  </a:lnTo>
                  <a:lnTo>
                    <a:pt x="3300824" y="2769134"/>
                  </a:lnTo>
                  <a:lnTo>
                    <a:pt x="3256073" y="2776535"/>
                  </a:lnTo>
                  <a:lnTo>
                    <a:pt x="3208716" y="2782718"/>
                  </a:lnTo>
                  <a:lnTo>
                    <a:pt x="3159041" y="2787786"/>
                  </a:lnTo>
                  <a:lnTo>
                    <a:pt x="3107336" y="2791845"/>
                  </a:lnTo>
                  <a:lnTo>
                    <a:pt x="3053890" y="2794996"/>
                  </a:lnTo>
                  <a:lnTo>
                    <a:pt x="2998991" y="2797343"/>
                  </a:lnTo>
                  <a:lnTo>
                    <a:pt x="2942926" y="2798991"/>
                  </a:lnTo>
                  <a:lnTo>
                    <a:pt x="2885985" y="2800042"/>
                  </a:lnTo>
                  <a:lnTo>
                    <a:pt x="2828455" y="2800600"/>
                  </a:lnTo>
                  <a:lnTo>
                    <a:pt x="2770625" y="2800768"/>
                  </a:lnTo>
                  <a:lnTo>
                    <a:pt x="2712783" y="2800650"/>
                  </a:lnTo>
                  <a:lnTo>
                    <a:pt x="2655216" y="2800350"/>
                  </a:lnTo>
                  <a:lnTo>
                    <a:pt x="2598214" y="2799970"/>
                  </a:lnTo>
                  <a:lnTo>
                    <a:pt x="2542064" y="2799615"/>
                  </a:lnTo>
                  <a:lnTo>
                    <a:pt x="2503031" y="2798878"/>
                  </a:lnTo>
                  <a:lnTo>
                    <a:pt x="2464403" y="2797145"/>
                  </a:lnTo>
                  <a:lnTo>
                    <a:pt x="2426085" y="2794478"/>
                  </a:lnTo>
                  <a:lnTo>
                    <a:pt x="2387980" y="2790939"/>
                  </a:lnTo>
                  <a:lnTo>
                    <a:pt x="2349994" y="2786592"/>
                  </a:lnTo>
                  <a:lnTo>
                    <a:pt x="2312031" y="2781499"/>
                  </a:lnTo>
                  <a:lnTo>
                    <a:pt x="2273997" y="2775723"/>
                  </a:lnTo>
                  <a:lnTo>
                    <a:pt x="2235795" y="2769327"/>
                  </a:lnTo>
                  <a:lnTo>
                    <a:pt x="2197330" y="2762372"/>
                  </a:lnTo>
                  <a:lnTo>
                    <a:pt x="2158507" y="2754923"/>
                  </a:lnTo>
                  <a:lnTo>
                    <a:pt x="2119231" y="2747041"/>
                  </a:lnTo>
                  <a:lnTo>
                    <a:pt x="2079407" y="2738789"/>
                  </a:lnTo>
                  <a:lnTo>
                    <a:pt x="2038938" y="2730231"/>
                  </a:lnTo>
                  <a:lnTo>
                    <a:pt x="1997729" y="2721428"/>
                  </a:lnTo>
                  <a:lnTo>
                    <a:pt x="1955686" y="2712443"/>
                  </a:lnTo>
                  <a:lnTo>
                    <a:pt x="1912713" y="2703340"/>
                  </a:lnTo>
                  <a:lnTo>
                    <a:pt x="1868715" y="2694180"/>
                  </a:lnTo>
                  <a:lnTo>
                    <a:pt x="1823596" y="2685026"/>
                  </a:lnTo>
                  <a:lnTo>
                    <a:pt x="1777260" y="2675942"/>
                  </a:lnTo>
                  <a:lnTo>
                    <a:pt x="1729614" y="2666989"/>
                  </a:lnTo>
                  <a:lnTo>
                    <a:pt x="1680560" y="2658231"/>
                  </a:lnTo>
                  <a:lnTo>
                    <a:pt x="1630004" y="2649730"/>
                  </a:lnTo>
                  <a:lnTo>
                    <a:pt x="1577851" y="2641549"/>
                  </a:lnTo>
                  <a:lnTo>
                    <a:pt x="1524005" y="2633750"/>
                  </a:lnTo>
                  <a:lnTo>
                    <a:pt x="1468371" y="2626397"/>
                  </a:lnTo>
                  <a:lnTo>
                    <a:pt x="1410854" y="2619551"/>
                  </a:lnTo>
                  <a:lnTo>
                    <a:pt x="1351358" y="2613276"/>
                  </a:lnTo>
                  <a:lnTo>
                    <a:pt x="1289787" y="2607635"/>
                  </a:lnTo>
                  <a:lnTo>
                    <a:pt x="1226047" y="2602689"/>
                  </a:lnTo>
                  <a:lnTo>
                    <a:pt x="1160042" y="2598502"/>
                  </a:lnTo>
                  <a:lnTo>
                    <a:pt x="1091677" y="2595136"/>
                  </a:lnTo>
                  <a:lnTo>
                    <a:pt x="1020857" y="2592654"/>
                  </a:lnTo>
                  <a:lnTo>
                    <a:pt x="947486" y="2591119"/>
                  </a:lnTo>
                  <a:lnTo>
                    <a:pt x="871468" y="2590594"/>
                  </a:lnTo>
                  <a:lnTo>
                    <a:pt x="826230" y="2589209"/>
                  </a:lnTo>
                  <a:lnTo>
                    <a:pt x="779984" y="2584863"/>
                  </a:lnTo>
                  <a:lnTo>
                    <a:pt x="733671" y="2577266"/>
                  </a:lnTo>
                  <a:lnTo>
                    <a:pt x="688233" y="2566130"/>
                  </a:lnTo>
                  <a:lnTo>
                    <a:pt x="644613" y="2551166"/>
                  </a:lnTo>
                  <a:lnTo>
                    <a:pt x="603753" y="2532086"/>
                  </a:lnTo>
                  <a:lnTo>
                    <a:pt x="566594" y="2508601"/>
                  </a:lnTo>
                  <a:lnTo>
                    <a:pt x="534079" y="2480423"/>
                  </a:lnTo>
                  <a:lnTo>
                    <a:pt x="507150" y="2447261"/>
                  </a:lnTo>
                  <a:lnTo>
                    <a:pt x="486748" y="2408829"/>
                  </a:lnTo>
                  <a:lnTo>
                    <a:pt x="473816" y="2364837"/>
                  </a:lnTo>
                  <a:lnTo>
                    <a:pt x="469297" y="2314997"/>
                  </a:lnTo>
                  <a:lnTo>
                    <a:pt x="466665" y="2267218"/>
                  </a:lnTo>
                  <a:lnTo>
                    <a:pt x="461341" y="2220431"/>
                  </a:lnTo>
                  <a:lnTo>
                    <a:pt x="453517" y="2174566"/>
                  </a:lnTo>
                  <a:lnTo>
                    <a:pt x="443386" y="2129552"/>
                  </a:lnTo>
                  <a:lnTo>
                    <a:pt x="431140" y="2085317"/>
                  </a:lnTo>
                  <a:lnTo>
                    <a:pt x="416971" y="2041792"/>
                  </a:lnTo>
                  <a:lnTo>
                    <a:pt x="401072" y="1998905"/>
                  </a:lnTo>
                  <a:lnTo>
                    <a:pt x="383634" y="1956585"/>
                  </a:lnTo>
                  <a:lnTo>
                    <a:pt x="364850" y="1914761"/>
                  </a:lnTo>
                  <a:lnTo>
                    <a:pt x="344912" y="1873363"/>
                  </a:lnTo>
                  <a:lnTo>
                    <a:pt x="324013" y="1832319"/>
                  </a:lnTo>
                  <a:lnTo>
                    <a:pt x="302345" y="1791559"/>
                  </a:lnTo>
                  <a:lnTo>
                    <a:pt x="280100" y="1751011"/>
                  </a:lnTo>
                  <a:lnTo>
                    <a:pt x="257470" y="1710605"/>
                  </a:lnTo>
                  <a:lnTo>
                    <a:pt x="234648" y="1670270"/>
                  </a:lnTo>
                  <a:lnTo>
                    <a:pt x="211826" y="1629935"/>
                  </a:lnTo>
                  <a:lnTo>
                    <a:pt x="189196" y="1589530"/>
                  </a:lnTo>
                  <a:lnTo>
                    <a:pt x="166951" y="1548982"/>
                  </a:lnTo>
                  <a:lnTo>
                    <a:pt x="145283" y="1508222"/>
                  </a:lnTo>
                  <a:lnTo>
                    <a:pt x="124384" y="1467178"/>
                  </a:lnTo>
                  <a:lnTo>
                    <a:pt x="104446" y="1425780"/>
                  </a:lnTo>
                  <a:lnTo>
                    <a:pt x="85662" y="1383956"/>
                  </a:lnTo>
                  <a:lnTo>
                    <a:pt x="68224" y="1341636"/>
                  </a:lnTo>
                  <a:lnTo>
                    <a:pt x="52325" y="1298748"/>
                  </a:lnTo>
                  <a:lnTo>
                    <a:pt x="38156" y="1255223"/>
                  </a:lnTo>
                  <a:lnTo>
                    <a:pt x="25910" y="1210989"/>
                  </a:lnTo>
                  <a:lnTo>
                    <a:pt x="15779" y="1165975"/>
                  </a:lnTo>
                  <a:lnTo>
                    <a:pt x="7955" y="1120110"/>
                  </a:lnTo>
                  <a:lnTo>
                    <a:pt x="2631" y="1073323"/>
                  </a:lnTo>
                  <a:lnTo>
                    <a:pt x="0" y="1025544"/>
                  </a:lnTo>
                  <a:lnTo>
                    <a:pt x="322696" y="521954"/>
                  </a:lnTo>
                  <a:close/>
                </a:path>
              </a:pathLst>
            </a:custGeom>
            <a:noFill/>
            <a:ln cap="flat" cmpd="sng" w="25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745471" y="3199914"/>
              <a:ext cx="2212975" cy="1426845"/>
            </a:xfrm>
            <a:custGeom>
              <a:rect b="b" l="l" r="r" t="t"/>
              <a:pathLst>
                <a:path extrusionOk="0" h="1426845" w="2212975">
                  <a:moveTo>
                    <a:pt x="1457042" y="1426464"/>
                  </a:moveTo>
                  <a:lnTo>
                    <a:pt x="1401277" y="1425369"/>
                  </a:lnTo>
                  <a:lnTo>
                    <a:pt x="1350644" y="1422190"/>
                  </a:lnTo>
                  <a:lnTo>
                    <a:pt x="1304749" y="1417088"/>
                  </a:lnTo>
                  <a:lnTo>
                    <a:pt x="1263196" y="1410222"/>
                  </a:lnTo>
                  <a:lnTo>
                    <a:pt x="1225591" y="1401754"/>
                  </a:lnTo>
                  <a:lnTo>
                    <a:pt x="1160646" y="1380649"/>
                  </a:lnTo>
                  <a:lnTo>
                    <a:pt x="1106754" y="1355057"/>
                  </a:lnTo>
                  <a:lnTo>
                    <a:pt x="1060759" y="1326259"/>
                  </a:lnTo>
                  <a:lnTo>
                    <a:pt x="1019500" y="1295537"/>
                  </a:lnTo>
                  <a:lnTo>
                    <a:pt x="979821" y="1264174"/>
                  </a:lnTo>
                  <a:lnTo>
                    <a:pt x="959586" y="1248653"/>
                  </a:lnTo>
                  <a:lnTo>
                    <a:pt x="916354" y="1218733"/>
                  </a:lnTo>
                  <a:lnTo>
                    <a:pt x="866805" y="1191377"/>
                  </a:lnTo>
                  <a:lnTo>
                    <a:pt x="807781" y="1167869"/>
                  </a:lnTo>
                  <a:lnTo>
                    <a:pt x="736124" y="1149489"/>
                  </a:lnTo>
                  <a:lnTo>
                    <a:pt x="694572" y="1142624"/>
                  </a:lnTo>
                  <a:lnTo>
                    <a:pt x="648676" y="1137521"/>
                  </a:lnTo>
                  <a:lnTo>
                    <a:pt x="598043" y="1134342"/>
                  </a:lnTo>
                  <a:lnTo>
                    <a:pt x="542278" y="1133247"/>
                  </a:lnTo>
                  <a:lnTo>
                    <a:pt x="504911" y="1137172"/>
                  </a:lnTo>
                  <a:lnTo>
                    <a:pt x="460819" y="1147333"/>
                  </a:lnTo>
                  <a:lnTo>
                    <a:pt x="412513" y="1161306"/>
                  </a:lnTo>
                  <a:lnTo>
                    <a:pt x="362503" y="1176668"/>
                  </a:lnTo>
                  <a:lnTo>
                    <a:pt x="313300" y="1190995"/>
                  </a:lnTo>
                  <a:lnTo>
                    <a:pt x="267414" y="1201864"/>
                  </a:lnTo>
                  <a:lnTo>
                    <a:pt x="227354" y="1206853"/>
                  </a:lnTo>
                  <a:lnTo>
                    <a:pt x="195633" y="1203537"/>
                  </a:lnTo>
                  <a:lnTo>
                    <a:pt x="174759" y="1189494"/>
                  </a:lnTo>
                  <a:lnTo>
                    <a:pt x="167243" y="1162300"/>
                  </a:lnTo>
                  <a:lnTo>
                    <a:pt x="163509" y="1107732"/>
                  </a:lnTo>
                  <a:lnTo>
                    <a:pt x="155984" y="1056490"/>
                  </a:lnTo>
                  <a:lnTo>
                    <a:pt x="145302" y="1008022"/>
                  </a:lnTo>
                  <a:lnTo>
                    <a:pt x="132092" y="961771"/>
                  </a:lnTo>
                  <a:lnTo>
                    <a:pt x="116988" y="917183"/>
                  </a:lnTo>
                  <a:lnTo>
                    <a:pt x="100621" y="873705"/>
                  </a:lnTo>
                  <a:lnTo>
                    <a:pt x="66622" y="787857"/>
                  </a:lnTo>
                  <a:lnTo>
                    <a:pt x="50255" y="744379"/>
                  </a:lnTo>
                  <a:lnTo>
                    <a:pt x="35150" y="699792"/>
                  </a:lnTo>
                  <a:lnTo>
                    <a:pt x="21941" y="653541"/>
                  </a:lnTo>
                  <a:lnTo>
                    <a:pt x="11258" y="605072"/>
                  </a:lnTo>
                  <a:lnTo>
                    <a:pt x="3734" y="553830"/>
                  </a:lnTo>
                  <a:lnTo>
                    <a:pt x="0" y="499262"/>
                  </a:lnTo>
                  <a:lnTo>
                    <a:pt x="76019" y="184916"/>
                  </a:lnTo>
                  <a:lnTo>
                    <a:pt x="102479" y="135046"/>
                  </a:lnTo>
                  <a:lnTo>
                    <a:pt x="171557" y="92177"/>
                  </a:lnTo>
                  <a:lnTo>
                    <a:pt x="217249" y="73532"/>
                  </a:lnTo>
                  <a:lnTo>
                    <a:pt x="267800" y="56834"/>
                  </a:lnTo>
                  <a:lnTo>
                    <a:pt x="321280" y="42150"/>
                  </a:lnTo>
                  <a:lnTo>
                    <a:pt x="375757" y="29544"/>
                  </a:lnTo>
                  <a:lnTo>
                    <a:pt x="429300" y="19083"/>
                  </a:lnTo>
                  <a:lnTo>
                    <a:pt x="479976" y="10833"/>
                  </a:lnTo>
                  <a:lnTo>
                    <a:pt x="525855" y="4858"/>
                  </a:lnTo>
                  <a:lnTo>
                    <a:pt x="565004" y="1225"/>
                  </a:lnTo>
                  <a:lnTo>
                    <a:pt x="595492" y="0"/>
                  </a:lnTo>
                  <a:lnTo>
                    <a:pt x="1707907" y="277367"/>
                  </a:lnTo>
                  <a:lnTo>
                    <a:pt x="1748063" y="276653"/>
                  </a:lnTo>
                  <a:lnTo>
                    <a:pt x="1793110" y="275422"/>
                  </a:lnTo>
                  <a:lnTo>
                    <a:pt x="1840481" y="275041"/>
                  </a:lnTo>
                  <a:lnTo>
                    <a:pt x="1887609" y="276878"/>
                  </a:lnTo>
                  <a:lnTo>
                    <a:pt x="1931925" y="282300"/>
                  </a:lnTo>
                  <a:lnTo>
                    <a:pt x="1970863" y="292675"/>
                  </a:lnTo>
                  <a:lnTo>
                    <a:pt x="2022332" y="333751"/>
                  </a:lnTo>
                  <a:lnTo>
                    <a:pt x="2029729" y="367187"/>
                  </a:lnTo>
                  <a:lnTo>
                    <a:pt x="2076048" y="401857"/>
                  </a:lnTo>
                  <a:lnTo>
                    <a:pt x="2114738" y="435600"/>
                  </a:lnTo>
                  <a:lnTo>
                    <a:pt x="2146266" y="468471"/>
                  </a:lnTo>
                  <a:lnTo>
                    <a:pt x="2171097" y="500528"/>
                  </a:lnTo>
                  <a:lnTo>
                    <a:pt x="2202543" y="562426"/>
                  </a:lnTo>
                  <a:lnTo>
                    <a:pt x="2212813" y="621749"/>
                  </a:lnTo>
                  <a:lnTo>
                    <a:pt x="2211175" y="650587"/>
                  </a:lnTo>
                  <a:lnTo>
                    <a:pt x="2196687" y="706899"/>
                  </a:lnTo>
                  <a:lnTo>
                    <a:pt x="2170366" y="761771"/>
                  </a:lnTo>
                  <a:lnTo>
                    <a:pt x="2135947" y="815659"/>
                  </a:lnTo>
                  <a:lnTo>
                    <a:pt x="2097169" y="869017"/>
                  </a:lnTo>
                  <a:lnTo>
                    <a:pt x="2077313" y="895639"/>
                  </a:lnTo>
                  <a:lnTo>
                    <a:pt x="2057768" y="922299"/>
                  </a:lnTo>
                  <a:lnTo>
                    <a:pt x="2021482" y="975960"/>
                  </a:lnTo>
                  <a:lnTo>
                    <a:pt x="1992046" y="1030453"/>
                  </a:lnTo>
                  <a:lnTo>
                    <a:pt x="1973198" y="1086235"/>
                  </a:lnTo>
                  <a:lnTo>
                    <a:pt x="1968913" y="1114751"/>
                  </a:lnTo>
                  <a:lnTo>
                    <a:pt x="1962104" y="1142664"/>
                  </a:lnTo>
                  <a:lnTo>
                    <a:pt x="1913304" y="1204105"/>
                  </a:lnTo>
                  <a:lnTo>
                    <a:pt x="1875092" y="1236117"/>
                  </a:lnTo>
                  <a:lnTo>
                    <a:pt x="1830192" y="1267978"/>
                  </a:lnTo>
                  <a:lnTo>
                    <a:pt x="1780495" y="1298931"/>
                  </a:lnTo>
                  <a:lnTo>
                    <a:pt x="1727891" y="1328216"/>
                  </a:lnTo>
                  <a:lnTo>
                    <a:pt x="1674268" y="1355077"/>
                  </a:lnTo>
                  <a:lnTo>
                    <a:pt x="1621518" y="1378755"/>
                  </a:lnTo>
                  <a:lnTo>
                    <a:pt x="1571531" y="1398490"/>
                  </a:lnTo>
                  <a:lnTo>
                    <a:pt x="1526196" y="1413526"/>
                  </a:lnTo>
                  <a:lnTo>
                    <a:pt x="1487403" y="1423103"/>
                  </a:lnTo>
                  <a:lnTo>
                    <a:pt x="1457042" y="142646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745471" y="3199914"/>
              <a:ext cx="2212975" cy="1426845"/>
            </a:xfrm>
            <a:custGeom>
              <a:rect b="b" l="l" r="r" t="t"/>
              <a:pathLst>
                <a:path extrusionOk="0" h="1426845" w="2212975">
                  <a:moveTo>
                    <a:pt x="76019" y="184916"/>
                  </a:moveTo>
                  <a:lnTo>
                    <a:pt x="102479" y="135046"/>
                  </a:lnTo>
                  <a:lnTo>
                    <a:pt x="171557" y="92177"/>
                  </a:lnTo>
                  <a:lnTo>
                    <a:pt x="217249" y="73532"/>
                  </a:lnTo>
                  <a:lnTo>
                    <a:pt x="267800" y="56834"/>
                  </a:lnTo>
                  <a:lnTo>
                    <a:pt x="321280" y="42150"/>
                  </a:lnTo>
                  <a:lnTo>
                    <a:pt x="375757" y="29544"/>
                  </a:lnTo>
                  <a:lnTo>
                    <a:pt x="429300" y="19083"/>
                  </a:lnTo>
                  <a:lnTo>
                    <a:pt x="479976" y="10833"/>
                  </a:lnTo>
                  <a:lnTo>
                    <a:pt x="525855" y="4858"/>
                  </a:lnTo>
                  <a:lnTo>
                    <a:pt x="565004" y="1225"/>
                  </a:lnTo>
                  <a:lnTo>
                    <a:pt x="595492" y="0"/>
                  </a:lnTo>
                  <a:lnTo>
                    <a:pt x="1707907" y="277367"/>
                  </a:lnTo>
                  <a:lnTo>
                    <a:pt x="1748063" y="276653"/>
                  </a:lnTo>
                  <a:lnTo>
                    <a:pt x="1793110" y="275422"/>
                  </a:lnTo>
                  <a:lnTo>
                    <a:pt x="1840481" y="275041"/>
                  </a:lnTo>
                  <a:lnTo>
                    <a:pt x="1887609" y="276878"/>
                  </a:lnTo>
                  <a:lnTo>
                    <a:pt x="1931925" y="282300"/>
                  </a:lnTo>
                  <a:lnTo>
                    <a:pt x="1970863" y="292675"/>
                  </a:lnTo>
                  <a:lnTo>
                    <a:pt x="2022332" y="333751"/>
                  </a:lnTo>
                  <a:lnTo>
                    <a:pt x="2029729" y="367187"/>
                  </a:lnTo>
                  <a:lnTo>
                    <a:pt x="2076048" y="401857"/>
                  </a:lnTo>
                  <a:lnTo>
                    <a:pt x="2114738" y="435600"/>
                  </a:lnTo>
                  <a:lnTo>
                    <a:pt x="2146266" y="468471"/>
                  </a:lnTo>
                  <a:lnTo>
                    <a:pt x="2171097" y="500528"/>
                  </a:lnTo>
                  <a:lnTo>
                    <a:pt x="2202543" y="562426"/>
                  </a:lnTo>
                  <a:lnTo>
                    <a:pt x="2212813" y="621749"/>
                  </a:lnTo>
                  <a:lnTo>
                    <a:pt x="2211175" y="650587"/>
                  </a:lnTo>
                  <a:lnTo>
                    <a:pt x="2196687" y="706899"/>
                  </a:lnTo>
                  <a:lnTo>
                    <a:pt x="2170366" y="761771"/>
                  </a:lnTo>
                  <a:lnTo>
                    <a:pt x="2135947" y="815659"/>
                  </a:lnTo>
                  <a:lnTo>
                    <a:pt x="2097169" y="869017"/>
                  </a:lnTo>
                  <a:lnTo>
                    <a:pt x="2077313" y="895639"/>
                  </a:lnTo>
                  <a:lnTo>
                    <a:pt x="2057768" y="922299"/>
                  </a:lnTo>
                  <a:lnTo>
                    <a:pt x="2021482" y="975960"/>
                  </a:lnTo>
                  <a:lnTo>
                    <a:pt x="1992046" y="1030453"/>
                  </a:lnTo>
                  <a:lnTo>
                    <a:pt x="1973198" y="1086235"/>
                  </a:lnTo>
                  <a:lnTo>
                    <a:pt x="1968913" y="1114751"/>
                  </a:lnTo>
                  <a:lnTo>
                    <a:pt x="1962104" y="1142664"/>
                  </a:lnTo>
                  <a:lnTo>
                    <a:pt x="1913304" y="1204105"/>
                  </a:lnTo>
                  <a:lnTo>
                    <a:pt x="1875092" y="1236117"/>
                  </a:lnTo>
                  <a:lnTo>
                    <a:pt x="1830192" y="1267978"/>
                  </a:lnTo>
                  <a:lnTo>
                    <a:pt x="1780495" y="1298931"/>
                  </a:lnTo>
                  <a:lnTo>
                    <a:pt x="1727891" y="1328216"/>
                  </a:lnTo>
                  <a:lnTo>
                    <a:pt x="1674268" y="1355077"/>
                  </a:lnTo>
                  <a:lnTo>
                    <a:pt x="1621518" y="1378755"/>
                  </a:lnTo>
                  <a:lnTo>
                    <a:pt x="1571531" y="1398490"/>
                  </a:lnTo>
                  <a:lnTo>
                    <a:pt x="1526196" y="1413526"/>
                  </a:lnTo>
                  <a:lnTo>
                    <a:pt x="1487403" y="1423103"/>
                  </a:lnTo>
                  <a:lnTo>
                    <a:pt x="1457042" y="1426464"/>
                  </a:lnTo>
                  <a:lnTo>
                    <a:pt x="1401277" y="1425369"/>
                  </a:lnTo>
                  <a:lnTo>
                    <a:pt x="1350644" y="1422190"/>
                  </a:lnTo>
                  <a:lnTo>
                    <a:pt x="1304749" y="1417088"/>
                  </a:lnTo>
                  <a:lnTo>
                    <a:pt x="1263196" y="1410222"/>
                  </a:lnTo>
                  <a:lnTo>
                    <a:pt x="1225591" y="1401754"/>
                  </a:lnTo>
                  <a:lnTo>
                    <a:pt x="1160646" y="1380649"/>
                  </a:lnTo>
                  <a:lnTo>
                    <a:pt x="1106754" y="1355057"/>
                  </a:lnTo>
                  <a:lnTo>
                    <a:pt x="1060759" y="1326259"/>
                  </a:lnTo>
                  <a:lnTo>
                    <a:pt x="1019500" y="1295537"/>
                  </a:lnTo>
                  <a:lnTo>
                    <a:pt x="999660" y="1279856"/>
                  </a:lnTo>
                  <a:lnTo>
                    <a:pt x="979821" y="1264174"/>
                  </a:lnTo>
                  <a:lnTo>
                    <a:pt x="938562" y="1233453"/>
                  </a:lnTo>
                  <a:lnTo>
                    <a:pt x="892566" y="1204654"/>
                  </a:lnTo>
                  <a:lnTo>
                    <a:pt x="838675" y="1179062"/>
                  </a:lnTo>
                  <a:lnTo>
                    <a:pt x="773729" y="1157958"/>
                  </a:lnTo>
                  <a:lnTo>
                    <a:pt x="736124" y="1149489"/>
                  </a:lnTo>
                  <a:lnTo>
                    <a:pt x="694572" y="1142624"/>
                  </a:lnTo>
                  <a:lnTo>
                    <a:pt x="648676" y="1137521"/>
                  </a:lnTo>
                  <a:lnTo>
                    <a:pt x="598043" y="1134342"/>
                  </a:lnTo>
                  <a:lnTo>
                    <a:pt x="542278" y="1133247"/>
                  </a:lnTo>
                  <a:lnTo>
                    <a:pt x="504911" y="1137172"/>
                  </a:lnTo>
                  <a:lnTo>
                    <a:pt x="460819" y="1147333"/>
                  </a:lnTo>
                  <a:lnTo>
                    <a:pt x="412513" y="1161306"/>
                  </a:lnTo>
                  <a:lnTo>
                    <a:pt x="362503" y="1176668"/>
                  </a:lnTo>
                  <a:lnTo>
                    <a:pt x="313300" y="1190995"/>
                  </a:lnTo>
                  <a:lnTo>
                    <a:pt x="267414" y="1201864"/>
                  </a:lnTo>
                  <a:lnTo>
                    <a:pt x="227354" y="1206853"/>
                  </a:lnTo>
                  <a:lnTo>
                    <a:pt x="195633" y="1203537"/>
                  </a:lnTo>
                  <a:lnTo>
                    <a:pt x="174759" y="1189494"/>
                  </a:lnTo>
                  <a:lnTo>
                    <a:pt x="167243" y="1162300"/>
                  </a:lnTo>
                  <a:lnTo>
                    <a:pt x="163509" y="1107732"/>
                  </a:lnTo>
                  <a:lnTo>
                    <a:pt x="155984" y="1056490"/>
                  </a:lnTo>
                  <a:lnTo>
                    <a:pt x="145302" y="1008022"/>
                  </a:lnTo>
                  <a:lnTo>
                    <a:pt x="132092" y="961771"/>
                  </a:lnTo>
                  <a:lnTo>
                    <a:pt x="116988" y="917183"/>
                  </a:lnTo>
                  <a:lnTo>
                    <a:pt x="100621" y="873705"/>
                  </a:lnTo>
                  <a:lnTo>
                    <a:pt x="83621" y="830781"/>
                  </a:lnTo>
                  <a:lnTo>
                    <a:pt x="66622" y="787857"/>
                  </a:lnTo>
                  <a:lnTo>
                    <a:pt x="50255" y="744379"/>
                  </a:lnTo>
                  <a:lnTo>
                    <a:pt x="35150" y="699792"/>
                  </a:lnTo>
                  <a:lnTo>
                    <a:pt x="21941" y="653541"/>
                  </a:lnTo>
                  <a:lnTo>
                    <a:pt x="11258" y="605072"/>
                  </a:lnTo>
                  <a:lnTo>
                    <a:pt x="3734" y="553830"/>
                  </a:lnTo>
                  <a:lnTo>
                    <a:pt x="0" y="499262"/>
                  </a:lnTo>
                  <a:lnTo>
                    <a:pt x="76019" y="184916"/>
                  </a:lnTo>
                  <a:close/>
                </a:path>
              </a:pathLst>
            </a:custGeom>
            <a:noFill/>
            <a:ln cap="flat" cmpd="sng" w="25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6" name="Google Shape;336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71397" y="3732082"/>
              <a:ext cx="1275625" cy="72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20"/>
            <p:cNvSpPr/>
            <p:nvPr/>
          </p:nvSpPr>
          <p:spPr>
            <a:xfrm>
              <a:off x="1371397" y="3732082"/>
              <a:ext cx="1275715" cy="722630"/>
            </a:xfrm>
            <a:custGeom>
              <a:rect b="b" l="l" r="r" t="t"/>
              <a:pathLst>
                <a:path extrusionOk="0" h="722629" w="1275714">
                  <a:moveTo>
                    <a:pt x="0" y="74678"/>
                  </a:moveTo>
                  <a:lnTo>
                    <a:pt x="34780" y="46058"/>
                  </a:lnTo>
                  <a:lnTo>
                    <a:pt x="73755" y="34957"/>
                  </a:lnTo>
                  <a:lnTo>
                    <a:pt x="123117" y="25764"/>
                  </a:lnTo>
                  <a:lnTo>
                    <a:pt x="179867" y="18304"/>
                  </a:lnTo>
                  <a:lnTo>
                    <a:pt x="241003" y="12403"/>
                  </a:lnTo>
                  <a:lnTo>
                    <a:pt x="303525" y="7888"/>
                  </a:lnTo>
                  <a:lnTo>
                    <a:pt x="364430" y="4584"/>
                  </a:lnTo>
                  <a:lnTo>
                    <a:pt x="420719" y="2317"/>
                  </a:lnTo>
                  <a:lnTo>
                    <a:pt x="469391" y="914"/>
                  </a:lnTo>
                  <a:lnTo>
                    <a:pt x="531877" y="0"/>
                  </a:lnTo>
                  <a:lnTo>
                    <a:pt x="1109507" y="0"/>
                  </a:lnTo>
                  <a:lnTo>
                    <a:pt x="1171520" y="39429"/>
                  </a:lnTo>
                  <a:lnTo>
                    <a:pt x="1202805" y="80434"/>
                  </a:lnTo>
                  <a:lnTo>
                    <a:pt x="1231181" y="128271"/>
                  </a:lnTo>
                  <a:lnTo>
                    <a:pt x="1254324" y="177418"/>
                  </a:lnTo>
                  <a:lnTo>
                    <a:pt x="1269913" y="222354"/>
                  </a:lnTo>
                  <a:lnTo>
                    <a:pt x="1275625" y="257558"/>
                  </a:lnTo>
                  <a:lnTo>
                    <a:pt x="1184185" y="437386"/>
                  </a:lnTo>
                  <a:lnTo>
                    <a:pt x="1183538" y="474109"/>
                  </a:lnTo>
                  <a:lnTo>
                    <a:pt x="1181012" y="522964"/>
                  </a:lnTo>
                  <a:lnTo>
                    <a:pt x="1175730" y="577470"/>
                  </a:lnTo>
                  <a:lnTo>
                    <a:pt x="1166816" y="631145"/>
                  </a:lnTo>
                  <a:lnTo>
                    <a:pt x="1153391" y="677508"/>
                  </a:lnTo>
                  <a:lnTo>
                    <a:pt x="1109507" y="722376"/>
                  </a:lnTo>
                  <a:lnTo>
                    <a:pt x="669037" y="722376"/>
                  </a:lnTo>
                  <a:lnTo>
                    <a:pt x="611423" y="710541"/>
                  </a:lnTo>
                  <a:lnTo>
                    <a:pt x="566188" y="696966"/>
                  </a:lnTo>
                  <a:lnTo>
                    <a:pt x="513348" y="679368"/>
                  </a:lnTo>
                  <a:lnTo>
                    <a:pt x="455413" y="658560"/>
                  </a:lnTo>
                  <a:lnTo>
                    <a:pt x="394892" y="635353"/>
                  </a:lnTo>
                  <a:lnTo>
                    <a:pt x="334297" y="610560"/>
                  </a:lnTo>
                  <a:lnTo>
                    <a:pt x="276138" y="584992"/>
                  </a:lnTo>
                  <a:lnTo>
                    <a:pt x="222924" y="559463"/>
                  </a:lnTo>
                  <a:lnTo>
                    <a:pt x="177166" y="534783"/>
                  </a:lnTo>
                  <a:lnTo>
                    <a:pt x="141373" y="511764"/>
                  </a:lnTo>
                  <a:lnTo>
                    <a:pt x="109727" y="473962"/>
                  </a:lnTo>
                  <a:lnTo>
                    <a:pt x="105965" y="423275"/>
                  </a:lnTo>
                  <a:lnTo>
                    <a:pt x="95880" y="377330"/>
                  </a:lnTo>
                  <a:lnTo>
                    <a:pt x="81279" y="334771"/>
                  </a:lnTo>
                  <a:lnTo>
                    <a:pt x="63970" y="294244"/>
                  </a:lnTo>
                  <a:lnTo>
                    <a:pt x="45757" y="254395"/>
                  </a:lnTo>
                  <a:lnTo>
                    <a:pt x="28447" y="213868"/>
                  </a:lnTo>
                  <a:lnTo>
                    <a:pt x="13847" y="171310"/>
                  </a:lnTo>
                  <a:lnTo>
                    <a:pt x="3762" y="125364"/>
                  </a:lnTo>
                  <a:lnTo>
                    <a:pt x="0" y="74678"/>
                  </a:lnTo>
                  <a:close/>
                </a:path>
              </a:pathLst>
            </a:custGeom>
            <a:noFill/>
            <a:ln cap="flat" cmpd="sng" w="1902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8" name="Google Shape;338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60493" y="4001003"/>
              <a:ext cx="429779" cy="412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" name="Google Shape;339;p20"/>
          <p:cNvSpPr txBox="1"/>
          <p:nvPr/>
        </p:nvSpPr>
        <p:spPr>
          <a:xfrm>
            <a:off x="5384774" y="3513306"/>
            <a:ext cx="20942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Adversarial Training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7588051" y="3544275"/>
            <a:ext cx="28356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Jain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41" name="Google Shape;341;p20"/>
          <p:cNvGrpSpPr/>
          <p:nvPr/>
        </p:nvGrpSpPr>
        <p:grpSpPr>
          <a:xfrm>
            <a:off x="6692317" y="2229214"/>
            <a:ext cx="1764447" cy="960474"/>
            <a:chOff x="6692317" y="2229214"/>
            <a:chExt cx="1764447" cy="960474"/>
          </a:xfrm>
        </p:grpSpPr>
        <p:sp>
          <p:nvSpPr>
            <p:cNvPr id="342" name="Google Shape;342;p20"/>
            <p:cNvSpPr/>
            <p:nvPr/>
          </p:nvSpPr>
          <p:spPr>
            <a:xfrm>
              <a:off x="6716011" y="2269326"/>
              <a:ext cx="1647189" cy="398145"/>
            </a:xfrm>
            <a:custGeom>
              <a:rect b="b" l="l" r="r" t="t"/>
              <a:pathLst>
                <a:path extrusionOk="0" h="398144" w="1647190">
                  <a:moveTo>
                    <a:pt x="0" y="397675"/>
                  </a:moveTo>
                  <a:lnTo>
                    <a:pt x="1647192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3" name="Google Shape;343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346294" y="2229214"/>
              <a:ext cx="110470" cy="802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20"/>
            <p:cNvSpPr/>
            <p:nvPr/>
          </p:nvSpPr>
          <p:spPr>
            <a:xfrm>
              <a:off x="6692317" y="2671083"/>
              <a:ext cx="1647189" cy="31115"/>
            </a:xfrm>
            <a:custGeom>
              <a:rect b="b" l="l" r="r" t="t"/>
              <a:pathLst>
                <a:path extrusionOk="0" h="31114" w="1647190">
                  <a:moveTo>
                    <a:pt x="0" y="0"/>
                  </a:moveTo>
                  <a:lnTo>
                    <a:pt x="1647019" y="30858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5" name="Google Shape;345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329222" y="2660956"/>
              <a:ext cx="106074" cy="819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20"/>
            <p:cNvSpPr/>
            <p:nvPr/>
          </p:nvSpPr>
          <p:spPr>
            <a:xfrm>
              <a:off x="6716011" y="2672443"/>
              <a:ext cx="1628139" cy="478155"/>
            </a:xfrm>
            <a:custGeom>
              <a:rect b="b" l="l" r="r" t="t"/>
              <a:pathLst>
                <a:path extrusionOk="0" h="478155" w="1628140">
                  <a:moveTo>
                    <a:pt x="0" y="0"/>
                  </a:moveTo>
                  <a:lnTo>
                    <a:pt x="1627920" y="477527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7" name="Google Shape;347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325551" y="3110252"/>
              <a:ext cx="110861" cy="794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8" name="Google Shape;348;p20"/>
          <p:cNvSpPr txBox="1"/>
          <p:nvPr/>
        </p:nvSpPr>
        <p:spPr>
          <a:xfrm>
            <a:off x="8547327" y="2047230"/>
            <a:ext cx="57023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RLHF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DPO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p20"/>
          <p:cNvSpPr txBox="1"/>
          <p:nvPr/>
        </p:nvSpPr>
        <p:spPr>
          <a:xfrm>
            <a:off x="8526575" y="3035556"/>
            <a:ext cx="1165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Unlearning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9174225" y="2566702"/>
            <a:ext cx="27519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Rafailov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9976458" y="3077604"/>
            <a:ext cx="21393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Yao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9271780" y="2069150"/>
            <a:ext cx="20697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Bai et al. (2022)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3" name="Google Shape;353;p20"/>
          <p:cNvSpPr txBox="1"/>
          <p:nvPr/>
        </p:nvSpPr>
        <p:spPr>
          <a:xfrm>
            <a:off x="5401571" y="2504030"/>
            <a:ext cx="10845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Alignment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4" name="Google Shape;354;p20"/>
          <p:cNvSpPr txBox="1"/>
          <p:nvPr/>
        </p:nvSpPr>
        <p:spPr>
          <a:xfrm>
            <a:off x="5398049" y="4308206"/>
            <a:ext cx="8794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Filtering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55" name="Google Shape;355;p20"/>
          <p:cNvGrpSpPr/>
          <p:nvPr/>
        </p:nvGrpSpPr>
        <p:grpSpPr>
          <a:xfrm>
            <a:off x="6520679" y="4468679"/>
            <a:ext cx="1766975" cy="1112906"/>
            <a:chOff x="6520679" y="4468679"/>
            <a:chExt cx="1766975" cy="1112906"/>
          </a:xfrm>
        </p:grpSpPr>
        <p:sp>
          <p:nvSpPr>
            <p:cNvPr id="356" name="Google Shape;356;p20"/>
            <p:cNvSpPr/>
            <p:nvPr/>
          </p:nvSpPr>
          <p:spPr>
            <a:xfrm>
              <a:off x="6520679" y="4509669"/>
              <a:ext cx="1671320" cy="0"/>
            </a:xfrm>
            <a:custGeom>
              <a:rect b="b" l="l" r="r" t="t"/>
              <a:pathLst>
                <a:path extrusionOk="0" h="120000" w="1671320">
                  <a:moveTo>
                    <a:pt x="0" y="0"/>
                  </a:moveTo>
                  <a:lnTo>
                    <a:pt x="1670999" y="0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7" name="Google Shape;357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182154" y="4468679"/>
              <a:ext cx="105500" cy="819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20"/>
            <p:cNvSpPr/>
            <p:nvPr/>
          </p:nvSpPr>
          <p:spPr>
            <a:xfrm>
              <a:off x="6520679" y="4522167"/>
              <a:ext cx="1524000" cy="1029335"/>
            </a:xfrm>
            <a:custGeom>
              <a:rect b="b" l="l" r="r" t="t"/>
              <a:pathLst>
                <a:path extrusionOk="0" h="1029335" w="1524000">
                  <a:moveTo>
                    <a:pt x="3659" y="0"/>
                  </a:moveTo>
                  <a:lnTo>
                    <a:pt x="3659" y="1029299"/>
                  </a:lnTo>
                </a:path>
                <a:path extrusionOk="0" h="1029335" w="1524000">
                  <a:moveTo>
                    <a:pt x="0" y="1018426"/>
                  </a:moveTo>
                  <a:lnTo>
                    <a:pt x="1523699" y="1018426"/>
                  </a:lnTo>
                </a:path>
              </a:pathLst>
            </a:custGeom>
            <a:noFill/>
            <a:ln cap="flat" cmpd="sng" w="19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9" name="Google Shape;359;p2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034854" y="5499604"/>
              <a:ext cx="105500" cy="819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0" name="Google Shape;360;p20"/>
          <p:cNvSpPr txBox="1"/>
          <p:nvPr/>
        </p:nvSpPr>
        <p:spPr>
          <a:xfrm>
            <a:off x="8417351" y="4341255"/>
            <a:ext cx="2095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Input Preprocessing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10070073" y="4735800"/>
            <a:ext cx="23724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Kumar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8329777" y="5344755"/>
            <a:ext cx="2209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Response processing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9933150" y="5788029"/>
            <a:ext cx="2331900" cy="277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Robey et al. (2023)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4" name="Google Shape;364;p20"/>
          <p:cNvSpPr txBox="1"/>
          <p:nvPr>
            <p:ph type="title"/>
          </p:nvPr>
        </p:nvSpPr>
        <p:spPr>
          <a:xfrm>
            <a:off x="3742600" y="-39225"/>
            <a:ext cx="47301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Roadmap for Defenses</a:t>
            </a:r>
            <a:endParaRPr/>
          </a:p>
        </p:txBody>
      </p:sp>
      <p:sp>
        <p:nvSpPr>
          <p:cNvPr id="365" name="Google Shape;365;p20"/>
          <p:cNvSpPr txBox="1"/>
          <p:nvPr/>
        </p:nvSpPr>
        <p:spPr>
          <a:xfrm>
            <a:off x="3729184" y="6504930"/>
            <a:ext cx="47351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EBEBE"/>
                </a:solidFill>
                <a:latin typeface="Tahoma"/>
                <a:ea typeface="Tahoma"/>
                <a:cs typeface="Tahoma"/>
                <a:sym typeface="Tahoma"/>
              </a:rPr>
              <a:t>Defenses against Adversarial attacks on LLMs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881090" y="3351263"/>
            <a:ext cx="1379220" cy="734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17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Malicious space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01015" rtl="0" algn="ctr">
              <a:lnSpc>
                <a:spcPct val="9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Safety training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5010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6846" y="3559244"/>
            <a:ext cx="221258" cy="2082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8" name="Google Shape;368;p20"/>
          <p:cNvGrpSpPr/>
          <p:nvPr/>
        </p:nvGrpSpPr>
        <p:grpSpPr>
          <a:xfrm>
            <a:off x="309587" y="2506695"/>
            <a:ext cx="3423416" cy="2626351"/>
            <a:chOff x="309587" y="2506695"/>
            <a:chExt cx="3423416" cy="2626351"/>
          </a:xfrm>
        </p:grpSpPr>
        <p:sp>
          <p:nvSpPr>
            <p:cNvPr id="369" name="Google Shape;369;p20"/>
            <p:cNvSpPr/>
            <p:nvPr/>
          </p:nvSpPr>
          <p:spPr>
            <a:xfrm>
              <a:off x="344424" y="3146296"/>
              <a:ext cx="464184" cy="340995"/>
            </a:xfrm>
            <a:custGeom>
              <a:rect b="b" l="l" r="r" t="t"/>
              <a:pathLst>
                <a:path extrusionOk="0" h="340995" w="464184">
                  <a:moveTo>
                    <a:pt x="463640" y="34056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309587" y="312070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25523" y="38269"/>
                  </a:moveTo>
                  <a:lnTo>
                    <a:pt x="0" y="0"/>
                  </a:lnTo>
                  <a:lnTo>
                    <a:pt x="44150" y="12909"/>
                  </a:lnTo>
                  <a:lnTo>
                    <a:pt x="25523" y="3826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309587" y="3120706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4150" y="12909"/>
                  </a:moveTo>
                  <a:lnTo>
                    <a:pt x="0" y="0"/>
                  </a:lnTo>
                  <a:lnTo>
                    <a:pt x="25523" y="38269"/>
                  </a:lnTo>
                  <a:lnTo>
                    <a:pt x="44150" y="12909"/>
                  </a:lnTo>
                  <a:close/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1212067" y="2549828"/>
              <a:ext cx="43180" cy="659130"/>
            </a:xfrm>
            <a:custGeom>
              <a:rect b="b" l="l" r="r" t="t"/>
              <a:pathLst>
                <a:path extrusionOk="0" h="659130" w="43180">
                  <a:moveTo>
                    <a:pt x="43072" y="65907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1196367" y="2506695"/>
              <a:ext cx="31750" cy="44450"/>
            </a:xfrm>
            <a:custGeom>
              <a:rect b="b" l="l" r="r" t="t"/>
              <a:pathLst>
                <a:path extrusionOk="0" h="44450" w="31750">
                  <a:moveTo>
                    <a:pt x="0" y="44159"/>
                  </a:moveTo>
                  <a:lnTo>
                    <a:pt x="12880" y="0"/>
                  </a:lnTo>
                  <a:lnTo>
                    <a:pt x="31398" y="42107"/>
                  </a:lnTo>
                  <a:lnTo>
                    <a:pt x="0" y="4415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1196367" y="2506695"/>
              <a:ext cx="31750" cy="44450"/>
            </a:xfrm>
            <a:custGeom>
              <a:rect b="b" l="l" r="r" t="t"/>
              <a:pathLst>
                <a:path extrusionOk="0" h="44450" w="31750">
                  <a:moveTo>
                    <a:pt x="31398" y="42107"/>
                  </a:moveTo>
                  <a:lnTo>
                    <a:pt x="12880" y="0"/>
                  </a:lnTo>
                  <a:lnTo>
                    <a:pt x="0" y="44159"/>
                  </a:lnTo>
                  <a:lnTo>
                    <a:pt x="31398" y="42107"/>
                  </a:lnTo>
                  <a:close/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1819260" y="2874770"/>
              <a:ext cx="494665" cy="449580"/>
            </a:xfrm>
            <a:custGeom>
              <a:rect b="b" l="l" r="r" t="t"/>
              <a:pathLst>
                <a:path extrusionOk="0" h="449579" w="494664">
                  <a:moveTo>
                    <a:pt x="0" y="449249"/>
                  </a:moveTo>
                  <a:lnTo>
                    <a:pt x="494245" y="0"/>
                  </a:ln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2302924" y="2845696"/>
              <a:ext cx="43180" cy="41275"/>
            </a:xfrm>
            <a:custGeom>
              <a:rect b="b" l="l" r="r" t="t"/>
              <a:pathLst>
                <a:path extrusionOk="0" h="41275" w="43180">
                  <a:moveTo>
                    <a:pt x="21164" y="40716"/>
                  </a:moveTo>
                  <a:lnTo>
                    <a:pt x="0" y="17432"/>
                  </a:lnTo>
                  <a:lnTo>
                    <a:pt x="42568" y="0"/>
                  </a:lnTo>
                  <a:lnTo>
                    <a:pt x="21164" y="4071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2302924" y="2845696"/>
              <a:ext cx="43180" cy="41275"/>
            </a:xfrm>
            <a:custGeom>
              <a:rect b="b" l="l" r="r" t="t"/>
              <a:pathLst>
                <a:path extrusionOk="0" h="41275" w="43180">
                  <a:moveTo>
                    <a:pt x="21164" y="40716"/>
                  </a:moveTo>
                  <a:lnTo>
                    <a:pt x="42568" y="0"/>
                  </a:lnTo>
                  <a:lnTo>
                    <a:pt x="0" y="17432"/>
                  </a:lnTo>
                  <a:lnTo>
                    <a:pt x="21164" y="40716"/>
                  </a:lnTo>
                  <a:close/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557806" y="4362213"/>
              <a:ext cx="354965" cy="403225"/>
            </a:xfrm>
            <a:custGeom>
              <a:rect b="b" l="l" r="r" t="t"/>
              <a:pathLst>
                <a:path extrusionOk="0" h="403225" w="354965">
                  <a:moveTo>
                    <a:pt x="354909" y="0"/>
                  </a:moveTo>
                  <a:lnTo>
                    <a:pt x="0" y="402628"/>
                  </a:ln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529223" y="4754439"/>
              <a:ext cx="40640" cy="43180"/>
            </a:xfrm>
            <a:custGeom>
              <a:rect b="b" l="l" r="r" t="t"/>
              <a:pathLst>
                <a:path extrusionOk="0" h="43179" w="40640">
                  <a:moveTo>
                    <a:pt x="0" y="42829"/>
                  </a:moveTo>
                  <a:lnTo>
                    <a:pt x="16780" y="0"/>
                  </a:lnTo>
                  <a:lnTo>
                    <a:pt x="40385" y="20806"/>
                  </a:lnTo>
                  <a:lnTo>
                    <a:pt x="0" y="4282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0"/>
            <p:cNvSpPr/>
            <p:nvPr/>
          </p:nvSpPr>
          <p:spPr>
            <a:xfrm>
              <a:off x="529223" y="4754439"/>
              <a:ext cx="40640" cy="43180"/>
            </a:xfrm>
            <a:custGeom>
              <a:rect b="b" l="l" r="r" t="t"/>
              <a:pathLst>
                <a:path extrusionOk="0" h="43179" w="40640">
                  <a:moveTo>
                    <a:pt x="16780" y="0"/>
                  </a:moveTo>
                  <a:lnTo>
                    <a:pt x="0" y="42829"/>
                  </a:lnTo>
                  <a:lnTo>
                    <a:pt x="40385" y="20806"/>
                  </a:lnTo>
                  <a:lnTo>
                    <a:pt x="1678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0"/>
            <p:cNvSpPr/>
            <p:nvPr/>
          </p:nvSpPr>
          <p:spPr>
            <a:xfrm>
              <a:off x="2667084" y="4409759"/>
              <a:ext cx="879475" cy="654685"/>
            </a:xfrm>
            <a:custGeom>
              <a:rect b="b" l="l" r="r" t="t"/>
              <a:pathLst>
                <a:path extrusionOk="0" h="654685" w="879475">
                  <a:moveTo>
                    <a:pt x="0" y="0"/>
                  </a:moveTo>
                  <a:lnTo>
                    <a:pt x="879351" y="654381"/>
                  </a:ln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0"/>
            <p:cNvSpPr/>
            <p:nvPr/>
          </p:nvSpPr>
          <p:spPr>
            <a:xfrm>
              <a:off x="3537044" y="5051519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44069" y="38426"/>
                  </a:moveTo>
                  <a:lnTo>
                    <a:pt x="0" y="25242"/>
                  </a:lnTo>
                  <a:lnTo>
                    <a:pt x="18784" y="0"/>
                  </a:lnTo>
                  <a:lnTo>
                    <a:pt x="44069" y="3842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3537044" y="5051519"/>
              <a:ext cx="44450" cy="38735"/>
            </a:xfrm>
            <a:custGeom>
              <a:rect b="b" l="l" r="r" t="t"/>
              <a:pathLst>
                <a:path extrusionOk="0" h="38735" w="44450">
                  <a:moveTo>
                    <a:pt x="0" y="25242"/>
                  </a:moveTo>
                  <a:lnTo>
                    <a:pt x="44069" y="38426"/>
                  </a:lnTo>
                  <a:lnTo>
                    <a:pt x="18784" y="0"/>
                  </a:lnTo>
                  <a:lnTo>
                    <a:pt x="0" y="25242"/>
                  </a:lnTo>
                  <a:close/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0"/>
            <p:cNvSpPr/>
            <p:nvPr/>
          </p:nvSpPr>
          <p:spPr>
            <a:xfrm>
              <a:off x="2805522" y="3870502"/>
              <a:ext cx="885190" cy="219710"/>
            </a:xfrm>
            <a:custGeom>
              <a:rect b="b" l="l" r="r" t="t"/>
              <a:pathLst>
                <a:path extrusionOk="0" h="219710" w="885189">
                  <a:moveTo>
                    <a:pt x="0" y="219617"/>
                  </a:moveTo>
                  <a:lnTo>
                    <a:pt x="884916" y="0"/>
                  </a:ln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3686648" y="3855233"/>
              <a:ext cx="46355" cy="31115"/>
            </a:xfrm>
            <a:custGeom>
              <a:rect b="b" l="l" r="r" t="t"/>
              <a:pathLst>
                <a:path extrusionOk="0" h="31114" w="46354">
                  <a:moveTo>
                    <a:pt x="7579" y="30538"/>
                  </a:moveTo>
                  <a:lnTo>
                    <a:pt x="0" y="0"/>
                  </a:lnTo>
                  <a:lnTo>
                    <a:pt x="45742" y="4857"/>
                  </a:lnTo>
                  <a:lnTo>
                    <a:pt x="7579" y="30538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0"/>
            <p:cNvSpPr/>
            <p:nvPr/>
          </p:nvSpPr>
          <p:spPr>
            <a:xfrm>
              <a:off x="3686648" y="3855233"/>
              <a:ext cx="46355" cy="31115"/>
            </a:xfrm>
            <a:custGeom>
              <a:rect b="b" l="l" r="r" t="t"/>
              <a:pathLst>
                <a:path extrusionOk="0" h="31114" w="46354">
                  <a:moveTo>
                    <a:pt x="7579" y="30538"/>
                  </a:moveTo>
                  <a:lnTo>
                    <a:pt x="45742" y="4857"/>
                  </a:lnTo>
                  <a:lnTo>
                    <a:pt x="0" y="0"/>
                  </a:lnTo>
                  <a:lnTo>
                    <a:pt x="7579" y="30538"/>
                  </a:lnTo>
                  <a:close/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1660442" y="4409759"/>
              <a:ext cx="163195" cy="681355"/>
            </a:xfrm>
            <a:custGeom>
              <a:rect b="b" l="l" r="r" t="t"/>
              <a:pathLst>
                <a:path extrusionOk="0" h="681354" w="163194">
                  <a:moveTo>
                    <a:pt x="0" y="0"/>
                  </a:moveTo>
                  <a:lnTo>
                    <a:pt x="162568" y="681218"/>
                  </a:ln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0"/>
            <p:cNvSpPr/>
            <p:nvPr/>
          </p:nvSpPr>
          <p:spPr>
            <a:xfrm>
              <a:off x="1807708" y="5087326"/>
              <a:ext cx="31115" cy="45720"/>
            </a:xfrm>
            <a:custGeom>
              <a:rect b="b" l="l" r="r" t="t"/>
              <a:pathLst>
                <a:path extrusionOk="0" h="45720" w="31114">
                  <a:moveTo>
                    <a:pt x="25336" y="45696"/>
                  </a:moveTo>
                  <a:lnTo>
                    <a:pt x="0" y="7303"/>
                  </a:lnTo>
                  <a:lnTo>
                    <a:pt x="30605" y="0"/>
                  </a:lnTo>
                  <a:lnTo>
                    <a:pt x="25336" y="456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0"/>
            <p:cNvSpPr/>
            <p:nvPr/>
          </p:nvSpPr>
          <p:spPr>
            <a:xfrm>
              <a:off x="1807708" y="5087326"/>
              <a:ext cx="31115" cy="45720"/>
            </a:xfrm>
            <a:custGeom>
              <a:rect b="b" l="l" r="r" t="t"/>
              <a:pathLst>
                <a:path extrusionOk="0" h="45720" w="31114">
                  <a:moveTo>
                    <a:pt x="0" y="7303"/>
                  </a:moveTo>
                  <a:lnTo>
                    <a:pt x="25336" y="45696"/>
                  </a:lnTo>
                  <a:lnTo>
                    <a:pt x="30605" y="0"/>
                  </a:lnTo>
                  <a:lnTo>
                    <a:pt x="0" y="7303"/>
                  </a:lnTo>
                  <a:close/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2752201" y="3217116"/>
              <a:ext cx="413384" cy="276225"/>
            </a:xfrm>
            <a:custGeom>
              <a:rect b="b" l="l" r="r" t="t"/>
              <a:pathLst>
                <a:path extrusionOk="0" h="276225" w="413385">
                  <a:moveTo>
                    <a:pt x="0" y="276036"/>
                  </a:moveTo>
                  <a:lnTo>
                    <a:pt x="413320" y="0"/>
                  </a:ln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3156783" y="3193109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75" y="37090"/>
                  </a:moveTo>
                  <a:lnTo>
                    <a:pt x="0" y="10923"/>
                  </a:lnTo>
                  <a:lnTo>
                    <a:pt x="44683" y="0"/>
                  </a:lnTo>
                  <a:lnTo>
                    <a:pt x="17475" y="3709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0"/>
            <p:cNvSpPr/>
            <p:nvPr/>
          </p:nvSpPr>
          <p:spPr>
            <a:xfrm>
              <a:off x="3156783" y="3193109"/>
              <a:ext cx="45085" cy="37465"/>
            </a:xfrm>
            <a:custGeom>
              <a:rect b="b" l="l" r="r" t="t"/>
              <a:pathLst>
                <a:path extrusionOk="0" h="37464" w="45085">
                  <a:moveTo>
                    <a:pt x="17475" y="37090"/>
                  </a:moveTo>
                  <a:lnTo>
                    <a:pt x="44683" y="0"/>
                  </a:lnTo>
                  <a:lnTo>
                    <a:pt x="0" y="10923"/>
                  </a:lnTo>
                  <a:lnTo>
                    <a:pt x="17475" y="37090"/>
                  </a:lnTo>
                  <a:close/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93" name="Google Shape;393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fbd7c83c5_0_45"/>
          <p:cNvSpPr txBox="1"/>
          <p:nvPr>
            <p:ph type="title"/>
          </p:nvPr>
        </p:nvSpPr>
        <p:spPr>
          <a:xfrm>
            <a:off x="2642375" y="1769450"/>
            <a:ext cx="66969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Thank you</a:t>
            </a:r>
            <a:endParaRPr sz="4400"/>
          </a:p>
        </p:txBody>
      </p:sp>
      <p:pic>
        <p:nvPicPr>
          <p:cNvPr id="399" name="Google Shape;399;g39fbd7c83c5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1221" y="246845"/>
            <a:ext cx="541704" cy="9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2025-11-03T07:03:01Z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2025-11-03T00:00:00Z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2025-11-03T00:00:00Z</vt:filetime>
  </property>
</Properties>
</file>