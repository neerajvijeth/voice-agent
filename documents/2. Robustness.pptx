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5143500" cx="9144000"/>
  <p:notesSz cx="6858000" cy="9144000"/>
  <p:embeddedFontLst>
    <p:embeddedFont>
      <p:font typeface="Nunito"/>
      <p:regular r:id="rId58"/>
      <p:bold r:id="rId59"/>
      <p:italic r:id="rId60"/>
      <p:boldItalic r:id="rId61"/>
    </p:embeddedFont>
    <p:embeddedFont>
      <p:font typeface="Noto Sans Symbols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NotoSansSymbols-regular.fntdata"/><Relationship Id="rId61" Type="http://schemas.openxmlformats.org/officeDocument/2006/relationships/font" Target="fonts/Nunito-boldItalic.fntdata"/><Relationship Id="rId20" Type="http://schemas.openxmlformats.org/officeDocument/2006/relationships/slide" Target="slides/slide15.xml"/><Relationship Id="rId63" Type="http://schemas.openxmlformats.org/officeDocument/2006/relationships/font" Target="fonts/NotoSansSymbols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Nunit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Nunito-bold.fntdata"/><Relationship Id="rId14" Type="http://schemas.openxmlformats.org/officeDocument/2006/relationships/slide" Target="slides/slide9.xml"/><Relationship Id="rId58" Type="http://schemas.openxmlformats.org/officeDocument/2006/relationships/font" Target="fonts/Nunit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www.instagram.com/isfcr.pesu" TargetMode="External"/><Relationship Id="rId4" Type="http://schemas.openxmlformats.org/officeDocument/2006/relationships/image" Target="../media/image1.png"/><Relationship Id="rId11" Type="http://schemas.openxmlformats.org/officeDocument/2006/relationships/hyperlink" Target="http://www.isfcr.pes.edu/" TargetMode="External"/><Relationship Id="rId10" Type="http://schemas.openxmlformats.org/officeDocument/2006/relationships/image" Target="../media/image2.png"/><Relationship Id="rId12" Type="http://schemas.openxmlformats.org/officeDocument/2006/relationships/image" Target="../media/image7.png"/><Relationship Id="rId9" Type="http://schemas.openxmlformats.org/officeDocument/2006/relationships/hyperlink" Target="http://www.isfcr.pes.edu/" TargetMode="External"/><Relationship Id="rId5" Type="http://schemas.openxmlformats.org/officeDocument/2006/relationships/hyperlink" Target="https://www.instagram.com/isfcr.pesu" TargetMode="External"/><Relationship Id="rId6" Type="http://schemas.openxmlformats.org/officeDocument/2006/relationships/hyperlink" Target="https://in.linkedin.com/company/isfcr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in.linkedin.com/company/isfcr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 Slide">
  <p:cSld name="Welcom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/>
        </p:nvSpPr>
        <p:spPr>
          <a:xfrm>
            <a:off x="3111795" y="1956391"/>
            <a:ext cx="28069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rPr>
              <a:t>Welcome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0" y="2340641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PES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2197395" y="3024017"/>
            <a:ext cx="47492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rPr>
              <a:t>Ring Road Campus, Bengaluru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7200" y="413707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lcome Slide 2">
  <p:cSld name="Welcome Slide 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304341" y="3370510"/>
            <a:ext cx="4600575" cy="771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2400"/>
              <a:buNone/>
              <a:defRPr b="0" sz="2400">
                <a:solidFill>
                  <a:srgbClr val="EA7F2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2304342" y="2564530"/>
            <a:ext cx="460057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12344"/>
              </a:buClr>
              <a:buSzPts val="2400"/>
              <a:buNone/>
              <a:defRPr b="0" sz="24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body"/>
          </p:nvPr>
        </p:nvSpPr>
        <p:spPr>
          <a:xfrm>
            <a:off x="1433597" y="1656209"/>
            <a:ext cx="634206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3600"/>
              <a:buNone/>
              <a:defRPr b="1" sz="3600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0575" y="413707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Bullets">
  <p:cSld name="Title + Content - Bulle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8" name="Google Shape;28;p4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251520" y="688928"/>
            <a:ext cx="8471338" cy="411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Inter"/>
              <a:buChar char="☞"/>
              <a:defRPr sz="2400">
                <a:solidFill>
                  <a:srgbClr val="3A3A3A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400"/>
              <a:buChar char="•"/>
              <a:defRPr sz="2400">
                <a:solidFill>
                  <a:srgbClr val="3A3A3A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Char char="●"/>
              <a:defRPr sz="2000">
                <a:solidFill>
                  <a:srgbClr val="3A3A3A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938">
          <p15:clr>
            <a:srgbClr val="FBAE40"/>
          </p15:clr>
        </p15:guide>
        <p15:guide id="2" pos="2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 " showMasterSp="0">
  <p:cSld name="Chapter Title 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55;p124" id="35" name="Google Shape;3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8" y="44872"/>
            <a:ext cx="258346" cy="36310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title"/>
          </p:nvPr>
        </p:nvSpPr>
        <p:spPr>
          <a:xfrm>
            <a:off x="311699" y="1851669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3600"/>
              <a:buFont typeface="Calibri"/>
              <a:buNone/>
              <a:defRPr b="1" sz="3600">
                <a:solidFill>
                  <a:srgbClr val="112344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57425" y="4887038"/>
            <a:ext cx="171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I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ISFCR Executive Education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0" y="4891790"/>
            <a:ext cx="9144000" cy="267600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25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5"/>
          <p:cNvCxnSpPr/>
          <p:nvPr/>
        </p:nvCxnSpPr>
        <p:spPr>
          <a:xfrm>
            <a:off x="326175" y="2650815"/>
            <a:ext cx="8032500" cy="0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25438" y="2786465"/>
            <a:ext cx="8507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Calibri"/>
              <a:buNone/>
              <a:defRPr sz="2400">
                <a:solidFill>
                  <a:srgbClr val="3A3A3A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Calibri"/>
              <a:buChar char="•"/>
              <a:defRPr sz="2400">
                <a:solidFill>
                  <a:srgbClr val="3A3A3A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Calibri"/>
              <a:buChar char="•"/>
              <a:defRPr sz="2400">
                <a:solidFill>
                  <a:srgbClr val="3A3A3A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Calibri"/>
              <a:buChar char="•"/>
              <a:defRPr sz="2400">
                <a:solidFill>
                  <a:srgbClr val="3A3A3A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Calibri"/>
              <a:buChar char="•"/>
              <a:defRPr sz="2400">
                <a:solidFill>
                  <a:srgbClr val="3A3A3A"/>
                </a:solidFill>
              </a:defRPr>
            </a:lvl5pPr>
            <a:lvl6pPr indent="-361950" lvl="5" marL="2743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Char char="•"/>
              <a:defRPr/>
            </a:lvl6pPr>
            <a:lvl7pPr indent="-36195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Char char="•"/>
              <a:defRPr/>
            </a:lvl7pPr>
            <a:lvl8pPr indent="-36195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Char char="•"/>
              <a:defRPr/>
            </a:lvl8pPr>
            <a:lvl9pPr indent="-361950" lvl="8" marL="4114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801195" y="4881001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2" name="Google Shape;42;p5"/>
          <p:cNvSpPr txBox="1"/>
          <p:nvPr/>
        </p:nvSpPr>
        <p:spPr>
          <a:xfrm>
            <a:off x="297244" y="4887038"/>
            <a:ext cx="194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63;p124" id="43" name="Google Shape;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3"/>
            <a:ext cx="708204" cy="363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3648484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/>
        </p:nvSpPr>
        <p:spPr>
          <a:xfrm>
            <a:off x="2090176" y="452017"/>
            <a:ext cx="499462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4041" y="2586418"/>
            <a:ext cx="662016" cy="66201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>
            <a:hlinkClick r:id="rId5"/>
          </p:cNvPr>
          <p:cNvSpPr txBox="1"/>
          <p:nvPr/>
        </p:nvSpPr>
        <p:spPr>
          <a:xfrm>
            <a:off x="1814989" y="3251718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isfcr.pesu</a:t>
            </a:r>
            <a:endParaRPr b="0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Google Shape;49;p6"/>
          <p:cNvGrpSpPr/>
          <p:nvPr/>
        </p:nvGrpSpPr>
        <p:grpSpPr>
          <a:xfrm>
            <a:off x="6371669" y="2585932"/>
            <a:ext cx="779738" cy="1035118"/>
            <a:chOff x="6993237" y="2485157"/>
            <a:chExt cx="779738" cy="1035118"/>
          </a:xfrm>
        </p:grpSpPr>
        <p:pic>
          <p:nvPicPr>
            <p:cNvPr id="50" name="Google Shape;50;p6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52098" y="2485157"/>
              <a:ext cx="662016" cy="662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6">
              <a:hlinkClick r:id="rId8"/>
            </p:cNvPr>
            <p:cNvSpPr txBox="1"/>
            <p:nvPr/>
          </p:nvSpPr>
          <p:spPr>
            <a:xfrm>
              <a:off x="6993237" y="3150943"/>
              <a:ext cx="7797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IN" sz="18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ISFCR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2" name="Google Shape;52;p6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7861" y="2585932"/>
            <a:ext cx="659253" cy="65925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>
            <a:hlinkClick r:id="rId11"/>
          </p:cNvPr>
          <p:cNvSpPr txBox="1"/>
          <p:nvPr/>
        </p:nvSpPr>
        <p:spPr>
          <a:xfrm>
            <a:off x="3549612" y="3245185"/>
            <a:ext cx="20757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www.isfcr.pes.edu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2090176" y="1819418"/>
            <a:ext cx="49946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Follow 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84800" y="4111745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Welcome Slide 2">
  <p:cSld name="1_Welcome Slide 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700" y="152249"/>
            <a:ext cx="2603899" cy="1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/>
        </p:nvSpPr>
        <p:spPr>
          <a:xfrm>
            <a:off x="1331640" y="1879850"/>
            <a:ext cx="648072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EA7F25"/>
                </a:solidFill>
                <a:latin typeface="Calibri"/>
                <a:ea typeface="Calibri"/>
                <a:cs typeface="Calibri"/>
                <a:sym typeface="Calibri"/>
              </a:rPr>
              <a:t>Computer Network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UE20CS336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" name="Google Shape;60;p7"/>
          <p:cNvSpPr txBox="1"/>
          <p:nvPr>
            <p:ph idx="1" type="body"/>
          </p:nvPr>
        </p:nvSpPr>
        <p:spPr>
          <a:xfrm>
            <a:off x="2317750" y="3346450"/>
            <a:ext cx="4600575" cy="771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A7F25"/>
              </a:buClr>
              <a:buSzPts val="2400"/>
              <a:buNone/>
              <a:defRPr b="0" sz="2400">
                <a:solidFill>
                  <a:srgbClr val="EA7F25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5475" y="462270"/>
            <a:ext cx="1618775" cy="82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Image on Left">
  <p:cSld name="Title + Content - Image on Lef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66" name="Google Shape;66;p8"/>
          <p:cNvCxnSpPr/>
          <p:nvPr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8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8" name="Google Shape;68;p8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4713785" y="683267"/>
            <a:ext cx="4176464" cy="411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A3A3A"/>
              </a:buClr>
              <a:buSzPts val="2400"/>
              <a:buFont typeface="Inter"/>
              <a:buChar char="☞"/>
              <a:defRPr sz="2400">
                <a:solidFill>
                  <a:srgbClr val="3A3A3A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400"/>
              <a:buChar char="•"/>
              <a:defRPr sz="2400">
                <a:solidFill>
                  <a:srgbClr val="3A3A3A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Char char="●"/>
              <a:defRPr sz="2000">
                <a:solidFill>
                  <a:srgbClr val="3A3A3A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3A3A3A"/>
              </a:buClr>
              <a:buSzPts val="2000"/>
              <a:buChar char="•"/>
              <a:defRPr sz="2000">
                <a:solidFill>
                  <a:srgbClr val="3A3A3A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8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- Image Comparison">
  <p:cSld name="Title + Content - Image Comparis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0" y="4891791"/>
            <a:ext cx="9144000" cy="267494"/>
          </a:xfrm>
          <a:prstGeom prst="rect">
            <a:avLst/>
          </a:prstGeom>
          <a:gradFill>
            <a:gsLst>
              <a:gs pos="0">
                <a:srgbClr val="FFFFFF"/>
              </a:gs>
              <a:gs pos="4000">
                <a:srgbClr val="FFFFFF"/>
              </a:gs>
              <a:gs pos="80000">
                <a:srgbClr val="EA7F25"/>
              </a:gs>
              <a:gs pos="100000">
                <a:srgbClr val="EA7F25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472458" y="4850191"/>
            <a:ext cx="548700" cy="267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76" name="Google Shape;76;p9"/>
          <p:cNvCxnSpPr/>
          <p:nvPr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9"/>
          <p:cNvSpPr txBox="1"/>
          <p:nvPr>
            <p:ph type="title"/>
          </p:nvPr>
        </p:nvSpPr>
        <p:spPr>
          <a:xfrm>
            <a:off x="251520" y="8604"/>
            <a:ext cx="7886700" cy="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800"/>
              <a:buFont typeface="Calibri"/>
              <a:buNone/>
              <a:defRPr b="1" sz="2800">
                <a:solidFill>
                  <a:srgbClr val="1123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8" name="Google Shape;78;p9"/>
          <p:cNvCxnSpPr/>
          <p:nvPr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cap="flat" cmpd="sng" w="9525">
            <a:solidFill>
              <a:srgbClr val="EA7F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9"/>
          <p:cNvSpPr txBox="1"/>
          <p:nvPr/>
        </p:nvSpPr>
        <p:spPr>
          <a:xfrm>
            <a:off x="251520" y="4887039"/>
            <a:ext cx="20370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875" y="44874"/>
            <a:ext cx="708204" cy="3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medium.com/@slavadubrov/understanding-machine-learning-robustness-why-it-matters-and-how-it-affects-your-models-5e2cb5838dab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9.jpg"/><Relationship Id="rId5" Type="http://schemas.openxmlformats.org/officeDocument/2006/relationships/image" Target="../media/image16.jp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hyperlink" Target="https://arxiv.org/pdf/2109.13916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24.jpg"/><Relationship Id="rId5" Type="http://schemas.openxmlformats.org/officeDocument/2006/relationships/image" Target="../media/image23.jpg"/><Relationship Id="rId6" Type="http://schemas.openxmlformats.org/officeDocument/2006/relationships/image" Target="../media/image1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jpg"/><Relationship Id="rId4" Type="http://schemas.openxmlformats.org/officeDocument/2006/relationships/hyperlink" Target="https://en.wikipedia.org/wiki/ImageNe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Relationship Id="rId4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jpg"/><Relationship Id="rId4" Type="http://schemas.openxmlformats.org/officeDocument/2006/relationships/image" Target="../media/image32.jpg"/><Relationship Id="rId5" Type="http://schemas.openxmlformats.org/officeDocument/2006/relationships/image" Target="../media/image3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jpg"/><Relationship Id="rId4" Type="http://schemas.openxmlformats.org/officeDocument/2006/relationships/image" Target="../media/image36.jpg"/><Relationship Id="rId5" Type="http://schemas.openxmlformats.org/officeDocument/2006/relationships/image" Target="../media/image28.jpg"/><Relationship Id="rId6" Type="http://schemas.openxmlformats.org/officeDocument/2006/relationships/image" Target="../media/image3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jpg"/><Relationship Id="rId4" Type="http://schemas.openxmlformats.org/officeDocument/2006/relationships/image" Target="../media/image3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jpg"/><Relationship Id="rId10" Type="http://schemas.openxmlformats.org/officeDocument/2006/relationships/image" Target="../media/image47.png"/><Relationship Id="rId13" Type="http://schemas.openxmlformats.org/officeDocument/2006/relationships/image" Target="../media/image46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jpg"/><Relationship Id="rId4" Type="http://schemas.openxmlformats.org/officeDocument/2006/relationships/hyperlink" Target="https://en.wikipedia.org/wiki/Convex_combination" TargetMode="External"/><Relationship Id="rId9" Type="http://schemas.openxmlformats.org/officeDocument/2006/relationships/image" Target="../media/image45.png"/><Relationship Id="rId15" Type="http://schemas.openxmlformats.org/officeDocument/2006/relationships/image" Target="../media/image41.jpg"/><Relationship Id="rId14" Type="http://schemas.openxmlformats.org/officeDocument/2006/relationships/image" Target="../media/image54.png"/><Relationship Id="rId16" Type="http://schemas.openxmlformats.org/officeDocument/2006/relationships/image" Target="../media/image44.png"/><Relationship Id="rId5" Type="http://schemas.openxmlformats.org/officeDocument/2006/relationships/image" Target="../media/image65.png"/><Relationship Id="rId6" Type="http://schemas.openxmlformats.org/officeDocument/2006/relationships/image" Target="../media/image42.png"/><Relationship Id="rId7" Type="http://schemas.openxmlformats.org/officeDocument/2006/relationships/image" Target="../media/image57.jpg"/><Relationship Id="rId8" Type="http://schemas.openxmlformats.org/officeDocument/2006/relationships/image" Target="../media/image4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6.jpg"/><Relationship Id="rId4" Type="http://schemas.openxmlformats.org/officeDocument/2006/relationships/image" Target="../media/image5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5.jpg"/><Relationship Id="rId4" Type="http://schemas.openxmlformats.org/officeDocument/2006/relationships/image" Target="../media/image56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9.png"/><Relationship Id="rId4" Type="http://schemas.openxmlformats.org/officeDocument/2006/relationships/image" Target="../media/image6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0.jpg"/><Relationship Id="rId4" Type="http://schemas.openxmlformats.org/officeDocument/2006/relationships/image" Target="../media/image62.jpg"/><Relationship Id="rId5" Type="http://schemas.openxmlformats.org/officeDocument/2006/relationships/hyperlink" Target="https://sites.google.com/view/distshift2023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course.mlsafety.org/" TargetMode="External"/><Relationship Id="rId4" Type="http://schemas.openxmlformats.org/officeDocument/2006/relationships/hyperlink" Target="https://www.aisafetybook.com/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2304342" y="3795886"/>
            <a:ext cx="46005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Lecture 2:  Robustness</a:t>
            </a:r>
            <a:endParaRPr/>
          </a:p>
        </p:txBody>
      </p:sp>
      <p:sp>
        <p:nvSpPr>
          <p:cNvPr id="90" name="Google Shape;90;p11"/>
          <p:cNvSpPr txBox="1"/>
          <p:nvPr>
            <p:ph idx="2" type="body"/>
          </p:nvPr>
        </p:nvSpPr>
        <p:spPr>
          <a:xfrm>
            <a:off x="1999551" y="2931804"/>
            <a:ext cx="51912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344"/>
              </a:buClr>
              <a:buSzPts val="2400"/>
              <a:buNone/>
            </a:pPr>
            <a:r>
              <a:rPr lang="en-IN"/>
              <a:t>Preet Kanwal</a:t>
            </a:r>
            <a:endParaRPr/>
          </a:p>
        </p:txBody>
      </p:sp>
      <p:sp>
        <p:nvSpPr>
          <p:cNvPr id="91" name="Google Shape;91;p11"/>
          <p:cNvSpPr txBox="1"/>
          <p:nvPr>
            <p:ph idx="3" type="body"/>
          </p:nvPr>
        </p:nvSpPr>
        <p:spPr>
          <a:xfrm>
            <a:off x="1433597" y="1656209"/>
            <a:ext cx="63420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IN"/>
              <a:t>Responsible AI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Robustness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8" name="Google Shape;98;p12"/>
          <p:cNvSpPr txBox="1"/>
          <p:nvPr/>
        </p:nvSpPr>
        <p:spPr>
          <a:xfrm>
            <a:off x="251520" y="1545250"/>
            <a:ext cx="775234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to maintain the performance when faced with uncertainties or adversarial conditions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854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should generalize well and provide reliable predictions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Handling noisy data, distribution shifts, adversarial conditions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251520" y="4203603"/>
            <a:ext cx="8444036" cy="257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7"/>
              <a:buFont typeface="Arial"/>
              <a:buNone/>
            </a:pPr>
            <a:r>
              <a:rPr b="0" i="0" lang="en-IN" sz="1127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https://medium.com/@slavadubrov/understanding-machine-learning-robustness-why-it-matters-and-how-it-affects-your-models-5e2cb58382dab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Robustness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60947" y="819150"/>
            <a:ext cx="8072450" cy="115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3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Transition from AI Risks to Robustness, through Risk Decomposition Black Swans Distribution Shifts Methods to deal with distribution shifts and black swans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Black Swans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474367" y="1095423"/>
            <a:ext cx="2505125" cy="2840068"/>
          </a:xfrm>
          <a:custGeom>
            <a:rect b="b" l="l" r="r" t="t"/>
            <a:pathLst>
              <a:path extrusionOk="0" h="3257550" w="2428875">
                <a:moveTo>
                  <a:pt x="0" y="0"/>
                </a:moveTo>
                <a:lnTo>
                  <a:pt x="2428875" y="0"/>
                </a:lnTo>
                <a:lnTo>
                  <a:pt x="2428875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25551" y="1095423"/>
            <a:ext cx="5253354" cy="1714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24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4"/>
              <a:buFont typeface="Arial"/>
              <a:buNone/>
            </a:pPr>
            <a:r>
              <a:rPr b="0" i="0" lang="en-IN" sz="2404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Black Swans Long Tailed Distributions Mediocristan and Extremistan Unknown Unknowns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078945" y="5502650"/>
            <a:ext cx="75073" cy="151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2"/>
              <a:buFont typeface="Arial"/>
              <a:buNone/>
            </a:pPr>
            <a:r>
              <a:rPr b="0" i="0" lang="en-IN" sz="902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Black Swans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962650" y="1666875"/>
            <a:ext cx="2990850" cy="1866900"/>
          </a:xfrm>
          <a:custGeom>
            <a:rect b="b" l="l" r="r" t="t"/>
            <a:pathLst>
              <a:path extrusionOk="0" h="1866900" w="2990850">
                <a:moveTo>
                  <a:pt x="0" y="0"/>
                </a:moveTo>
                <a:lnTo>
                  <a:pt x="2990850" y="0"/>
                </a:lnTo>
                <a:lnTo>
                  <a:pt x="299085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5"/>
          <p:cNvSpPr txBox="1"/>
          <p:nvPr/>
        </p:nvSpPr>
        <p:spPr>
          <a:xfrm>
            <a:off x="387728" y="2280780"/>
            <a:ext cx="3807142" cy="31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5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7"/>
              <a:buFont typeface="Arial"/>
              <a:buNone/>
            </a:pPr>
            <a:r>
              <a:rPr b="0" i="0" lang="en-IN" sz="2027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black-colored swans in Australia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387728" y="654280"/>
            <a:ext cx="7886700" cy="1039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304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7"/>
              <a:buFont typeface="Arial"/>
              <a:buNone/>
            </a:pPr>
            <a:r>
              <a:rPr b="0" i="0" lang="en-IN" sz="2027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Events that are outliers, lying outside typical expectations, and often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7"/>
              <a:buFont typeface="Arial"/>
              <a:buNone/>
            </a:pPr>
            <a:r>
              <a:rPr b="0" i="0" lang="en-IN" sz="2027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carry extreme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9"/>
              <a:buFont typeface="Arial"/>
              <a:buNone/>
            </a:pPr>
            <a:r>
              <a:rPr b="0" i="0" lang="en-IN" sz="202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Europeans widely assumed swans were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515303" y="3768709"/>
            <a:ext cx="8165030" cy="31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4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7"/>
              <a:buFont typeface="Arial"/>
              <a:buNone/>
            </a:pPr>
            <a:r>
              <a:rPr b="0" i="0" lang="en-IN" sz="2027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While often ignored as outliers, Black Swans are costly to ignore since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515303" y="4035428"/>
            <a:ext cx="4080967" cy="358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9"/>
              <a:buFont typeface="Arial"/>
              <a:buNone/>
            </a:pPr>
            <a:r>
              <a:rPr b="0" i="0" lang="en-IN" sz="202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these</a:t>
            </a:r>
            <a:r>
              <a:rPr b="0" i="0" lang="en-IN" sz="202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0" i="0" lang="en-IN" sz="202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events</a:t>
            </a:r>
            <a:r>
              <a:rPr b="0" i="0" lang="en-IN" sz="202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0" i="0" lang="en-IN" sz="202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often</a:t>
            </a:r>
            <a:r>
              <a:rPr b="0" i="0" lang="en-IN" sz="202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0" i="0" lang="en-IN" sz="202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matter</a:t>
            </a:r>
            <a:r>
              <a:rPr b="0" i="0" lang="en-IN" sz="202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0" i="0" lang="en-IN" sz="202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</a:t>
            </a:r>
            <a:r>
              <a:rPr b="0" i="0" lang="en-IN" sz="202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0" i="0" lang="en-IN" sz="202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387728" y="1827475"/>
            <a:ext cx="5126793" cy="31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9"/>
              <a:buFont typeface="Arial"/>
              <a:buNone/>
            </a:pPr>
            <a:r>
              <a:rPr b="0" i="0" lang="en-IN" sz="202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white, until explorers eventually discovered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Black Swans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38915" y="1931550"/>
            <a:ext cx="4285749" cy="1355558"/>
          </a:xfrm>
          <a:custGeom>
            <a:rect b="b" l="l" r="r" t="t"/>
            <a:pathLst>
              <a:path extrusionOk="0" h="1724025" w="5724525">
                <a:moveTo>
                  <a:pt x="0" y="0"/>
                </a:moveTo>
                <a:lnTo>
                  <a:pt x="5724525" y="0"/>
                </a:lnTo>
                <a:lnTo>
                  <a:pt x="5724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6"/>
          <p:cNvSpPr/>
          <p:nvPr/>
        </p:nvSpPr>
        <p:spPr>
          <a:xfrm>
            <a:off x="4735409" y="794008"/>
            <a:ext cx="4285749" cy="1355558"/>
          </a:xfrm>
          <a:custGeom>
            <a:rect b="b" l="l" r="r" t="t"/>
            <a:pathLst>
              <a:path extrusionOk="0" h="1724025" w="5467350">
                <a:moveTo>
                  <a:pt x="0" y="0"/>
                </a:moveTo>
                <a:lnTo>
                  <a:pt x="5467350" y="0"/>
                </a:lnTo>
                <a:lnTo>
                  <a:pt x="54673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1100"/>
            </a:stretch>
          </a:blipFill>
          <a:ln>
            <a:noFill/>
          </a:ln>
        </p:spPr>
      </p:sp>
      <p:sp>
        <p:nvSpPr>
          <p:cNvPr id="136" name="Google Shape;136;p16"/>
          <p:cNvSpPr/>
          <p:nvPr/>
        </p:nvSpPr>
        <p:spPr>
          <a:xfrm>
            <a:off x="4238625" y="3486612"/>
            <a:ext cx="4562475" cy="1355558"/>
          </a:xfrm>
          <a:custGeom>
            <a:rect b="b" l="l" r="r" t="t"/>
            <a:pathLst>
              <a:path extrusionOk="0" h="1724025" w="5724525">
                <a:moveTo>
                  <a:pt x="0" y="0"/>
                </a:moveTo>
                <a:lnTo>
                  <a:pt x="5724525" y="0"/>
                </a:lnTo>
                <a:lnTo>
                  <a:pt x="5724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6"/>
          <p:cNvSpPr/>
          <p:nvPr/>
        </p:nvSpPr>
        <p:spPr>
          <a:xfrm>
            <a:off x="1473868" y="3821491"/>
            <a:ext cx="981075" cy="685800"/>
          </a:xfrm>
          <a:custGeom>
            <a:rect b="b" l="l" r="r" t="t"/>
            <a:pathLst>
              <a:path extrusionOk="0" h="685800" w="981075">
                <a:moveTo>
                  <a:pt x="0" y="0"/>
                </a:moveTo>
                <a:lnTo>
                  <a:pt x="981075" y="0"/>
                </a:lnTo>
                <a:lnTo>
                  <a:pt x="98107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Black Swans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251520" y="738429"/>
            <a:ext cx="4572000" cy="4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10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Tilted, occluded, by lights, etc.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09361" y="1468838"/>
            <a:ext cx="1362075" cy="1362075"/>
          </a:xfrm>
          <a:custGeom>
            <a:rect b="b" l="l" r="r" t="t"/>
            <a:pathLst>
              <a:path extrusionOk="0" h="1362075" w="1362075">
                <a:moveTo>
                  <a:pt x="0" y="0"/>
                </a:moveTo>
                <a:lnTo>
                  <a:pt x="1362075" y="0"/>
                </a:lnTo>
                <a:lnTo>
                  <a:pt x="1362075" y="1362075"/>
                </a:lnTo>
                <a:lnTo>
                  <a:pt x="0" y="1362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973391" y="3231005"/>
            <a:ext cx="1805904" cy="349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COVID 19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395875" y="2830913"/>
            <a:ext cx="6711855" cy="34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2"/>
              <a:buFont typeface="Arial"/>
              <a:buNone/>
            </a:pPr>
            <a:r>
              <a:rPr b="0" i="0" lang="en-IN" sz="21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2008 financial crisis – I graduated (with PhD) around this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1141833" y="3945307"/>
            <a:ext cx="2863653" cy="186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7"/>
              <a:buFont typeface="Arial"/>
              <a:buNone/>
            </a:pPr>
            <a:r>
              <a:rPr b="0" i="0" lang="en-IN" sz="1127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https://arxiv.org/pdf/2109.13916.pdf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Long Tail Distributions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0" y="942975"/>
            <a:ext cx="3219450" cy="1676400"/>
          </a:xfrm>
          <a:custGeom>
            <a:rect b="b" l="l" r="r" t="t"/>
            <a:pathLst>
              <a:path extrusionOk="0" h="1676400" w="3219450">
                <a:moveTo>
                  <a:pt x="0" y="0"/>
                </a:moveTo>
                <a:lnTo>
                  <a:pt x="3219450" y="0"/>
                </a:lnTo>
                <a:lnTo>
                  <a:pt x="321945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8"/>
          <p:cNvSpPr txBox="1"/>
          <p:nvPr/>
        </p:nvSpPr>
        <p:spPr>
          <a:xfrm>
            <a:off x="401366" y="3503562"/>
            <a:ext cx="4459391" cy="359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3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Pareto principle / 80-20 principle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305114" y="1014527"/>
            <a:ext cx="5087969" cy="115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3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tail of a distribution is the region that is far from the head or center of the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401366" y="3148975"/>
            <a:ext cx="6566559" cy="328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7"/>
              <a:buFont typeface="Arial"/>
              <a:buNone/>
            </a:pPr>
            <a:r>
              <a:rPr b="0" i="0" lang="en-IN" sz="202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Tailstaperoffgraduallyratherthandrop off sharply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7400287" y="1741703"/>
            <a:ext cx="518846" cy="506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7"/>
              <a:buFont typeface="Arial"/>
              <a:buNone/>
            </a:pPr>
            <a:r>
              <a:rPr b="0" i="0" lang="en-IN" sz="1577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Long Tail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067168" y="1532201"/>
            <a:ext cx="439550" cy="244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Arial"/>
              <a:buNone/>
            </a:pPr>
            <a:r>
              <a:rPr b="0" i="0" lang="en-IN" sz="1427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Power Law Distributions are “Scale Free”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2033902" y="1422491"/>
            <a:ext cx="4686300" cy="3371850"/>
          </a:xfrm>
          <a:custGeom>
            <a:rect b="b" l="l" r="r" t="t"/>
            <a:pathLst>
              <a:path extrusionOk="0" h="3371850" w="4686300">
                <a:moveTo>
                  <a:pt x="0" y="0"/>
                </a:moveTo>
                <a:lnTo>
                  <a:pt x="4686300" y="0"/>
                </a:lnTo>
                <a:lnTo>
                  <a:pt x="4686300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2033902" y="829675"/>
            <a:ext cx="5191125" cy="35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7"/>
              <a:buFont typeface="Arial"/>
              <a:buNone/>
            </a:pPr>
            <a:r>
              <a:rPr b="0" i="0" lang="en-IN" sz="2027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Web’s Approximate Degree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Long Tails Are Pervasive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4150393" y="1371600"/>
            <a:ext cx="3810000" cy="1200150"/>
          </a:xfrm>
          <a:custGeom>
            <a:rect b="b" l="l" r="r" t="t"/>
            <a:pathLst>
              <a:path extrusionOk="0" h="1200150" w="3810000">
                <a:moveTo>
                  <a:pt x="0" y="0"/>
                </a:moveTo>
                <a:lnTo>
                  <a:pt x="3810000" y="0"/>
                </a:lnTo>
                <a:lnTo>
                  <a:pt x="381000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26118" y="1371600"/>
            <a:ext cx="3667125" cy="1200150"/>
          </a:xfrm>
          <a:custGeom>
            <a:rect b="b" l="l" r="r" t="t"/>
            <a:pathLst>
              <a:path extrusionOk="0" h="1200150" w="3667125">
                <a:moveTo>
                  <a:pt x="0" y="0"/>
                </a:moveTo>
                <a:lnTo>
                  <a:pt x="3667125" y="0"/>
                </a:lnTo>
                <a:lnTo>
                  <a:pt x="366712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20"/>
          <p:cNvSpPr/>
          <p:nvPr/>
        </p:nvSpPr>
        <p:spPr>
          <a:xfrm>
            <a:off x="368968" y="2971800"/>
            <a:ext cx="3781425" cy="1190625"/>
          </a:xfrm>
          <a:custGeom>
            <a:rect b="b" l="l" r="r" t="t"/>
            <a:pathLst>
              <a:path extrusionOk="0" h="1190625" w="3781425">
                <a:moveTo>
                  <a:pt x="0" y="0"/>
                </a:moveTo>
                <a:lnTo>
                  <a:pt x="3781425" y="0"/>
                </a:lnTo>
                <a:lnTo>
                  <a:pt x="3781425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20"/>
          <p:cNvSpPr/>
          <p:nvPr/>
        </p:nvSpPr>
        <p:spPr>
          <a:xfrm>
            <a:off x="4131343" y="2971800"/>
            <a:ext cx="3848100" cy="1200150"/>
          </a:xfrm>
          <a:custGeom>
            <a:rect b="b" l="l" r="r" t="t"/>
            <a:pathLst>
              <a:path extrusionOk="0" h="1200150" w="3848100">
                <a:moveTo>
                  <a:pt x="0" y="0"/>
                </a:moveTo>
                <a:lnTo>
                  <a:pt x="3848100" y="0"/>
                </a:lnTo>
                <a:lnTo>
                  <a:pt x="384810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Long Tails Are Pervasive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503271" y="1228723"/>
            <a:ext cx="7403630" cy="548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370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7"/>
              <a:buFont typeface="Arial"/>
              <a:buNone/>
            </a:pPr>
            <a:r>
              <a:rPr b="0" i="0" lang="en-IN" sz="2027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~0.1% of drugs generate a~50%pharmaceutical industry sales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503271" y="1839466"/>
            <a:ext cx="4835252" cy="548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370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7"/>
              <a:buFont typeface="Arial"/>
              <a:buNone/>
            </a:pPr>
            <a:r>
              <a:rPr b="0" i="0" lang="en-IN" sz="2027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~0.2% of books account ~50% their sales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03271" y="2640281"/>
            <a:ext cx="8258718" cy="720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9"/>
              <a:buFont typeface="Arial"/>
              <a:buNone/>
            </a:pPr>
            <a:r>
              <a:rPr b="0" i="0" lang="en-IN" sz="2029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~1%ofbands and solo artists earn~77% of all revenue from recorded </a:t>
            </a:r>
            <a:r>
              <a:rPr b="0" i="0" lang="en-IN" sz="2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music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Nonlinear Interactions Generate Long Tails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580525" y="993271"/>
            <a:ext cx="6832666" cy="466725"/>
          </a:xfrm>
          <a:custGeom>
            <a:rect b="b" l="l" r="r" t="t"/>
            <a:pathLst>
              <a:path extrusionOk="0" h="466725" w="6248400">
                <a:moveTo>
                  <a:pt x="0" y="0"/>
                </a:moveTo>
                <a:lnTo>
                  <a:pt x="6248400" y="0"/>
                </a:lnTo>
                <a:lnTo>
                  <a:pt x="6248400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580525" y="1858763"/>
            <a:ext cx="7982950" cy="2578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result is a long-tailed, but it would be a thin-tailed Gaussian if variables were added instead of multiplied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5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Nonlinear interactions arise when parts are connected 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2"/>
              <a:buFont typeface="Arial"/>
              <a:buNone/>
            </a:pPr>
            <a:r>
              <a:rPr b="0" i="0" lang="en-IN" sz="21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interdependent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426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observation becomes zero when a part becomes zero →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2"/>
              <a:buFont typeface="Arial"/>
              <a:buNone/>
            </a:pPr>
            <a:r>
              <a:rPr b="0" i="0" lang="en-IN" sz="210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nonlinear interaction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425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4"/>
              <a:buFont typeface="Arial"/>
              <a:buNone/>
            </a:pPr>
            <a:r>
              <a:rPr b="0" i="0" lang="en-IN" sz="210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Research output = Ideas X Time X Students X Resources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lang="en-IN">
                <a:latin typeface="Arial"/>
                <a:ea typeface="Arial"/>
                <a:cs typeface="Arial"/>
                <a:sym typeface="Arial"/>
              </a:rPr>
              <a:t>Mediocristan and Extremistan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4481883" y="1168506"/>
            <a:ext cx="3807874" cy="2003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Extremistan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41275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is determined by a few large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“Typical” member giant or dwarf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747395" rtl="0" algn="l">
              <a:lnSpc>
                <a:spcPct val="991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Tyranny of the accidental Top few get large share Hard to predict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potentially scalable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Wild randomness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561467" y="1164146"/>
            <a:ext cx="3589427" cy="2007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Mediocristan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844" marR="0" rtl="0" algn="l">
              <a:lnSpc>
                <a:spcPct val="100000"/>
              </a:lnSpc>
              <a:spcBef>
                <a:spcPts val="20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 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844" marR="508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is determined by many small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844" marR="40068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Typical member mediocre/average Tyranny of the collective Top few get small slice Easy to predict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844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nonscalable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844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Mild randomness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lang="en-IN">
                <a:latin typeface="Arial"/>
                <a:ea typeface="Arial"/>
                <a:cs typeface="Arial"/>
                <a:sym typeface="Arial"/>
              </a:rPr>
              <a:t>Unknown Unknowns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210" name="Google Shape;210;p24"/>
          <p:cNvGrpSpPr/>
          <p:nvPr/>
        </p:nvGrpSpPr>
        <p:grpSpPr>
          <a:xfrm>
            <a:off x="776287" y="909700"/>
            <a:ext cx="7543864" cy="3724212"/>
            <a:chOff x="776287" y="909700"/>
            <a:chExt cx="7543864" cy="3724212"/>
          </a:xfrm>
        </p:grpSpPr>
        <p:sp>
          <p:nvSpPr>
            <p:cNvPr id="211" name="Google Shape;211;p24"/>
            <p:cNvSpPr/>
            <p:nvPr/>
          </p:nvSpPr>
          <p:spPr>
            <a:xfrm>
              <a:off x="4548251" y="2767012"/>
              <a:ext cx="3771900" cy="1866900"/>
            </a:xfrm>
            <a:custGeom>
              <a:rect b="b" l="l" r="r" t="t"/>
              <a:pathLst>
                <a:path extrusionOk="0" h="1866900" w="3771900">
                  <a:moveTo>
                    <a:pt x="3771900" y="0"/>
                  </a:moveTo>
                  <a:lnTo>
                    <a:pt x="0" y="0"/>
                  </a:lnTo>
                  <a:lnTo>
                    <a:pt x="0" y="1866900"/>
                  </a:lnTo>
                  <a:lnTo>
                    <a:pt x="3771900" y="1866900"/>
                  </a:lnTo>
                  <a:lnTo>
                    <a:pt x="3771900" y="0"/>
                  </a:lnTo>
                  <a:close/>
                </a:path>
              </a:pathLst>
            </a:custGeom>
            <a:solidFill>
              <a:srgbClr val="B4A7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4548251" y="2767012"/>
              <a:ext cx="3771900" cy="1866900"/>
            </a:xfrm>
            <a:custGeom>
              <a:rect b="b" l="l" r="r" t="t"/>
              <a:pathLst>
                <a:path extrusionOk="0" h="1866900" w="3771900">
                  <a:moveTo>
                    <a:pt x="0" y="1866900"/>
                  </a:moveTo>
                  <a:lnTo>
                    <a:pt x="3771900" y="1866900"/>
                  </a:lnTo>
                  <a:lnTo>
                    <a:pt x="3771900" y="0"/>
                  </a:lnTo>
                  <a:lnTo>
                    <a:pt x="0" y="0"/>
                  </a:lnTo>
                  <a:lnTo>
                    <a:pt x="0" y="1866900"/>
                  </a:lnTo>
                  <a:close/>
                </a:path>
              </a:pathLst>
            </a:custGeom>
            <a:noFill/>
            <a:ln cap="flat" cmpd="sng" w="9525">
              <a:solidFill>
                <a:srgbClr val="4453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4548251" y="909700"/>
              <a:ext cx="3771900" cy="1857375"/>
            </a:xfrm>
            <a:custGeom>
              <a:rect b="b" l="l" r="r" t="t"/>
              <a:pathLst>
                <a:path extrusionOk="0" h="1857375" w="3771900">
                  <a:moveTo>
                    <a:pt x="3771900" y="0"/>
                  </a:moveTo>
                  <a:lnTo>
                    <a:pt x="0" y="0"/>
                  </a:lnTo>
                  <a:lnTo>
                    <a:pt x="0" y="1857375"/>
                  </a:lnTo>
                  <a:lnTo>
                    <a:pt x="3771900" y="1857375"/>
                  </a:lnTo>
                  <a:lnTo>
                    <a:pt x="3771900" y="0"/>
                  </a:lnTo>
                  <a:close/>
                </a:path>
              </a:pathLst>
            </a:custGeom>
            <a:solidFill>
              <a:srgbClr val="D9D2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4548251" y="909700"/>
              <a:ext cx="3771900" cy="1857375"/>
            </a:xfrm>
            <a:custGeom>
              <a:rect b="b" l="l" r="r" t="t"/>
              <a:pathLst>
                <a:path extrusionOk="0" h="1857375" w="3771900">
                  <a:moveTo>
                    <a:pt x="0" y="1857375"/>
                  </a:moveTo>
                  <a:lnTo>
                    <a:pt x="3771900" y="1857375"/>
                  </a:lnTo>
                  <a:lnTo>
                    <a:pt x="3771900" y="0"/>
                  </a:lnTo>
                  <a:lnTo>
                    <a:pt x="0" y="0"/>
                  </a:lnTo>
                  <a:lnTo>
                    <a:pt x="0" y="1857375"/>
                  </a:lnTo>
                  <a:close/>
                </a:path>
              </a:pathLst>
            </a:custGeom>
            <a:noFill/>
            <a:ln cap="flat" cmpd="sng" w="9525">
              <a:solidFill>
                <a:srgbClr val="4453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776287" y="2767012"/>
              <a:ext cx="3771900" cy="1866900"/>
            </a:xfrm>
            <a:custGeom>
              <a:rect b="b" l="l" r="r" t="t"/>
              <a:pathLst>
                <a:path extrusionOk="0" h="1866900" w="3771900">
                  <a:moveTo>
                    <a:pt x="3771900" y="0"/>
                  </a:moveTo>
                  <a:lnTo>
                    <a:pt x="0" y="0"/>
                  </a:lnTo>
                  <a:lnTo>
                    <a:pt x="0" y="1866900"/>
                  </a:lnTo>
                  <a:lnTo>
                    <a:pt x="3771900" y="1866900"/>
                  </a:lnTo>
                  <a:lnTo>
                    <a:pt x="3771900" y="0"/>
                  </a:lnTo>
                  <a:close/>
                </a:path>
              </a:pathLst>
            </a:custGeom>
            <a:solidFill>
              <a:srgbClr val="D9D2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776287" y="2767012"/>
              <a:ext cx="3771900" cy="1866900"/>
            </a:xfrm>
            <a:custGeom>
              <a:rect b="b" l="l" r="r" t="t"/>
              <a:pathLst>
                <a:path extrusionOk="0" h="1866900" w="3771900">
                  <a:moveTo>
                    <a:pt x="0" y="1866900"/>
                  </a:moveTo>
                  <a:lnTo>
                    <a:pt x="3771900" y="1866900"/>
                  </a:lnTo>
                  <a:lnTo>
                    <a:pt x="3771900" y="0"/>
                  </a:lnTo>
                  <a:lnTo>
                    <a:pt x="0" y="0"/>
                  </a:lnTo>
                  <a:lnTo>
                    <a:pt x="0" y="1866900"/>
                  </a:lnTo>
                  <a:close/>
                </a:path>
              </a:pathLst>
            </a:custGeom>
            <a:noFill/>
            <a:ln cap="flat" cmpd="sng" w="9525">
              <a:solidFill>
                <a:srgbClr val="4453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776287" y="909700"/>
              <a:ext cx="3771900" cy="1857375"/>
            </a:xfrm>
            <a:custGeom>
              <a:rect b="b" l="l" r="r" t="t"/>
              <a:pathLst>
                <a:path extrusionOk="0" h="1857375" w="3771900">
                  <a:moveTo>
                    <a:pt x="3771900" y="0"/>
                  </a:moveTo>
                  <a:lnTo>
                    <a:pt x="0" y="0"/>
                  </a:lnTo>
                  <a:lnTo>
                    <a:pt x="0" y="1857375"/>
                  </a:lnTo>
                  <a:lnTo>
                    <a:pt x="3771900" y="1857375"/>
                  </a:lnTo>
                  <a:lnTo>
                    <a:pt x="377190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776287" y="909700"/>
              <a:ext cx="3771900" cy="1857375"/>
            </a:xfrm>
            <a:custGeom>
              <a:rect b="b" l="l" r="r" t="t"/>
              <a:pathLst>
                <a:path extrusionOk="0" h="1857375" w="3771900">
                  <a:moveTo>
                    <a:pt x="0" y="1857375"/>
                  </a:moveTo>
                  <a:lnTo>
                    <a:pt x="3771900" y="1857375"/>
                  </a:lnTo>
                  <a:lnTo>
                    <a:pt x="3771900" y="0"/>
                  </a:lnTo>
                  <a:lnTo>
                    <a:pt x="0" y="0"/>
                  </a:lnTo>
                  <a:lnTo>
                    <a:pt x="0" y="1857375"/>
                  </a:lnTo>
                  <a:close/>
                </a:path>
              </a:pathLst>
            </a:custGeom>
            <a:noFill/>
            <a:ln cap="flat" cmpd="sng" w="9525">
              <a:solidFill>
                <a:srgbClr val="4453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" name="Google Shape;219;p24"/>
          <p:cNvSpPr txBox="1"/>
          <p:nvPr/>
        </p:nvSpPr>
        <p:spPr>
          <a:xfrm>
            <a:off x="854710" y="933830"/>
            <a:ext cx="68985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064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Known Knowns	                                Unknown Knowns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Things we are aware of and understand	Things we understand but are not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854710" y="1423098"/>
            <a:ext cx="2316480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know what we know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854710" y="2014791"/>
            <a:ext cx="216789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12700" marR="508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Facts and requirements Recollection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4631690" y="1423098"/>
            <a:ext cx="3390265" cy="1091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aware of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don’t know that we (can) know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6510" marR="5080" rtl="0" algn="l">
              <a:lnSpc>
                <a:spcPct val="105000"/>
              </a:lnSpc>
              <a:spcBef>
                <a:spcPts val="71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Unaccounted facts / Tacit knowledge Self-analysis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854710" y="2798063"/>
            <a:ext cx="3404870" cy="1801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930275" lvl="0" marL="12700" marR="363855" rtl="0" algn="l">
              <a:lnSpc>
                <a:spcPct val="103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Known Unknowns </a:t>
            </a: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Things we are aware of but don’t understand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know that we do not know these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Known classic risks / Conscious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ignorance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Closed-ended Questions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4622800" y="2798063"/>
            <a:ext cx="3352800" cy="156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808989" lvl="0" marL="20955" marR="472440" rtl="0" algn="l">
              <a:lnSpc>
                <a:spcPct val="103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Unknown Unknowns </a:t>
            </a: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Things we are not aware of nor understand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955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don’t know what we don’t know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Unknown risks / Meta-ignorance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Open-ended Exploration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b="0" lang="en-IN">
                <a:latin typeface="Arial"/>
                <a:ea typeface="Arial"/>
                <a:cs typeface="Arial"/>
                <a:sym typeface="Arial"/>
              </a:rPr>
              <a:t>Black Swans, Unknown Unknowns, and Long Tails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323846" y="2027896"/>
            <a:ext cx="81705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375">
            <a:spAutoFit/>
          </a:bodyPr>
          <a:lstStyle/>
          <a:p>
            <a:pPr indent="-152400" lvl="0" marL="12700" rtl="0" algn="l">
              <a:lnSpc>
                <a:spcPct val="99583"/>
              </a:lnSpc>
              <a:spcBef>
                <a:spcPts val="105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Black Swan events are rare but highly impactful and often appear in long-tailed distributions, which dominate risk analysis.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lang="en-IN">
                <a:latin typeface="Arial"/>
                <a:ea typeface="Arial"/>
                <a:cs typeface="Arial"/>
                <a:sym typeface="Arial"/>
              </a:rPr>
              <a:t>Black Swans and Long-Term Safety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8" name="Google Shape;238;p26"/>
          <p:cNvSpPr txBox="1"/>
          <p:nvPr>
            <p:ph idx="1" type="body"/>
          </p:nvPr>
        </p:nvSpPr>
        <p:spPr>
          <a:xfrm>
            <a:off x="172432" y="913961"/>
            <a:ext cx="8799135" cy="3496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600">
            <a:spAutoFit/>
          </a:bodyPr>
          <a:lstStyle/>
          <a:p>
            <a:pPr indent="-152400" lvl="0" marL="127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AI’s eventual impact on the world may be long-tailed</a:t>
            </a:r>
            <a:endParaRPr/>
          </a:p>
          <a:p>
            <a:pPr indent="-152400" lvl="0" marL="12700" marR="5080" rtl="0" algn="l">
              <a:lnSpc>
                <a:spcPct val="79000"/>
              </a:lnSpc>
              <a:spcBef>
                <a:spcPts val="865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We want models that can withstand and detect Black Swans, which are more likely to arise in the future when the world is changing rapidly and unexpectedly</a:t>
            </a:r>
            <a:endParaRPr/>
          </a:p>
          <a:p>
            <a:pPr indent="-152400" lvl="0" marL="12700" marR="229870" rtl="0" algn="l">
              <a:lnSpc>
                <a:spcPct val="80500"/>
              </a:lnSpc>
              <a:spcBef>
                <a:spcPts val="825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If we have multiple AI agents deployed in the future, and if the social power or command over resources is more long-tailed, the collective will be less able to rein in the most powerful agents; extremistan is relevant for future ML deployment dynamics</a:t>
            </a:r>
            <a:endParaRPr/>
          </a:p>
          <a:p>
            <a:pPr indent="-152400" lvl="0" marL="12700" rtl="0" algn="l">
              <a:lnSpc>
                <a:spcPct val="94791"/>
              </a:lnSpc>
              <a:spcBef>
                <a:spcPts val="260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Other existential risks can be viewed as sufficiently extreme long tail</a:t>
            </a:r>
            <a:endParaRPr/>
          </a:p>
          <a:p>
            <a:pPr indent="-152400" lvl="0" marL="12700" rtl="0" algn="l">
              <a:lnSpc>
                <a:spcPct val="94791"/>
              </a:lnSpc>
              <a:spcBef>
                <a:spcPts val="750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events (e.g., biorisks and asteroids are long-tailed and pose x-risks)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lang="en-IN">
                <a:latin typeface="Arial"/>
                <a:ea typeface="Arial"/>
                <a:cs typeface="Arial"/>
                <a:sym typeface="Arial"/>
              </a:rPr>
              <a:t>Measuring Vulnerability To Unexpected Events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5" name="Google Shape;245;p27"/>
          <p:cNvSpPr txBox="1"/>
          <p:nvPr/>
        </p:nvSpPr>
        <p:spPr>
          <a:xfrm>
            <a:off x="251520" y="1032142"/>
            <a:ext cx="8155880" cy="277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can measure vulnerability to long tail events by simulating extreme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highly unusual events using stress-test datasets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6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64769" rtl="0" algn="l">
              <a:lnSpc>
                <a:spcPct val="1076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simulate stressors, the stress-test datasets are from a different data generating process than the training data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overall goal is to make model performance not degrade as sharply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the face of extreme stressors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ImageNet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2" name="Google Shape;2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1179902"/>
            <a:ext cx="8279155" cy="257460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8"/>
          <p:cNvSpPr txBox="1"/>
          <p:nvPr/>
        </p:nvSpPr>
        <p:spPr>
          <a:xfrm>
            <a:off x="432422" y="4339907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https://en.wikipedia.org/wiki/ImageNet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How Can We Test Robustness to Adverse Inputs?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60" name="Google Shape;2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7395" y="958144"/>
            <a:ext cx="53149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3556" y="751262"/>
            <a:ext cx="1222628" cy="206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lang="en-IN">
                <a:latin typeface="Arial"/>
                <a:ea typeface="Arial"/>
                <a:cs typeface="Arial"/>
                <a:sym typeface="Arial"/>
              </a:rPr>
              <a:t>ImageNet-C [corruptions]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8" name="Google Shape;268;p30"/>
          <p:cNvSpPr txBox="1"/>
          <p:nvPr/>
        </p:nvSpPr>
        <p:spPr>
          <a:xfrm>
            <a:off x="5881370" y="842073"/>
            <a:ext cx="2748280" cy="57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on ImageNet, test 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ImageNet-C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0"/>
          <p:cNvSpPr txBox="1"/>
          <p:nvPr/>
        </p:nvSpPr>
        <p:spPr>
          <a:xfrm>
            <a:off x="5881370" y="1672272"/>
            <a:ext cx="2734310" cy="139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ResNet-50 gets </a:t>
            </a:r>
            <a:r>
              <a:rPr b="1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 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 Network, specific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of CNN, 50 layers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723900"/>
            <a:ext cx="4572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24250"/>
            <a:ext cx="45720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6925"/>
            <a:ext cx="45720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0"/>
          <p:cNvSpPr txBox="1"/>
          <p:nvPr/>
        </p:nvSpPr>
        <p:spPr>
          <a:xfrm>
            <a:off x="862330" y="1806003"/>
            <a:ext cx="381635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1742185" y="1806003"/>
            <a:ext cx="382905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43%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2672460" y="1806003"/>
            <a:ext cx="381635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42%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3583304" y="1806003"/>
            <a:ext cx="381635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0"/>
          <p:cNvSpPr txBox="1"/>
          <p:nvPr/>
        </p:nvSpPr>
        <p:spPr>
          <a:xfrm>
            <a:off x="4478654" y="1806003"/>
            <a:ext cx="381635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42%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862330" y="3157791"/>
            <a:ext cx="381635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37%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1750060" y="3157791"/>
            <a:ext cx="381635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37%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2660650" y="3157791"/>
            <a:ext cx="382905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29%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3571621" y="3157791"/>
            <a:ext cx="381635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37%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4482465" y="3157791"/>
            <a:ext cx="381635" cy="266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57%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0"/>
          <p:cNvSpPr txBox="1"/>
          <p:nvPr/>
        </p:nvSpPr>
        <p:spPr>
          <a:xfrm>
            <a:off x="4482465" y="4594225"/>
            <a:ext cx="3816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66%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3579114" y="4594225"/>
            <a:ext cx="38290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58%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2664460" y="4594225"/>
            <a:ext cx="3816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56%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1753870" y="4594225"/>
            <a:ext cx="3816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44%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0"/>
          <p:cNvSpPr txBox="1"/>
          <p:nvPr/>
        </p:nvSpPr>
        <p:spPr>
          <a:xfrm>
            <a:off x="866139" y="4594225"/>
            <a:ext cx="3816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ImageNet-R [Rendition]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4" name="Google Shape;294;p31"/>
          <p:cNvSpPr txBox="1"/>
          <p:nvPr/>
        </p:nvSpPr>
        <p:spPr>
          <a:xfrm>
            <a:off x="611772" y="1056322"/>
            <a:ext cx="7679055" cy="303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ImageNet: photos only, no painting, no drawings, etc.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571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ImageNet-Rendition is a style robustness test set with 30K images with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texture and styles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32384" rtl="0" algn="l">
              <a:lnSpc>
                <a:spcPct val="904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Flickr images with query as “art,” “cartoons,” “graffiti,” “embroidery,” “graphics,” “origami,” “paintings,” “patterns,” “plastic objects,” “plush objects,” “sculptures,” “line drawings,” “tattoos,” “toys,” “video game,” and so on.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92125" rtl="0" algn="l">
              <a:lnSpc>
                <a:spcPct val="107619"/>
              </a:lnSpc>
              <a:spcBef>
                <a:spcPts val="85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 a model on normal ImageNet, and then test on ImageNet-R’s paintings, drawings, sculptures, ...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ImageNet-R is Disjoint from ImageNet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737" y="1151521"/>
            <a:ext cx="877252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ImageNet-R [Rendition]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08" name="Google Shape;3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337" y="1179095"/>
            <a:ext cx="679132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237" y="2522120"/>
            <a:ext cx="670560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3"/>
          <p:cNvSpPr txBox="1"/>
          <p:nvPr/>
        </p:nvSpPr>
        <p:spPr>
          <a:xfrm rot="-5400000">
            <a:off x="463460" y="3138604"/>
            <a:ext cx="862330" cy="233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ImageNet-R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3"/>
          <p:cNvSpPr txBox="1"/>
          <p:nvPr/>
        </p:nvSpPr>
        <p:spPr>
          <a:xfrm rot="-5400000">
            <a:off x="544740" y="1710819"/>
            <a:ext cx="699770" cy="233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ImageNet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/>
          <p:nvPr>
            <p:ph type="title"/>
          </p:nvPr>
        </p:nvSpPr>
        <p:spPr>
          <a:xfrm>
            <a:off x="251520" y="8604"/>
            <a:ext cx="8769638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Mining for Hard Examples and Adversarial Filtration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8" name="Google Shape;318;p34"/>
          <p:cNvSpPr txBox="1"/>
          <p:nvPr/>
        </p:nvSpPr>
        <p:spPr>
          <a:xfrm>
            <a:off x="251520" y="1186497"/>
            <a:ext cx="7627620" cy="277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way to create a stress test for models is to collect examples that fool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existing strong model (“natural adversarial examples”)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6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4610" rtl="0" algn="l">
              <a:lnSpc>
                <a:spcPct val="1076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can mine for hard examples by having a model classify a large set of examples and create a test set of the examples that it got wrong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Researchers sometimes collect egregious errors where models are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highly mistaken, such as high-confidence misclassifications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ImageNet-A [Adversarial]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5" name="Google Shape;3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5" y="2486025"/>
            <a:ext cx="206692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7450" y="2505075"/>
            <a:ext cx="20669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0575" y="2486025"/>
            <a:ext cx="20764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2495550"/>
            <a:ext cx="206692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5"/>
          <p:cNvSpPr txBox="1"/>
          <p:nvPr/>
        </p:nvSpPr>
        <p:spPr>
          <a:xfrm>
            <a:off x="663892" y="765492"/>
            <a:ext cx="7701915" cy="159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ImageNet-Adversarial contains naturally occurring examples that are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difficult for ResNet-50 models to classify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89400"/>
              </a:lnSpc>
              <a:spcBef>
                <a:spcPts val="83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examples are difficult for other new models too, including Vision Transformers, which demonstrates shared weaknesses across architectures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ObjectNet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36" name="Google Shape;336;p36"/>
          <p:cNvSpPr txBox="1"/>
          <p:nvPr/>
        </p:nvSpPr>
        <p:spPr>
          <a:xfrm>
            <a:off x="502602" y="956627"/>
            <a:ext cx="7884795" cy="33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Collected to show objects from new viewpoints on new backgrounds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4" y="1400174"/>
            <a:ext cx="600075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ANLI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4" name="Google Shape;344;p37"/>
          <p:cNvSpPr txBox="1"/>
          <p:nvPr>
            <p:ph idx="1" type="body"/>
          </p:nvPr>
        </p:nvSpPr>
        <p:spPr>
          <a:xfrm>
            <a:off x="708025" y="1286940"/>
            <a:ext cx="7700009" cy="3002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-152400" lvl="0" marL="1270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ANLI is an adversarial natural language inference (NLI) dataset</a:t>
            </a:r>
            <a:endParaRPr/>
          </a:p>
          <a:p>
            <a:pPr indent="-152400" lvl="0" marL="12700" marR="468630" rtl="0" algn="l">
              <a:lnSpc>
                <a:spcPct val="94166"/>
              </a:lnSpc>
              <a:spcBef>
                <a:spcPts val="850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NLI is about determining whether a “hypothesis” is true, false, or undetermined given a “context”</a:t>
            </a:r>
            <a:endParaRPr/>
          </a:p>
          <a:p>
            <a:pPr indent="-152400" lvl="0" marL="12700" marR="5080" rtl="0" algn="l">
              <a:lnSpc>
                <a:spcPct val="94166"/>
              </a:lnSpc>
              <a:spcBef>
                <a:spcPts val="815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The dataset is created by crowdworkers with the aim of fooling large- scale models</a:t>
            </a:r>
            <a:endParaRPr/>
          </a:p>
          <a:p>
            <a:pPr indent="-152400" lvl="0" marL="1270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2400"/>
              <a:buChar char="☞"/>
            </a:pPr>
            <a:r>
              <a:rPr lang="en-IN"/>
              <a:t>GPT-3 only gets up to ~40% accuracy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ANLI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1" name="Google Shape;351;p38"/>
          <p:cNvSpPr txBox="1"/>
          <p:nvPr/>
        </p:nvSpPr>
        <p:spPr>
          <a:xfrm>
            <a:off x="461009" y="697619"/>
            <a:ext cx="7901305" cy="143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57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annotator writes a hypothesis. A model makes a prediction about the context-hypothesis pair. If the model’s prediction was correct, the annotator writes a new hypothesis. If the model was fooled, the context-hypothesis pair is validated by other annotators.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" name="Google Shape;352;p38"/>
          <p:cNvGrpSpPr/>
          <p:nvPr/>
        </p:nvGrpSpPr>
        <p:grpSpPr>
          <a:xfrm>
            <a:off x="1638301" y="2238376"/>
            <a:ext cx="6242384" cy="2611932"/>
            <a:chOff x="1638300" y="2238375"/>
            <a:chExt cx="6448425" cy="2834131"/>
          </a:xfrm>
        </p:grpSpPr>
        <p:pic>
          <p:nvPicPr>
            <p:cNvPr id="353" name="Google Shape;353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38300" y="2238375"/>
              <a:ext cx="6448425" cy="2771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38"/>
            <p:cNvSpPr/>
            <p:nvPr/>
          </p:nvSpPr>
          <p:spPr>
            <a:xfrm>
              <a:off x="3706241" y="3160521"/>
              <a:ext cx="4110354" cy="1911985"/>
            </a:xfrm>
            <a:custGeom>
              <a:rect b="b" l="l" r="r" t="t"/>
              <a:pathLst>
                <a:path extrusionOk="0" h="1911985" w="4110354">
                  <a:moveTo>
                    <a:pt x="25400" y="3810"/>
                  </a:moveTo>
                  <a:lnTo>
                    <a:pt x="24765" y="2540"/>
                  </a:lnTo>
                  <a:lnTo>
                    <a:pt x="24257" y="1270"/>
                  </a:lnTo>
                  <a:lnTo>
                    <a:pt x="22987" y="254"/>
                  </a:lnTo>
                  <a:lnTo>
                    <a:pt x="21590" y="127"/>
                  </a:lnTo>
                  <a:lnTo>
                    <a:pt x="19177" y="0"/>
                  </a:lnTo>
                  <a:lnTo>
                    <a:pt x="18034" y="0"/>
                  </a:lnTo>
                  <a:lnTo>
                    <a:pt x="15621" y="254"/>
                  </a:lnTo>
                  <a:lnTo>
                    <a:pt x="5842" y="1778"/>
                  </a:lnTo>
                  <a:lnTo>
                    <a:pt x="3556" y="2032"/>
                  </a:lnTo>
                  <a:lnTo>
                    <a:pt x="1651" y="3683"/>
                  </a:lnTo>
                  <a:lnTo>
                    <a:pt x="889" y="5842"/>
                  </a:lnTo>
                  <a:lnTo>
                    <a:pt x="0" y="8001"/>
                  </a:lnTo>
                  <a:lnTo>
                    <a:pt x="508" y="10414"/>
                  </a:lnTo>
                  <a:lnTo>
                    <a:pt x="3556" y="13970"/>
                  </a:lnTo>
                  <a:lnTo>
                    <a:pt x="5969" y="14732"/>
                  </a:lnTo>
                  <a:lnTo>
                    <a:pt x="8255" y="14224"/>
                  </a:lnTo>
                  <a:lnTo>
                    <a:pt x="17780" y="12065"/>
                  </a:lnTo>
                  <a:lnTo>
                    <a:pt x="20828" y="10414"/>
                  </a:lnTo>
                  <a:lnTo>
                    <a:pt x="22479" y="8763"/>
                  </a:lnTo>
                  <a:lnTo>
                    <a:pt x="22733" y="8382"/>
                  </a:lnTo>
                  <a:lnTo>
                    <a:pt x="25146" y="5334"/>
                  </a:lnTo>
                  <a:lnTo>
                    <a:pt x="25400" y="3810"/>
                  </a:lnTo>
                  <a:close/>
                </a:path>
                <a:path extrusionOk="0" h="1911985" w="4110354">
                  <a:moveTo>
                    <a:pt x="3670554" y="1195476"/>
                  </a:moveTo>
                  <a:lnTo>
                    <a:pt x="3665728" y="1190663"/>
                  </a:lnTo>
                  <a:lnTo>
                    <a:pt x="3653790" y="1190663"/>
                  </a:lnTo>
                  <a:lnTo>
                    <a:pt x="3649992" y="1194447"/>
                  </a:lnTo>
                  <a:lnTo>
                    <a:pt x="3649599" y="1192961"/>
                  </a:lnTo>
                  <a:lnTo>
                    <a:pt x="3648329" y="1191336"/>
                  </a:lnTo>
                  <a:lnTo>
                    <a:pt x="3644773" y="1189050"/>
                  </a:lnTo>
                  <a:lnTo>
                    <a:pt x="3643884" y="1188872"/>
                  </a:lnTo>
                  <a:lnTo>
                    <a:pt x="3641598" y="1189126"/>
                  </a:lnTo>
                  <a:lnTo>
                    <a:pt x="3630168" y="1197229"/>
                  </a:lnTo>
                  <a:lnTo>
                    <a:pt x="3630168" y="1206995"/>
                  </a:lnTo>
                  <a:lnTo>
                    <a:pt x="3634740" y="1211529"/>
                  </a:lnTo>
                  <a:lnTo>
                    <a:pt x="3645916" y="1211529"/>
                  </a:lnTo>
                  <a:lnTo>
                    <a:pt x="3649484" y="1207897"/>
                  </a:lnTo>
                  <a:lnTo>
                    <a:pt x="3653790" y="1212176"/>
                  </a:lnTo>
                  <a:lnTo>
                    <a:pt x="3665728" y="1212176"/>
                  </a:lnTo>
                  <a:lnTo>
                    <a:pt x="3670554" y="1207363"/>
                  </a:lnTo>
                  <a:lnTo>
                    <a:pt x="3670554" y="1201420"/>
                  </a:lnTo>
                  <a:lnTo>
                    <a:pt x="3670554" y="1195476"/>
                  </a:lnTo>
                  <a:close/>
                </a:path>
                <a:path extrusionOk="0" h="1911985" w="4110354">
                  <a:moveTo>
                    <a:pt x="4110228" y="1890585"/>
                  </a:moveTo>
                  <a:lnTo>
                    <a:pt x="4104259" y="1884553"/>
                  </a:lnTo>
                  <a:lnTo>
                    <a:pt x="4089273" y="1884553"/>
                  </a:lnTo>
                  <a:lnTo>
                    <a:pt x="4083304" y="1890585"/>
                  </a:lnTo>
                  <a:lnTo>
                    <a:pt x="4083304" y="1905469"/>
                  </a:lnTo>
                  <a:lnTo>
                    <a:pt x="4089273" y="1911502"/>
                  </a:lnTo>
                  <a:lnTo>
                    <a:pt x="4104259" y="1911502"/>
                  </a:lnTo>
                  <a:lnTo>
                    <a:pt x="4110228" y="1905469"/>
                  </a:lnTo>
                  <a:lnTo>
                    <a:pt x="4110228" y="1898027"/>
                  </a:lnTo>
                  <a:lnTo>
                    <a:pt x="4110228" y="189058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9"/>
          <p:cNvSpPr txBox="1"/>
          <p:nvPr>
            <p:ph idx="12" type="sldNum"/>
          </p:nvPr>
        </p:nvSpPr>
        <p:spPr>
          <a:xfrm>
            <a:off x="8859126" y="4881001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I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60" name="Google Shape;360;p39"/>
          <p:cNvSpPr txBox="1"/>
          <p:nvPr>
            <p:ph type="title"/>
          </p:nvPr>
        </p:nvSpPr>
        <p:spPr>
          <a:xfrm>
            <a:off x="311699" y="1851669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IN">
                <a:solidFill>
                  <a:srgbClr val="0070C0"/>
                </a:solidFill>
              </a:rPr>
              <a:t>Unit 1 - Foundations and real-world risks</a:t>
            </a:r>
            <a:endParaRPr/>
          </a:p>
        </p:txBody>
      </p:sp>
      <p:sp>
        <p:nvSpPr>
          <p:cNvPr id="361" name="Google Shape;361;p39"/>
          <p:cNvSpPr txBox="1"/>
          <p:nvPr>
            <p:ph idx="1" type="body"/>
          </p:nvPr>
        </p:nvSpPr>
        <p:spPr>
          <a:xfrm>
            <a:off x="325438" y="2786465"/>
            <a:ext cx="8507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84"/>
              <a:buNone/>
            </a:pPr>
            <a:r>
              <a:rPr lang="en-IN" sz="2184"/>
              <a:t>Improving Robustness</a:t>
            </a:r>
            <a:endParaRPr sz="2184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Large Models Improve Robustness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8" name="Google Shape;368;p40"/>
          <p:cNvSpPr txBox="1"/>
          <p:nvPr/>
        </p:nvSpPr>
        <p:spPr>
          <a:xfrm>
            <a:off x="350744" y="745234"/>
            <a:ext cx="7804784" cy="33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with more parameters generalize to unseen situations better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9" name="Google Shape;369;p40"/>
          <p:cNvGrpSpPr/>
          <p:nvPr/>
        </p:nvGrpSpPr>
        <p:grpSpPr>
          <a:xfrm>
            <a:off x="1114967" y="1503107"/>
            <a:ext cx="3086100" cy="2609850"/>
            <a:chOff x="1266825" y="1714500"/>
            <a:chExt cx="3086100" cy="2609850"/>
          </a:xfrm>
        </p:grpSpPr>
        <p:pic>
          <p:nvPicPr>
            <p:cNvPr id="370" name="Google Shape;370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66825" y="1714500"/>
              <a:ext cx="3086100" cy="2609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40"/>
            <p:cNvSpPr/>
            <p:nvPr/>
          </p:nvSpPr>
          <p:spPr>
            <a:xfrm>
              <a:off x="3916298" y="3994721"/>
              <a:ext cx="12065" cy="10160"/>
            </a:xfrm>
            <a:custGeom>
              <a:rect b="b" l="l" r="r" t="t"/>
              <a:pathLst>
                <a:path extrusionOk="0" h="10160" w="12064">
                  <a:moveTo>
                    <a:pt x="3047" y="0"/>
                  </a:moveTo>
                  <a:lnTo>
                    <a:pt x="888" y="1612"/>
                  </a:lnTo>
                  <a:lnTo>
                    <a:pt x="380" y="3987"/>
                  </a:lnTo>
                  <a:lnTo>
                    <a:pt x="0" y="6375"/>
                  </a:lnTo>
                  <a:lnTo>
                    <a:pt x="1650" y="8635"/>
                  </a:lnTo>
                  <a:lnTo>
                    <a:pt x="4063" y="9042"/>
                  </a:lnTo>
                  <a:lnTo>
                    <a:pt x="7746" y="9690"/>
                  </a:lnTo>
                  <a:lnTo>
                    <a:pt x="9270" y="9105"/>
                  </a:lnTo>
                  <a:lnTo>
                    <a:pt x="11302" y="6667"/>
                  </a:lnTo>
                  <a:lnTo>
                    <a:pt x="11683" y="5003"/>
                  </a:lnTo>
                  <a:lnTo>
                    <a:pt x="11048" y="3517"/>
                  </a:lnTo>
                  <a:lnTo>
                    <a:pt x="10540" y="2031"/>
                  </a:lnTo>
                  <a:lnTo>
                    <a:pt x="9143" y="96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40"/>
          <p:cNvGrpSpPr/>
          <p:nvPr/>
        </p:nvGrpSpPr>
        <p:grpSpPr>
          <a:xfrm>
            <a:off x="4582067" y="1474532"/>
            <a:ext cx="3105150" cy="2619375"/>
            <a:chOff x="4733925" y="1685925"/>
            <a:chExt cx="3105150" cy="2619375"/>
          </a:xfrm>
        </p:grpSpPr>
        <p:pic>
          <p:nvPicPr>
            <p:cNvPr id="373" name="Google Shape;373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33925" y="1685925"/>
              <a:ext cx="3105150" cy="261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40"/>
            <p:cNvSpPr/>
            <p:nvPr/>
          </p:nvSpPr>
          <p:spPr>
            <a:xfrm>
              <a:off x="7387335" y="3742944"/>
              <a:ext cx="349885" cy="53340"/>
            </a:xfrm>
            <a:custGeom>
              <a:rect b="b" l="l" r="r" t="t"/>
              <a:pathLst>
                <a:path extrusionOk="0" h="53339" w="349884">
                  <a:moveTo>
                    <a:pt x="12572" y="4698"/>
                  </a:moveTo>
                  <a:lnTo>
                    <a:pt x="6984" y="7619"/>
                  </a:lnTo>
                  <a:lnTo>
                    <a:pt x="5333" y="12953"/>
                  </a:lnTo>
                  <a:lnTo>
                    <a:pt x="1904" y="23367"/>
                  </a:lnTo>
                  <a:lnTo>
                    <a:pt x="1777" y="24002"/>
                  </a:lnTo>
                  <a:lnTo>
                    <a:pt x="974" y="27215"/>
                  </a:lnTo>
                  <a:lnTo>
                    <a:pt x="868" y="27641"/>
                  </a:lnTo>
                  <a:lnTo>
                    <a:pt x="752" y="28106"/>
                  </a:lnTo>
                  <a:lnTo>
                    <a:pt x="634" y="28574"/>
                  </a:lnTo>
                  <a:lnTo>
                    <a:pt x="478" y="29463"/>
                  </a:lnTo>
                  <a:lnTo>
                    <a:pt x="370" y="30072"/>
                  </a:lnTo>
                  <a:lnTo>
                    <a:pt x="246" y="30987"/>
                  </a:lnTo>
                  <a:lnTo>
                    <a:pt x="126" y="35051"/>
                  </a:lnTo>
                  <a:lnTo>
                    <a:pt x="0" y="39369"/>
                  </a:lnTo>
                  <a:lnTo>
                    <a:pt x="2412" y="43306"/>
                  </a:lnTo>
                  <a:lnTo>
                    <a:pt x="34416" y="52450"/>
                  </a:lnTo>
                  <a:lnTo>
                    <a:pt x="35559" y="52450"/>
                  </a:lnTo>
                  <a:lnTo>
                    <a:pt x="50291" y="52958"/>
                  </a:lnTo>
                  <a:lnTo>
                    <a:pt x="67055" y="53085"/>
                  </a:lnTo>
                  <a:lnTo>
                    <a:pt x="77088" y="52958"/>
                  </a:lnTo>
                  <a:lnTo>
                    <a:pt x="85724" y="52958"/>
                  </a:lnTo>
                  <a:lnTo>
                    <a:pt x="88518" y="52704"/>
                  </a:lnTo>
                  <a:lnTo>
                    <a:pt x="110235" y="49529"/>
                  </a:lnTo>
                  <a:lnTo>
                    <a:pt x="109758" y="49529"/>
                  </a:lnTo>
                  <a:lnTo>
                    <a:pt x="160273" y="40512"/>
                  </a:lnTo>
                  <a:lnTo>
                    <a:pt x="160527" y="40512"/>
                  </a:lnTo>
                  <a:lnTo>
                    <a:pt x="187070" y="35051"/>
                  </a:lnTo>
                  <a:lnTo>
                    <a:pt x="21843" y="35051"/>
                  </a:lnTo>
                  <a:lnTo>
                    <a:pt x="15523" y="25697"/>
                  </a:lnTo>
                  <a:lnTo>
                    <a:pt x="22597" y="25697"/>
                  </a:lnTo>
                  <a:lnTo>
                    <a:pt x="24859" y="18206"/>
                  </a:lnTo>
                  <a:lnTo>
                    <a:pt x="26249" y="13715"/>
                  </a:lnTo>
                  <a:lnTo>
                    <a:pt x="25942" y="12953"/>
                  </a:lnTo>
                  <a:lnTo>
                    <a:pt x="23240" y="8000"/>
                  </a:lnTo>
                  <a:lnTo>
                    <a:pt x="12572" y="4698"/>
                  </a:lnTo>
                  <a:close/>
                </a:path>
                <a:path extrusionOk="0" h="53339" w="349884">
                  <a:moveTo>
                    <a:pt x="15589" y="25697"/>
                  </a:moveTo>
                  <a:lnTo>
                    <a:pt x="16549" y="27215"/>
                  </a:lnTo>
                  <a:lnTo>
                    <a:pt x="21843" y="35051"/>
                  </a:lnTo>
                  <a:lnTo>
                    <a:pt x="21775" y="29463"/>
                  </a:lnTo>
                  <a:lnTo>
                    <a:pt x="21462" y="29463"/>
                  </a:lnTo>
                  <a:lnTo>
                    <a:pt x="21650" y="28574"/>
                  </a:lnTo>
                  <a:lnTo>
                    <a:pt x="21748" y="28106"/>
                  </a:lnTo>
                  <a:lnTo>
                    <a:pt x="20939" y="28106"/>
                  </a:lnTo>
                  <a:lnTo>
                    <a:pt x="19064" y="27437"/>
                  </a:lnTo>
                  <a:lnTo>
                    <a:pt x="19435" y="27437"/>
                  </a:lnTo>
                  <a:lnTo>
                    <a:pt x="15589" y="25697"/>
                  </a:lnTo>
                  <a:close/>
                </a:path>
                <a:path extrusionOk="0" h="53339" w="349884">
                  <a:moveTo>
                    <a:pt x="21748" y="28106"/>
                  </a:moveTo>
                  <a:lnTo>
                    <a:pt x="21652" y="31803"/>
                  </a:lnTo>
                  <a:lnTo>
                    <a:pt x="21843" y="35051"/>
                  </a:lnTo>
                  <a:lnTo>
                    <a:pt x="187070" y="35051"/>
                  </a:lnTo>
                  <a:lnTo>
                    <a:pt x="207797" y="30987"/>
                  </a:lnTo>
                  <a:lnTo>
                    <a:pt x="50799" y="30987"/>
                  </a:lnTo>
                  <a:lnTo>
                    <a:pt x="40978" y="30733"/>
                  </a:lnTo>
                  <a:lnTo>
                    <a:pt x="37210" y="30733"/>
                  </a:lnTo>
                  <a:lnTo>
                    <a:pt x="28378" y="29590"/>
                  </a:lnTo>
                  <a:lnTo>
                    <a:pt x="27685" y="29590"/>
                  </a:lnTo>
                  <a:lnTo>
                    <a:pt x="27050" y="29463"/>
                  </a:lnTo>
                  <a:lnTo>
                    <a:pt x="21748" y="28106"/>
                  </a:lnTo>
                  <a:close/>
                </a:path>
                <a:path extrusionOk="0" h="53339" w="349884">
                  <a:moveTo>
                    <a:pt x="212997" y="30072"/>
                  </a:moveTo>
                  <a:lnTo>
                    <a:pt x="212479" y="30072"/>
                  </a:lnTo>
                  <a:lnTo>
                    <a:pt x="203636" y="31803"/>
                  </a:lnTo>
                  <a:lnTo>
                    <a:pt x="212997" y="30072"/>
                  </a:lnTo>
                  <a:close/>
                </a:path>
                <a:path extrusionOk="0" h="53339" w="349884">
                  <a:moveTo>
                    <a:pt x="228218" y="27215"/>
                  </a:moveTo>
                  <a:lnTo>
                    <a:pt x="106558" y="27215"/>
                  </a:lnTo>
                  <a:lnTo>
                    <a:pt x="85206" y="30479"/>
                  </a:lnTo>
                  <a:lnTo>
                    <a:pt x="80136" y="30479"/>
                  </a:lnTo>
                  <a:lnTo>
                    <a:pt x="66928" y="30733"/>
                  </a:lnTo>
                  <a:lnTo>
                    <a:pt x="67055" y="30733"/>
                  </a:lnTo>
                  <a:lnTo>
                    <a:pt x="50545" y="30987"/>
                  </a:lnTo>
                  <a:lnTo>
                    <a:pt x="207797" y="30987"/>
                  </a:lnTo>
                  <a:lnTo>
                    <a:pt x="212468" y="30072"/>
                  </a:lnTo>
                  <a:lnTo>
                    <a:pt x="228218" y="27215"/>
                  </a:lnTo>
                  <a:close/>
                </a:path>
                <a:path extrusionOk="0" h="53339" w="349884">
                  <a:moveTo>
                    <a:pt x="27397" y="29463"/>
                  </a:moveTo>
                  <a:lnTo>
                    <a:pt x="27177" y="29463"/>
                  </a:lnTo>
                  <a:lnTo>
                    <a:pt x="27685" y="29590"/>
                  </a:lnTo>
                  <a:lnTo>
                    <a:pt x="28378" y="29590"/>
                  </a:lnTo>
                  <a:lnTo>
                    <a:pt x="27397" y="29463"/>
                  </a:lnTo>
                  <a:close/>
                </a:path>
                <a:path extrusionOk="0" h="53339" w="349884">
                  <a:moveTo>
                    <a:pt x="21847" y="28574"/>
                  </a:moveTo>
                  <a:lnTo>
                    <a:pt x="21462" y="29463"/>
                  </a:lnTo>
                  <a:lnTo>
                    <a:pt x="21775" y="29463"/>
                  </a:lnTo>
                  <a:lnTo>
                    <a:pt x="21847" y="28574"/>
                  </a:lnTo>
                  <a:close/>
                </a:path>
                <a:path extrusionOk="0" h="53339" w="349884">
                  <a:moveTo>
                    <a:pt x="22140" y="27215"/>
                  </a:moveTo>
                  <a:lnTo>
                    <a:pt x="21957" y="27215"/>
                  </a:lnTo>
                  <a:lnTo>
                    <a:pt x="21846" y="27641"/>
                  </a:lnTo>
                  <a:lnTo>
                    <a:pt x="21748" y="28106"/>
                  </a:lnTo>
                  <a:lnTo>
                    <a:pt x="23621" y="28574"/>
                  </a:lnTo>
                  <a:lnTo>
                    <a:pt x="21847" y="28574"/>
                  </a:lnTo>
                  <a:lnTo>
                    <a:pt x="21939" y="27437"/>
                  </a:lnTo>
                  <a:lnTo>
                    <a:pt x="22073" y="27437"/>
                  </a:lnTo>
                  <a:lnTo>
                    <a:pt x="22140" y="27215"/>
                  </a:lnTo>
                  <a:close/>
                </a:path>
                <a:path extrusionOk="0" h="53339" w="349884">
                  <a:moveTo>
                    <a:pt x="19071" y="27437"/>
                  </a:moveTo>
                  <a:lnTo>
                    <a:pt x="20939" y="28106"/>
                  </a:lnTo>
                  <a:lnTo>
                    <a:pt x="19886" y="27641"/>
                  </a:lnTo>
                  <a:lnTo>
                    <a:pt x="19071" y="27437"/>
                  </a:lnTo>
                  <a:close/>
                </a:path>
                <a:path extrusionOk="0" h="53339" w="349884">
                  <a:moveTo>
                    <a:pt x="19886" y="27641"/>
                  </a:moveTo>
                  <a:lnTo>
                    <a:pt x="20915" y="28106"/>
                  </a:lnTo>
                  <a:lnTo>
                    <a:pt x="21748" y="28106"/>
                  </a:lnTo>
                  <a:lnTo>
                    <a:pt x="19886" y="27641"/>
                  </a:lnTo>
                  <a:close/>
                </a:path>
                <a:path extrusionOk="0" h="53339" w="349884">
                  <a:moveTo>
                    <a:pt x="22597" y="25697"/>
                  </a:moveTo>
                  <a:lnTo>
                    <a:pt x="15589" y="25697"/>
                  </a:lnTo>
                  <a:lnTo>
                    <a:pt x="19886" y="27641"/>
                  </a:lnTo>
                  <a:lnTo>
                    <a:pt x="21748" y="28106"/>
                  </a:lnTo>
                  <a:lnTo>
                    <a:pt x="21846" y="27641"/>
                  </a:lnTo>
                  <a:lnTo>
                    <a:pt x="21936" y="27215"/>
                  </a:lnTo>
                  <a:lnTo>
                    <a:pt x="22140" y="27215"/>
                  </a:lnTo>
                  <a:lnTo>
                    <a:pt x="22597" y="25697"/>
                  </a:lnTo>
                  <a:close/>
                </a:path>
                <a:path extrusionOk="0" h="53339" w="349884">
                  <a:moveTo>
                    <a:pt x="19435" y="27437"/>
                  </a:moveTo>
                  <a:lnTo>
                    <a:pt x="19071" y="27437"/>
                  </a:lnTo>
                  <a:lnTo>
                    <a:pt x="19886" y="27641"/>
                  </a:lnTo>
                  <a:lnTo>
                    <a:pt x="19435" y="27437"/>
                  </a:lnTo>
                  <a:close/>
                </a:path>
                <a:path extrusionOk="0" h="53339" w="349884">
                  <a:moveTo>
                    <a:pt x="300131" y="18206"/>
                  </a:moveTo>
                  <a:lnTo>
                    <a:pt x="155964" y="18206"/>
                  </a:lnTo>
                  <a:lnTo>
                    <a:pt x="105111" y="27437"/>
                  </a:lnTo>
                  <a:lnTo>
                    <a:pt x="106558" y="27215"/>
                  </a:lnTo>
                  <a:lnTo>
                    <a:pt x="228218" y="27215"/>
                  </a:lnTo>
                  <a:lnTo>
                    <a:pt x="237919" y="25474"/>
                  </a:lnTo>
                  <a:lnTo>
                    <a:pt x="287408" y="19111"/>
                  </a:lnTo>
                  <a:lnTo>
                    <a:pt x="286467" y="19111"/>
                  </a:lnTo>
                  <a:lnTo>
                    <a:pt x="300131" y="18206"/>
                  </a:lnTo>
                  <a:close/>
                </a:path>
                <a:path extrusionOk="0" h="53339" w="349884">
                  <a:moveTo>
                    <a:pt x="238262" y="25474"/>
                  </a:moveTo>
                  <a:lnTo>
                    <a:pt x="237850" y="25474"/>
                  </a:lnTo>
                  <a:lnTo>
                    <a:pt x="236644" y="25697"/>
                  </a:lnTo>
                  <a:lnTo>
                    <a:pt x="238262" y="25474"/>
                  </a:lnTo>
                  <a:close/>
                </a:path>
                <a:path extrusionOk="0" h="53339" w="349884">
                  <a:moveTo>
                    <a:pt x="287146" y="0"/>
                  </a:moveTo>
                  <a:lnTo>
                    <a:pt x="286257" y="0"/>
                  </a:lnTo>
                  <a:lnTo>
                    <a:pt x="261365" y="1269"/>
                  </a:lnTo>
                  <a:lnTo>
                    <a:pt x="260984" y="1269"/>
                  </a:lnTo>
                  <a:lnTo>
                    <a:pt x="235330" y="3555"/>
                  </a:lnTo>
                  <a:lnTo>
                    <a:pt x="234695" y="3682"/>
                  </a:lnTo>
                  <a:lnTo>
                    <a:pt x="209041" y="7746"/>
                  </a:lnTo>
                  <a:lnTo>
                    <a:pt x="208660" y="7746"/>
                  </a:lnTo>
                  <a:lnTo>
                    <a:pt x="153026" y="18744"/>
                  </a:lnTo>
                  <a:lnTo>
                    <a:pt x="155964" y="18206"/>
                  </a:lnTo>
                  <a:lnTo>
                    <a:pt x="300131" y="18206"/>
                  </a:lnTo>
                  <a:lnTo>
                    <a:pt x="310387" y="17525"/>
                  </a:lnTo>
                  <a:lnTo>
                    <a:pt x="310641" y="17525"/>
                  </a:lnTo>
                  <a:lnTo>
                    <a:pt x="329183" y="15493"/>
                  </a:lnTo>
                  <a:lnTo>
                    <a:pt x="347090" y="13715"/>
                  </a:lnTo>
                  <a:lnTo>
                    <a:pt x="348106" y="13715"/>
                  </a:lnTo>
                  <a:lnTo>
                    <a:pt x="348868" y="12953"/>
                  </a:lnTo>
                  <a:lnTo>
                    <a:pt x="349093" y="12953"/>
                  </a:lnTo>
                  <a:lnTo>
                    <a:pt x="349376" y="10540"/>
                  </a:lnTo>
                  <a:lnTo>
                    <a:pt x="348741" y="9397"/>
                  </a:lnTo>
                  <a:lnTo>
                    <a:pt x="347598" y="9143"/>
                  </a:lnTo>
                  <a:lnTo>
                    <a:pt x="330580" y="3174"/>
                  </a:lnTo>
                  <a:lnTo>
                    <a:pt x="329183" y="2793"/>
                  </a:lnTo>
                  <a:lnTo>
                    <a:pt x="310641" y="888"/>
                  </a:lnTo>
                  <a:lnTo>
                    <a:pt x="310133" y="888"/>
                  </a:lnTo>
                  <a:lnTo>
                    <a:pt x="28714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5" name="Google Shape;375;p40"/>
          <p:cNvSpPr txBox="1"/>
          <p:nvPr/>
        </p:nvSpPr>
        <p:spPr>
          <a:xfrm>
            <a:off x="1430816" y="4408232"/>
            <a:ext cx="28975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ImageNet-C error, lower better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0"/>
          <p:cNvSpPr txBox="1"/>
          <p:nvPr/>
        </p:nvSpPr>
        <p:spPr>
          <a:xfrm>
            <a:off x="5178713" y="4278691"/>
            <a:ext cx="329374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675">
            <a:spAutoFit/>
          </a:bodyPr>
          <a:lstStyle/>
          <a:p>
            <a:pPr indent="0" lvl="0" marL="12700" marR="508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Larger models, more parameter, more redundancy in representations, one neuron fails, another pick up detect the feature detected by other neuron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/>
              <a:t>Studying Robustness: Data Augmentation Methods</a:t>
            </a:r>
            <a:endParaRPr/>
          </a:p>
        </p:txBody>
      </p:sp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251525" y="1022100"/>
            <a:ext cx="8471400" cy="3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Char char="☞"/>
            </a:pPr>
            <a:r>
              <a:rPr lang="en-IN" sz="2800"/>
              <a:t>MixUp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☞"/>
            </a:pPr>
            <a:r>
              <a:rPr lang="en-IN" sz="2800"/>
              <a:t>AutoAugment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☞"/>
            </a:pPr>
            <a:r>
              <a:rPr lang="en-IN" sz="2800"/>
              <a:t>AugMix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☞"/>
            </a:pPr>
            <a:r>
              <a:rPr lang="en-IN" sz="2800"/>
              <a:t>PIXMix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☞"/>
            </a:pPr>
            <a:r>
              <a:rPr lang="en-IN" sz="2800"/>
              <a:t>Cutout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☞"/>
            </a:pPr>
            <a:r>
              <a:rPr lang="en-IN" sz="2800"/>
              <a:t>CutMix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☞"/>
            </a:pPr>
            <a:r>
              <a:rPr lang="en-IN" sz="2800"/>
              <a:t>ImageNet-C style corruptions</a:t>
            </a:r>
            <a:endParaRPr sz="2800"/>
          </a:p>
        </p:txBody>
      </p:sp>
      <p:sp>
        <p:nvSpPr>
          <p:cNvPr id="384" name="Google Shape;384;p4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Mixup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91" name="Google Shape;391;p42"/>
          <p:cNvSpPr txBox="1"/>
          <p:nvPr/>
        </p:nvSpPr>
        <p:spPr>
          <a:xfrm>
            <a:off x="251520" y="594504"/>
            <a:ext cx="6919301" cy="21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12700" marR="5080" rtl="0" algn="l">
              <a:lnSpc>
                <a:spcPct val="150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Mixup augments the data by performing an elementwise convex combination on inputs and outputs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Mixup improves corruption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1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robustness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9121" y="3206482"/>
            <a:ext cx="5122153" cy="733273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 txBox="1"/>
          <p:nvPr/>
        </p:nvSpPr>
        <p:spPr>
          <a:xfrm>
            <a:off x="5013325" y="4605654"/>
            <a:ext cx="3731260" cy="243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https://en.wikipedia.org/wiki/Convex_combination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2"/>
          <p:cNvSpPr txBox="1"/>
          <p:nvPr/>
        </p:nvSpPr>
        <p:spPr>
          <a:xfrm>
            <a:off x="329444" y="4111943"/>
            <a:ext cx="7986596" cy="47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	and	are audio signals, then mixup is just mixing the audio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885" y="4377288"/>
            <a:ext cx="2190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1920" y="4349508"/>
            <a:ext cx="247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36695" y="1540042"/>
            <a:ext cx="1271370" cy="970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3188" y="1121209"/>
            <a:ext cx="260527" cy="151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38549" y="2607001"/>
            <a:ext cx="1083791" cy="198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64587" y="2608570"/>
            <a:ext cx="1115054" cy="206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85566" y="1533655"/>
            <a:ext cx="1260949" cy="986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47714" y="1121209"/>
            <a:ext cx="594001" cy="1511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42"/>
          <p:cNvGrpSpPr/>
          <p:nvPr/>
        </p:nvGrpSpPr>
        <p:grpSpPr>
          <a:xfrm>
            <a:off x="7190133" y="2083651"/>
            <a:ext cx="708632" cy="1046097"/>
            <a:chOff x="7200900" y="1566925"/>
            <a:chExt cx="647700" cy="1252475"/>
          </a:xfrm>
        </p:grpSpPr>
        <p:sp>
          <p:nvSpPr>
            <p:cNvPr id="404" name="Google Shape;404;p42"/>
            <p:cNvSpPr/>
            <p:nvPr/>
          </p:nvSpPr>
          <p:spPr>
            <a:xfrm>
              <a:off x="7377176" y="1566925"/>
              <a:ext cx="304800" cy="114300"/>
            </a:xfrm>
            <a:custGeom>
              <a:rect b="b" l="l" r="r" t="t"/>
              <a:pathLst>
                <a:path extrusionOk="0" h="114300" w="304800">
                  <a:moveTo>
                    <a:pt x="247650" y="0"/>
                  </a:moveTo>
                  <a:lnTo>
                    <a:pt x="247650" y="28575"/>
                  </a:lnTo>
                  <a:lnTo>
                    <a:pt x="0" y="28575"/>
                  </a:lnTo>
                  <a:lnTo>
                    <a:pt x="0" y="85725"/>
                  </a:lnTo>
                  <a:lnTo>
                    <a:pt x="247650" y="85725"/>
                  </a:lnTo>
                  <a:lnTo>
                    <a:pt x="247650" y="114300"/>
                  </a:lnTo>
                  <a:lnTo>
                    <a:pt x="304800" y="57150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44536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2"/>
            <p:cNvSpPr/>
            <p:nvPr/>
          </p:nvSpPr>
          <p:spPr>
            <a:xfrm>
              <a:off x="7377176" y="1566925"/>
              <a:ext cx="304800" cy="114300"/>
            </a:xfrm>
            <a:custGeom>
              <a:rect b="b" l="l" r="r" t="t"/>
              <a:pathLst>
                <a:path extrusionOk="0" h="114300" w="304800">
                  <a:moveTo>
                    <a:pt x="0" y="28575"/>
                  </a:moveTo>
                  <a:lnTo>
                    <a:pt x="247650" y="28575"/>
                  </a:lnTo>
                  <a:lnTo>
                    <a:pt x="247650" y="0"/>
                  </a:lnTo>
                  <a:lnTo>
                    <a:pt x="304800" y="57150"/>
                  </a:lnTo>
                  <a:lnTo>
                    <a:pt x="247650" y="114300"/>
                  </a:lnTo>
                  <a:lnTo>
                    <a:pt x="247650" y="85725"/>
                  </a:lnTo>
                  <a:lnTo>
                    <a:pt x="0" y="85725"/>
                  </a:lnTo>
                  <a:lnTo>
                    <a:pt x="0" y="2857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6" name="Google Shape;406;p4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200900" y="2667000"/>
              <a:ext cx="64770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42"/>
            <p:cNvSpPr/>
            <p:nvPr/>
          </p:nvSpPr>
          <p:spPr>
            <a:xfrm>
              <a:off x="7491349" y="1728723"/>
              <a:ext cx="76200" cy="946150"/>
            </a:xfrm>
            <a:custGeom>
              <a:rect b="b" l="l" r="r" t="t"/>
              <a:pathLst>
                <a:path extrusionOk="0" h="946150" w="76200">
                  <a:moveTo>
                    <a:pt x="42925" y="63500"/>
                  </a:moveTo>
                  <a:lnTo>
                    <a:pt x="33400" y="63500"/>
                  </a:lnTo>
                  <a:lnTo>
                    <a:pt x="33400" y="946023"/>
                  </a:lnTo>
                  <a:lnTo>
                    <a:pt x="42925" y="946023"/>
                  </a:lnTo>
                  <a:lnTo>
                    <a:pt x="42925" y="63500"/>
                  </a:lnTo>
                  <a:close/>
                </a:path>
                <a:path extrusionOk="0" h="946150" w="76200">
                  <a:moveTo>
                    <a:pt x="38099" y="0"/>
                  </a:moveTo>
                  <a:lnTo>
                    <a:pt x="0" y="76200"/>
                  </a:lnTo>
                  <a:lnTo>
                    <a:pt x="33400" y="76200"/>
                  </a:lnTo>
                  <a:lnTo>
                    <a:pt x="33400" y="63500"/>
                  </a:lnTo>
                  <a:lnTo>
                    <a:pt x="69849" y="63500"/>
                  </a:lnTo>
                  <a:lnTo>
                    <a:pt x="38099" y="0"/>
                  </a:lnTo>
                  <a:close/>
                </a:path>
                <a:path extrusionOk="0" h="946150" w="76200">
                  <a:moveTo>
                    <a:pt x="69849" y="63500"/>
                  </a:moveTo>
                  <a:lnTo>
                    <a:pt x="42925" y="63500"/>
                  </a:lnTo>
                  <a:lnTo>
                    <a:pt x="42925" y="76200"/>
                  </a:lnTo>
                  <a:lnTo>
                    <a:pt x="76199" y="76200"/>
                  </a:lnTo>
                  <a:lnTo>
                    <a:pt x="69849" y="63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2"/>
            <p:cNvSpPr/>
            <p:nvPr/>
          </p:nvSpPr>
          <p:spPr>
            <a:xfrm>
              <a:off x="7603236" y="2500248"/>
              <a:ext cx="27940" cy="27940"/>
            </a:xfrm>
            <a:custGeom>
              <a:rect b="b" l="l" r="r" t="t"/>
              <a:pathLst>
                <a:path extrusionOk="0" h="27939" w="27940">
                  <a:moveTo>
                    <a:pt x="21462" y="0"/>
                  </a:moveTo>
                  <a:lnTo>
                    <a:pt x="6222" y="0"/>
                  </a:lnTo>
                  <a:lnTo>
                    <a:pt x="0" y="6223"/>
                  </a:lnTo>
                  <a:lnTo>
                    <a:pt x="0" y="21336"/>
                  </a:lnTo>
                  <a:lnTo>
                    <a:pt x="6222" y="27559"/>
                  </a:lnTo>
                  <a:lnTo>
                    <a:pt x="21462" y="27559"/>
                  </a:lnTo>
                  <a:lnTo>
                    <a:pt x="27558" y="21336"/>
                  </a:lnTo>
                  <a:lnTo>
                    <a:pt x="27558" y="13843"/>
                  </a:lnTo>
                  <a:lnTo>
                    <a:pt x="27558" y="6223"/>
                  </a:lnTo>
                  <a:lnTo>
                    <a:pt x="21462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9" name="Google Shape;409;p4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614883" y="2622382"/>
            <a:ext cx="1500634" cy="167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" name="Google Shape;410;p42"/>
          <p:cNvGrpSpPr/>
          <p:nvPr/>
        </p:nvGrpSpPr>
        <p:grpSpPr>
          <a:xfrm>
            <a:off x="6074049" y="1325243"/>
            <a:ext cx="1281791" cy="1185371"/>
            <a:chOff x="6134100" y="781050"/>
            <a:chExt cx="1171575" cy="1419225"/>
          </a:xfrm>
        </p:grpSpPr>
        <p:pic>
          <p:nvPicPr>
            <p:cNvPr id="411" name="Google Shape;411;p4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134100" y="1038225"/>
              <a:ext cx="1171575" cy="1162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4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581775" y="781050"/>
              <a:ext cx="257175" cy="219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42"/>
            <p:cNvSpPr/>
            <p:nvPr/>
          </p:nvSpPr>
          <p:spPr>
            <a:xfrm>
              <a:off x="6859651" y="1147825"/>
              <a:ext cx="27940" cy="28575"/>
            </a:xfrm>
            <a:custGeom>
              <a:rect b="b" l="l" r="r" t="t"/>
              <a:pathLst>
                <a:path extrusionOk="0" h="28575" w="27940">
                  <a:moveTo>
                    <a:pt x="21717" y="0"/>
                  </a:moveTo>
                  <a:lnTo>
                    <a:pt x="6223" y="0"/>
                  </a:lnTo>
                  <a:lnTo>
                    <a:pt x="0" y="6350"/>
                  </a:lnTo>
                  <a:lnTo>
                    <a:pt x="0" y="21717"/>
                  </a:lnTo>
                  <a:lnTo>
                    <a:pt x="6223" y="28067"/>
                  </a:lnTo>
                  <a:lnTo>
                    <a:pt x="21717" y="28067"/>
                  </a:lnTo>
                  <a:lnTo>
                    <a:pt x="27940" y="21717"/>
                  </a:lnTo>
                  <a:lnTo>
                    <a:pt x="27940" y="14097"/>
                  </a:lnTo>
                  <a:lnTo>
                    <a:pt x="27940" y="6350"/>
                  </a:lnTo>
                  <a:lnTo>
                    <a:pt x="21717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lang="en-IN">
                <a:latin typeface="Arial"/>
                <a:ea typeface="Arial"/>
                <a:cs typeface="Arial"/>
                <a:sym typeface="Arial"/>
              </a:rPr>
              <a:t>AutoAugment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20" name="Google Shape;420;p43"/>
          <p:cNvSpPr txBox="1"/>
          <p:nvPr/>
        </p:nvSpPr>
        <p:spPr>
          <a:xfrm>
            <a:off x="461009" y="735770"/>
            <a:ext cx="8234680" cy="38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AutoAugment proposes data augmentation strategies using diverse Python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Imaging Library augmentations such as Invert, Solarize, and so 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575935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Augmentations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3618229" rtl="0" algn="l">
              <a:lnSpc>
                <a:spcPct val="149500"/>
              </a:lnSpc>
              <a:spcBef>
                <a:spcPts val="10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AutoAugment composes two augmentations together, each with two parameters: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probability of being turned on and an intensity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train tens of thousands of deep networks to search for a few augmentation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parameters, and they propose some of their best parameter settings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8333" y="1966661"/>
            <a:ext cx="355282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Random Augmentations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8" name="Google Shape;4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5" y="2171700"/>
            <a:ext cx="84010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4"/>
          <p:cNvSpPr txBox="1"/>
          <p:nvPr/>
        </p:nvSpPr>
        <p:spPr>
          <a:xfrm>
            <a:off x="461009" y="730637"/>
            <a:ext cx="8122284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50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avoid AutoAugment’s computational cost, we may want to use randomized augmentations. To achieve diverse, random augmentations we could combine many random augmentations together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4"/>
          <p:cNvSpPr txBox="1"/>
          <p:nvPr/>
        </p:nvSpPr>
        <p:spPr>
          <a:xfrm>
            <a:off x="461009" y="3860927"/>
            <a:ext cx="7953375" cy="941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50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However, uncontrolled random augmentations can make images start to become unrecognizable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AugMix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37" name="Google Shape;437;p45"/>
          <p:cNvSpPr txBox="1"/>
          <p:nvPr/>
        </p:nvSpPr>
        <p:spPr>
          <a:xfrm>
            <a:off x="185737" y="582564"/>
            <a:ext cx="8220938" cy="11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random augmentations and mixes these augmentations to keep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images recognizable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4444"/>
              </a:lnSpc>
              <a:spcBef>
                <a:spcPts val="54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randomly sample the operations, the intensity, the depth of each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branch, and all mixing weights.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976" y="2103176"/>
            <a:ext cx="7090298" cy="253394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5"/>
          <p:cNvSpPr txBox="1"/>
          <p:nvPr/>
        </p:nvSpPr>
        <p:spPr>
          <a:xfrm>
            <a:off x="185737" y="4028122"/>
            <a:ext cx="1465580" cy="57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image transformation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5"/>
          <p:cNvSpPr txBox="1"/>
          <p:nvPr/>
        </p:nvSpPr>
        <p:spPr>
          <a:xfrm>
            <a:off x="5295519" y="1625282"/>
            <a:ext cx="2734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only some augmentation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5"/>
          <p:cNvSpPr txBox="1"/>
          <p:nvPr/>
        </p:nvSpPr>
        <p:spPr>
          <a:xfrm>
            <a:off x="7242429" y="4605337"/>
            <a:ext cx="150114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Skip connection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Avoiding Train-Test Overlap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48" name="Google Shape;44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1247775"/>
            <a:ext cx="481965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6"/>
          <p:cNvSpPr txBox="1"/>
          <p:nvPr/>
        </p:nvSpPr>
        <p:spPr>
          <a:xfrm>
            <a:off x="1314450" y="646049"/>
            <a:ext cx="3049905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-IN" sz="2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ImageNet-C corruptions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6"/>
          <p:cNvSpPr txBox="1"/>
          <p:nvPr/>
        </p:nvSpPr>
        <p:spPr>
          <a:xfrm>
            <a:off x="6119876" y="646049"/>
            <a:ext cx="2054225" cy="663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349250" lvl="0" marL="12700" marR="5080" rtl="0" algn="l">
              <a:lnSpc>
                <a:spcPct val="1120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b="0" i="0" lang="en-IN" sz="2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operations used by AugMix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2100" y="1352550"/>
            <a:ext cx="3448050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PixMix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58" name="Google Shape;458;p47"/>
          <p:cNvGrpSpPr/>
          <p:nvPr/>
        </p:nvGrpSpPr>
        <p:grpSpPr>
          <a:xfrm>
            <a:off x="1990725" y="1504950"/>
            <a:ext cx="7110476" cy="3286125"/>
            <a:chOff x="1990725" y="1504950"/>
            <a:chExt cx="7110476" cy="3286125"/>
          </a:xfrm>
        </p:grpSpPr>
        <p:pic>
          <p:nvPicPr>
            <p:cNvPr id="459" name="Google Shape;459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90725" y="1504950"/>
              <a:ext cx="5162550" cy="328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47"/>
            <p:cNvSpPr/>
            <p:nvPr/>
          </p:nvSpPr>
          <p:spPr>
            <a:xfrm>
              <a:off x="6662801" y="2976562"/>
              <a:ext cx="2438400" cy="923925"/>
            </a:xfrm>
            <a:custGeom>
              <a:rect b="b" l="l" r="r" t="t"/>
              <a:pathLst>
                <a:path extrusionOk="0" h="923925" w="2438400">
                  <a:moveTo>
                    <a:pt x="0" y="923925"/>
                  </a:moveTo>
                  <a:lnTo>
                    <a:pt x="2438400" y="923925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92392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1" name="Google Shape;461;p47"/>
          <p:cNvSpPr txBox="1"/>
          <p:nvPr/>
        </p:nvSpPr>
        <p:spPr>
          <a:xfrm>
            <a:off x="461009" y="727358"/>
            <a:ext cx="7850505" cy="699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4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PixMix mixes training images with images from another dataset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bird training image is mixed with an image from a fractal dataset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7"/>
          <p:cNvSpPr txBox="1"/>
          <p:nvPr/>
        </p:nvSpPr>
        <p:spPr>
          <a:xfrm>
            <a:off x="6740143" y="3038157"/>
            <a:ext cx="2282825" cy="753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0" lvl="0" marL="12700" marR="508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IN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Unlike mixup, the mixing set is not the original training set</a:t>
            </a:r>
            <a:endParaRPr b="0" i="0" sz="1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PixMix Pseudocode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9" name="Google Shape;46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75" y="1133474"/>
            <a:ext cx="844867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PixMix Evaluation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76" name="Google Shape;47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1109959"/>
            <a:ext cx="65722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8955" y="1733846"/>
            <a:ext cx="1533525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9"/>
          <p:cNvSpPr txBox="1"/>
          <p:nvPr/>
        </p:nvSpPr>
        <p:spPr>
          <a:xfrm>
            <a:off x="461009" y="755268"/>
            <a:ext cx="690181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PixMix helps with robustness as well as other safety metrics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PixMix Evaluation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85" name="Google Shape;485;p50"/>
          <p:cNvSpPr txBox="1"/>
          <p:nvPr/>
        </p:nvSpPr>
        <p:spPr>
          <a:xfrm>
            <a:off x="461009" y="755268"/>
            <a:ext cx="690181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PixMix helps with robustness as well as other safety metrics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6" name="Google Shape;486;p50"/>
          <p:cNvGrpSpPr/>
          <p:nvPr/>
        </p:nvGrpSpPr>
        <p:grpSpPr>
          <a:xfrm>
            <a:off x="461009" y="1246986"/>
            <a:ext cx="6572250" cy="3476625"/>
            <a:chOff x="1285875" y="1162050"/>
            <a:chExt cx="6572250" cy="3476625"/>
          </a:xfrm>
        </p:grpSpPr>
        <p:pic>
          <p:nvPicPr>
            <p:cNvPr id="487" name="Google Shape;487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85875" y="1162050"/>
              <a:ext cx="6572250" cy="3476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50"/>
            <p:cNvSpPr/>
            <p:nvPr/>
          </p:nvSpPr>
          <p:spPr>
            <a:xfrm>
              <a:off x="2919476" y="2490850"/>
              <a:ext cx="3657600" cy="1019175"/>
            </a:xfrm>
            <a:custGeom>
              <a:rect b="b" l="l" r="r" t="t"/>
              <a:pathLst>
                <a:path extrusionOk="0" h="1019175" w="3657600">
                  <a:moveTo>
                    <a:pt x="3657600" y="0"/>
                  </a:moveTo>
                  <a:lnTo>
                    <a:pt x="0" y="0"/>
                  </a:lnTo>
                  <a:lnTo>
                    <a:pt x="0" y="1019175"/>
                  </a:lnTo>
                  <a:lnTo>
                    <a:pt x="3657600" y="1019175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9" name="Google Shape;489;p50"/>
          <p:cNvSpPr txBox="1"/>
          <p:nvPr/>
        </p:nvSpPr>
        <p:spPr>
          <a:xfrm>
            <a:off x="2187384" y="2555084"/>
            <a:ext cx="3657600" cy="10191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158750" lvl="0" marL="346075" marR="184785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 many of these methods do not improve typical accuracy.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1605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just improve safety metrics.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1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Distribution Shifts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1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96" name="Google Shape;496;p51"/>
          <p:cNvGrpSpPr/>
          <p:nvPr/>
        </p:nvGrpSpPr>
        <p:grpSpPr>
          <a:xfrm>
            <a:off x="775395" y="847976"/>
            <a:ext cx="7362825" cy="3857625"/>
            <a:chOff x="795337" y="1052512"/>
            <a:chExt cx="7362825" cy="3857625"/>
          </a:xfrm>
        </p:grpSpPr>
        <p:pic>
          <p:nvPicPr>
            <p:cNvPr id="497" name="Google Shape;497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19171" y="1353712"/>
              <a:ext cx="6403405" cy="32160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51"/>
            <p:cNvSpPr/>
            <p:nvPr/>
          </p:nvSpPr>
          <p:spPr>
            <a:xfrm>
              <a:off x="795337" y="1052512"/>
              <a:ext cx="7362825" cy="3857625"/>
            </a:xfrm>
            <a:custGeom>
              <a:rect b="b" l="l" r="r" t="t"/>
              <a:pathLst>
                <a:path extrusionOk="0" h="3857625" w="7362825">
                  <a:moveTo>
                    <a:pt x="0" y="3857625"/>
                  </a:moveTo>
                  <a:lnTo>
                    <a:pt x="7362825" y="3857625"/>
                  </a:lnTo>
                  <a:lnTo>
                    <a:pt x="7362825" y="0"/>
                  </a:lnTo>
                  <a:lnTo>
                    <a:pt x="0" y="0"/>
                  </a:lnTo>
                  <a:lnTo>
                    <a:pt x="0" y="385762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2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Distribution Shifts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52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05" name="Google Shape;505;p52"/>
          <p:cNvSpPr txBox="1"/>
          <p:nvPr/>
        </p:nvSpPr>
        <p:spPr>
          <a:xfrm>
            <a:off x="431299" y="1260741"/>
            <a:ext cx="6858634" cy="63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Occurs when the joint distribution of inputs and outputs differs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training and test stages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2"/>
          <p:cNvSpPr txBox="1"/>
          <p:nvPr/>
        </p:nvSpPr>
        <p:spPr>
          <a:xfrm>
            <a:off x="431299" y="3112338"/>
            <a:ext cx="7418705" cy="918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12700" marR="5080" rtl="0" algn="l">
              <a:lnSpc>
                <a:spcPct val="8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issue is present, to varying degrees, in nearly every practical ML application, in part because it is hard to perfectly reproduce testing conditions at training time.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0464" y="2072015"/>
            <a:ext cx="3340298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3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Different types of distribution shifts: Covariate shift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53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14" name="Google Shape;514;p53"/>
          <p:cNvSpPr txBox="1"/>
          <p:nvPr/>
        </p:nvSpPr>
        <p:spPr>
          <a:xfrm>
            <a:off x="431299" y="1260741"/>
            <a:ext cx="68586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Covariate Shift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Concept Shift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Prior probability shift / label shift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4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Covariate shift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4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1" name="Google Shape;52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0711" y="1617136"/>
            <a:ext cx="97467" cy="115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5679" y="1476552"/>
            <a:ext cx="3198491" cy="239191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4"/>
          <p:cNvSpPr txBox="1"/>
          <p:nvPr/>
        </p:nvSpPr>
        <p:spPr>
          <a:xfrm>
            <a:off x="359109" y="1198395"/>
            <a:ext cx="4622165" cy="3069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148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P(x) changes between train and test, but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48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p(y|x) does not change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92500"/>
              </a:lnSpc>
              <a:spcBef>
                <a:spcPts val="805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the distribution of training data and test data differ significantly, a learned model can fit training data well but perform poorly on test data.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6034" rtl="0" algn="l">
              <a:lnSpc>
                <a:spcPct val="128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Driverless car – Sunny streets train – Snow test Speech recognition – native English speaking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7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 – test on all English speaking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 other examples?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5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Concept shift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55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0" name="Google Shape;53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48" y="1189121"/>
            <a:ext cx="6435510" cy="2765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6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Concept shift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6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7" name="Google Shape;53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385" y="2188086"/>
            <a:ext cx="3046615" cy="1309092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6"/>
          <p:cNvSpPr txBox="1"/>
          <p:nvPr/>
        </p:nvSpPr>
        <p:spPr>
          <a:xfrm>
            <a:off x="251520" y="1185278"/>
            <a:ext cx="5845865" cy="2971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177165" rtl="0" algn="l">
              <a:lnSpc>
                <a:spcPct val="118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class dataset with 2 dimensional features Classes color coded in red &amp; green, purple is the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16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 boundary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81300"/>
              </a:lnSpc>
              <a:spcBef>
                <a:spcPts val="825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distribution exactly same in train &amp; test, but the relationship between them / decision boundary changes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 examples?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00965" rtl="0" algn="just">
              <a:lnSpc>
                <a:spcPct val="82900"/>
              </a:lnSpc>
              <a:spcBef>
                <a:spcPts val="79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Browsing history from pre-pandemic deployed in March 2020 for purchase recommendations. Any shifts?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just">
              <a:lnSpc>
                <a:spcPct val="108648"/>
              </a:lnSpc>
              <a:spcBef>
                <a:spcPts val="409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Watching travel videos </a:t>
            </a:r>
            <a:r>
              <a:rPr b="0" i="0" lang="en-IN" sz="185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</a:t>
            </a:r>
            <a:r>
              <a:rPr b="0" i="0" lang="en-IN" sz="18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might buy plane / hotel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just">
              <a:lnSpc>
                <a:spcPct val="1086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IN" sz="18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tickets, pay for nature documentary movies</a:t>
            </a:r>
            <a:endParaRPr b="0" i="0" sz="1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000"/>
              <a:t>Prior probability shift / label shift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7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5" name="Google Shape;545;p57"/>
          <p:cNvSpPr txBox="1"/>
          <p:nvPr/>
        </p:nvSpPr>
        <p:spPr>
          <a:xfrm>
            <a:off x="251520" y="853499"/>
            <a:ext cx="7439025" cy="3232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Reverse of Covariance shift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24154" rtl="0" algn="l">
              <a:lnSpc>
                <a:spcPct val="107619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Prior probability shift appears only in y </a:t>
            </a:r>
            <a:r>
              <a:rPr b="0" i="0" lang="en-IN" sz="21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</a:t>
            </a:r>
            <a:r>
              <a:rPr b="0" i="0" lang="en-IN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problems (when we believe y causes x). It occurs when p(y) changes between train and test, but p (x | y) does not.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461635" rtl="0" algn="l">
              <a:lnSpc>
                <a:spcPct val="146666"/>
              </a:lnSpc>
              <a:spcBef>
                <a:spcPts val="15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Examples? Medical Diagnosis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99135" marR="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 on data to predict diagnoses given symptoms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99135" marR="5080" rtl="0" algn="l">
              <a:lnSpc>
                <a:spcPct val="107142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on data during flu season where test(flu) &gt; train(flu) while flu symptoms p(symptoms | flu) is still the same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8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Detecting distribution shift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58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52" name="Google Shape;552;p58"/>
          <p:cNvSpPr txBox="1"/>
          <p:nvPr/>
        </p:nvSpPr>
        <p:spPr>
          <a:xfrm>
            <a:off x="251520" y="1356994"/>
            <a:ext cx="75837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-361950" lvl="0" marL="457200" marR="5080" rtl="0" algn="just">
              <a:lnSpc>
                <a:spcPct val="89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●"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Monitor the performance of your model. Monitor accuracy, precision, statistical measures, or other evaluation metrics. If these change over time, it may be due to distribution shift.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just">
              <a:lnSpc>
                <a:spcPct val="11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Char char="●"/>
            </a:pPr>
            <a:r>
              <a:rPr b="0" i="0" lang="en-I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Monitor your data. You can detect data shift by comparing statistical properties of training data and data seen in a deployment.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9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9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59" name="Google Shape;55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842211"/>
            <a:ext cx="7977488" cy="3651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924" y="4611598"/>
            <a:ext cx="3040981" cy="238593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59"/>
          <p:cNvSpPr txBox="1"/>
          <p:nvPr/>
        </p:nvSpPr>
        <p:spPr>
          <a:xfrm>
            <a:off x="3792141" y="4615101"/>
            <a:ext cx="4680317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https://sites.google.com/view/distshift2023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0"/>
          <p:cNvSpPr txBox="1"/>
          <p:nvPr>
            <p:ph type="title"/>
          </p:nvPr>
        </p:nvSpPr>
        <p:spPr>
          <a:xfrm>
            <a:off x="251520" y="8604"/>
            <a:ext cx="7886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Bibliography / Acknowledgements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60"/>
          <p:cNvSpPr txBox="1"/>
          <p:nvPr>
            <p:ph idx="12" type="sldNum"/>
          </p:nvPr>
        </p:nvSpPr>
        <p:spPr>
          <a:xfrm>
            <a:off x="8472458" y="4850191"/>
            <a:ext cx="5487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68" name="Google Shape;568;p60"/>
          <p:cNvSpPr txBox="1"/>
          <p:nvPr/>
        </p:nvSpPr>
        <p:spPr>
          <a:xfrm>
            <a:off x="708025" y="1286636"/>
            <a:ext cx="3497579" cy="80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2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N" sz="2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https://course.mlsafety.org/</a:t>
            </a:r>
            <a:r>
              <a:rPr b="0" i="0" lang="en-IN" sz="2100" u="none" cap="none" strike="noStrike">
                <a:solidFill>
                  <a:srgbClr val="0562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IN" sz="2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https://www.aisafetybook.com/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